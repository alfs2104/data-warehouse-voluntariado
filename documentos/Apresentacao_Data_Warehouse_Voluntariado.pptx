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Arimo" panose="020B0604020202020204" charset="0"/>
      <p:regular r:id="rId21"/>
    </p:embeddedFont>
    <p:embeddedFont>
      <p:font typeface="Bricolage Grotesque Medium" panose="020B0604020202020204" charset="0"/>
      <p:regular r:id="rId22"/>
    </p:embeddedFont>
    <p:embeddedFont>
      <p:font typeface="Coco Gothic" panose="020B0604020202020204" charset="0"/>
      <p:regular r:id="rId23"/>
    </p:embeddedFont>
    <p:embeddedFont>
      <p:font typeface="Coco Gothic Bold" panose="020B0604020202020204" charset="0"/>
      <p:regular r:id="rId24"/>
    </p:embeddedFont>
    <p:embeddedFont>
      <p:font typeface="Open Sans Bold" panose="020B0604020202020204" charset="0"/>
      <p:regular r:id="rId25"/>
    </p:embeddedFont>
    <p:embeddedFont>
      <p:font typeface="TAN Headline"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87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 Lucia Ferreira dos Santos" userId="3a853ac6323b1b70" providerId="LiveId" clId="{248A2E24-685A-473D-9E98-67011D654018}"/>
    <pc:docChg chg="modSld">
      <pc:chgData name="Ana Lucia Ferreira dos Santos" userId="3a853ac6323b1b70" providerId="LiveId" clId="{248A2E24-685A-473D-9E98-67011D654018}" dt="2026-08-31T09:59:22.063" v="1" actId="20577"/>
      <pc:docMkLst>
        <pc:docMk/>
      </pc:docMkLst>
      <pc:sldChg chg="modSp mod">
        <pc:chgData name="Ana Lucia Ferreira dos Santos" userId="3a853ac6323b1b70" providerId="LiveId" clId="{248A2E24-685A-473D-9E98-67011D654018}" dt="2026-08-31T09:59:22.063" v="1" actId="20577"/>
        <pc:sldMkLst>
          <pc:docMk/>
          <pc:sldMk cId="0" sldId="274"/>
        </pc:sldMkLst>
        <pc:spChg chg="mod">
          <ac:chgData name="Ana Lucia Ferreira dos Santos" userId="3a853ac6323b1b70" providerId="LiveId" clId="{248A2E24-685A-473D-9E98-67011D654018}" dt="2026-08-31T09:59:22.063" v="1" actId="20577"/>
          <ac:spMkLst>
            <pc:docMk/>
            <pc:sldMk cId="0" sldId="274"/>
            <ac:spMk id="1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svg"/><Relationship Id="rId7" Type="http://schemas.openxmlformats.org/officeDocument/2006/relationships/image" Target="../media/image20.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jpeg"/></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image" Target="../media/image18.svg"/><Relationship Id="rId7" Type="http://schemas.openxmlformats.org/officeDocument/2006/relationships/image" Target="../media/image26.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27.png"/></Relationships>
</file>

<file path=ppt/slides/_rels/slide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18.sv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github.com/deveveryday/data-bricks-health-voluntary/blob/main/VoluntariosDashboard%20data%20bricks%20project%20arquitetura%20de%20dados.drawio.png" TargetMode="External"/><Relationship Id="rId1" Type="http://schemas.openxmlformats.org/officeDocument/2006/relationships/slideLayout" Target="../slideLayouts/slideLayout7.xml"/><Relationship Id="rId4" Type="http://schemas.openxmlformats.org/officeDocument/2006/relationships/hyperlink" Target="https://drive.google.com/file/d/1W1AsXpAr7aGaBnfDqOmAHaAbY40Kni7R/view?usp=drive_link"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12.sv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rot="-591004">
            <a:off x="9687424" y="1072851"/>
            <a:ext cx="9743832" cy="10202966"/>
          </a:xfrm>
          <a:custGeom>
            <a:avLst/>
            <a:gdLst/>
            <a:ahLst/>
            <a:cxnLst/>
            <a:rect l="l" t="t" r="r" b="b"/>
            <a:pathLst>
              <a:path w="9743832" h="10202966">
                <a:moveTo>
                  <a:pt x="0" y="0"/>
                </a:moveTo>
                <a:lnTo>
                  <a:pt x="9743832" y="0"/>
                </a:lnTo>
                <a:lnTo>
                  <a:pt x="9743832" y="10202965"/>
                </a:lnTo>
                <a:lnTo>
                  <a:pt x="0" y="102029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755965">
            <a:off x="-1305642" y="731692"/>
            <a:ext cx="9743832" cy="10202966"/>
          </a:xfrm>
          <a:custGeom>
            <a:avLst/>
            <a:gdLst/>
            <a:ahLst/>
            <a:cxnLst/>
            <a:rect l="l" t="t" r="r" b="b"/>
            <a:pathLst>
              <a:path w="9743832" h="10202966">
                <a:moveTo>
                  <a:pt x="0" y="0"/>
                </a:moveTo>
                <a:lnTo>
                  <a:pt x="9743832" y="0"/>
                </a:lnTo>
                <a:lnTo>
                  <a:pt x="9743832" y="10202966"/>
                </a:lnTo>
                <a:lnTo>
                  <a:pt x="0" y="102029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844355" y="5705171"/>
            <a:ext cx="14599291" cy="9163657"/>
          </a:xfrm>
          <a:custGeom>
            <a:avLst/>
            <a:gdLst/>
            <a:ahLst/>
            <a:cxnLst/>
            <a:rect l="l" t="t" r="r" b="b"/>
            <a:pathLst>
              <a:path w="14599291" h="9163657">
                <a:moveTo>
                  <a:pt x="14599290" y="0"/>
                </a:moveTo>
                <a:lnTo>
                  <a:pt x="0" y="0"/>
                </a:lnTo>
                <a:lnTo>
                  <a:pt x="0" y="9163658"/>
                </a:lnTo>
                <a:lnTo>
                  <a:pt x="14599290" y="9163658"/>
                </a:lnTo>
                <a:lnTo>
                  <a:pt x="1459929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5225891" y="5042801"/>
            <a:ext cx="4127261" cy="5717869"/>
          </a:xfrm>
          <a:custGeom>
            <a:avLst/>
            <a:gdLst/>
            <a:ahLst/>
            <a:cxnLst/>
            <a:rect l="l" t="t" r="r" b="b"/>
            <a:pathLst>
              <a:path w="4127261" h="5717869">
                <a:moveTo>
                  <a:pt x="0" y="0"/>
                </a:moveTo>
                <a:lnTo>
                  <a:pt x="4127262" y="0"/>
                </a:lnTo>
                <a:lnTo>
                  <a:pt x="4127262" y="5717869"/>
                </a:lnTo>
                <a:lnTo>
                  <a:pt x="0" y="5717869"/>
                </a:lnTo>
                <a:lnTo>
                  <a:pt x="0" y="0"/>
                </a:lnTo>
                <a:close/>
              </a:path>
            </a:pathLst>
          </a:custGeom>
          <a:blipFill>
            <a:blip r:embed="rId6"/>
            <a:stretch>
              <a:fillRect l="-5415" r="-5415"/>
            </a:stretch>
          </a:blipFill>
        </p:spPr>
      </p:sp>
      <p:sp>
        <p:nvSpPr>
          <p:cNvPr id="6" name="Freeform 6"/>
          <p:cNvSpPr/>
          <p:nvPr/>
        </p:nvSpPr>
        <p:spPr>
          <a:xfrm>
            <a:off x="9124950" y="5042801"/>
            <a:ext cx="3708161" cy="5717869"/>
          </a:xfrm>
          <a:custGeom>
            <a:avLst/>
            <a:gdLst/>
            <a:ahLst/>
            <a:cxnLst/>
            <a:rect l="l" t="t" r="r" b="b"/>
            <a:pathLst>
              <a:path w="3708161" h="5717869">
                <a:moveTo>
                  <a:pt x="0" y="0"/>
                </a:moveTo>
                <a:lnTo>
                  <a:pt x="3708161" y="0"/>
                </a:lnTo>
                <a:lnTo>
                  <a:pt x="3708161" y="5717869"/>
                </a:lnTo>
                <a:lnTo>
                  <a:pt x="0" y="5717869"/>
                </a:lnTo>
                <a:lnTo>
                  <a:pt x="0" y="0"/>
                </a:lnTo>
                <a:close/>
              </a:path>
            </a:pathLst>
          </a:custGeom>
          <a:blipFill>
            <a:blip r:embed="rId7"/>
            <a:stretch>
              <a:fillRect l="-4287" r="-194" b="-6706"/>
            </a:stretch>
          </a:blipFill>
        </p:spPr>
      </p:sp>
      <p:sp>
        <p:nvSpPr>
          <p:cNvPr id="7" name="Freeform 7"/>
          <p:cNvSpPr/>
          <p:nvPr/>
        </p:nvSpPr>
        <p:spPr>
          <a:xfrm>
            <a:off x="1487407" y="6174334"/>
            <a:ext cx="3531385" cy="3815463"/>
          </a:xfrm>
          <a:custGeom>
            <a:avLst/>
            <a:gdLst/>
            <a:ahLst/>
            <a:cxnLst/>
            <a:rect l="l" t="t" r="r" b="b"/>
            <a:pathLst>
              <a:path w="3531385" h="3815463">
                <a:moveTo>
                  <a:pt x="0" y="0"/>
                </a:moveTo>
                <a:lnTo>
                  <a:pt x="3531386" y="0"/>
                </a:lnTo>
                <a:lnTo>
                  <a:pt x="3531386" y="3815463"/>
                </a:lnTo>
                <a:lnTo>
                  <a:pt x="0" y="381546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flipH="1">
            <a:off x="12543402" y="6083768"/>
            <a:ext cx="3531385" cy="3815463"/>
          </a:xfrm>
          <a:custGeom>
            <a:avLst/>
            <a:gdLst/>
            <a:ahLst/>
            <a:cxnLst/>
            <a:rect l="l" t="t" r="r" b="b"/>
            <a:pathLst>
              <a:path w="3531385" h="3815463">
                <a:moveTo>
                  <a:pt x="3531386" y="0"/>
                </a:moveTo>
                <a:lnTo>
                  <a:pt x="0" y="0"/>
                </a:lnTo>
                <a:lnTo>
                  <a:pt x="0" y="3815463"/>
                </a:lnTo>
                <a:lnTo>
                  <a:pt x="3531386" y="3815463"/>
                </a:lnTo>
                <a:lnTo>
                  <a:pt x="3531386"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381000" y="2079162"/>
            <a:ext cx="2143458" cy="2963640"/>
          </a:xfrm>
          <a:custGeom>
            <a:avLst/>
            <a:gdLst/>
            <a:ahLst/>
            <a:cxnLst/>
            <a:rect l="l" t="t" r="r" b="b"/>
            <a:pathLst>
              <a:path w="3778768" h="3807323">
                <a:moveTo>
                  <a:pt x="0" y="0"/>
                </a:moveTo>
                <a:lnTo>
                  <a:pt x="3778768" y="0"/>
                </a:lnTo>
                <a:lnTo>
                  <a:pt x="3778768" y="3807323"/>
                </a:lnTo>
                <a:lnTo>
                  <a:pt x="0" y="38073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Freeform 10"/>
          <p:cNvSpPr/>
          <p:nvPr/>
        </p:nvSpPr>
        <p:spPr>
          <a:xfrm>
            <a:off x="538390" y="606533"/>
            <a:ext cx="1828678" cy="1399770"/>
          </a:xfrm>
          <a:custGeom>
            <a:avLst/>
            <a:gdLst/>
            <a:ahLst/>
            <a:cxnLst/>
            <a:rect l="l" t="t" r="r" b="b"/>
            <a:pathLst>
              <a:path w="1828678" h="1399770">
                <a:moveTo>
                  <a:pt x="0" y="0"/>
                </a:moveTo>
                <a:lnTo>
                  <a:pt x="1828678" y="0"/>
                </a:lnTo>
                <a:lnTo>
                  <a:pt x="1828678" y="1399770"/>
                </a:lnTo>
                <a:lnTo>
                  <a:pt x="0" y="139977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nvGrpSpPr>
          <p:cNvPr id="11" name="Group 11"/>
          <p:cNvGrpSpPr/>
          <p:nvPr/>
        </p:nvGrpSpPr>
        <p:grpSpPr>
          <a:xfrm>
            <a:off x="3638340" y="1122351"/>
            <a:ext cx="903923" cy="723900"/>
            <a:chOff x="0" y="0"/>
            <a:chExt cx="1205230" cy="965200"/>
          </a:xfrm>
        </p:grpSpPr>
        <p:grpSp>
          <p:nvGrpSpPr>
            <p:cNvPr id="12" name="Group 12"/>
            <p:cNvGrpSpPr/>
            <p:nvPr/>
          </p:nvGrpSpPr>
          <p:grpSpPr>
            <a:xfrm>
              <a:off x="0" y="119380"/>
              <a:ext cx="836930" cy="845820"/>
              <a:chOff x="0" y="0"/>
              <a:chExt cx="836930" cy="845820"/>
            </a:xfrm>
          </p:grpSpPr>
          <p:sp>
            <p:nvSpPr>
              <p:cNvPr id="13" name="Freeform 13"/>
              <p:cNvSpPr/>
              <p:nvPr/>
            </p:nvSpPr>
            <p:spPr>
              <a:xfrm>
                <a:off x="48623" y="49530"/>
                <a:ext cx="741168" cy="745726"/>
              </a:xfrm>
              <a:custGeom>
                <a:avLst/>
                <a:gdLst/>
                <a:ahLst/>
                <a:cxnLst/>
                <a:rect l="l" t="t" r="r" b="b"/>
                <a:pathLst>
                  <a:path w="741168" h="745726">
                    <a:moveTo>
                      <a:pt x="538117" y="711200"/>
                    </a:moveTo>
                    <a:cubicBezTo>
                      <a:pt x="14877" y="204470"/>
                      <a:pt x="12337" y="200660"/>
                      <a:pt x="7257" y="185420"/>
                    </a:cubicBezTo>
                    <a:cubicBezTo>
                      <a:pt x="907" y="162560"/>
                      <a:pt x="-2903" y="123190"/>
                      <a:pt x="5987" y="97790"/>
                    </a:cubicBezTo>
                    <a:cubicBezTo>
                      <a:pt x="13607" y="71120"/>
                      <a:pt x="35197" y="43180"/>
                      <a:pt x="56787" y="26670"/>
                    </a:cubicBezTo>
                    <a:cubicBezTo>
                      <a:pt x="79647" y="10160"/>
                      <a:pt x="113937" y="0"/>
                      <a:pt x="140607" y="1270"/>
                    </a:cubicBezTo>
                    <a:cubicBezTo>
                      <a:pt x="168547" y="2540"/>
                      <a:pt x="204107" y="19050"/>
                      <a:pt x="223157" y="31750"/>
                    </a:cubicBezTo>
                    <a:cubicBezTo>
                      <a:pt x="237127" y="41910"/>
                      <a:pt x="244747" y="50800"/>
                      <a:pt x="252367" y="64770"/>
                    </a:cubicBezTo>
                    <a:cubicBezTo>
                      <a:pt x="263797" y="86360"/>
                      <a:pt x="272687" y="127000"/>
                      <a:pt x="272687" y="149860"/>
                    </a:cubicBezTo>
                    <a:cubicBezTo>
                      <a:pt x="272687" y="167640"/>
                      <a:pt x="270147" y="179070"/>
                      <a:pt x="262527" y="193040"/>
                    </a:cubicBezTo>
                    <a:cubicBezTo>
                      <a:pt x="251097" y="214630"/>
                      <a:pt x="226967" y="245110"/>
                      <a:pt x="202837" y="257810"/>
                    </a:cubicBezTo>
                    <a:cubicBezTo>
                      <a:pt x="178707" y="271780"/>
                      <a:pt x="140607" y="275590"/>
                      <a:pt x="117747" y="274320"/>
                    </a:cubicBezTo>
                    <a:cubicBezTo>
                      <a:pt x="99967" y="273050"/>
                      <a:pt x="88537" y="269240"/>
                      <a:pt x="74567" y="260350"/>
                    </a:cubicBezTo>
                    <a:cubicBezTo>
                      <a:pt x="54247" y="248920"/>
                      <a:pt x="25037" y="223520"/>
                      <a:pt x="13607" y="198120"/>
                    </a:cubicBezTo>
                    <a:cubicBezTo>
                      <a:pt x="907" y="173990"/>
                      <a:pt x="-2903" y="138430"/>
                      <a:pt x="2177" y="111760"/>
                    </a:cubicBezTo>
                    <a:cubicBezTo>
                      <a:pt x="7257" y="85090"/>
                      <a:pt x="25037" y="54610"/>
                      <a:pt x="45357" y="35560"/>
                    </a:cubicBezTo>
                    <a:cubicBezTo>
                      <a:pt x="66947" y="17780"/>
                      <a:pt x="102507" y="5080"/>
                      <a:pt x="126637" y="1270"/>
                    </a:cubicBezTo>
                    <a:cubicBezTo>
                      <a:pt x="143147" y="-1270"/>
                      <a:pt x="154577" y="0"/>
                      <a:pt x="171087" y="5080"/>
                    </a:cubicBezTo>
                    <a:cubicBezTo>
                      <a:pt x="192677" y="12700"/>
                      <a:pt x="211727" y="26670"/>
                      <a:pt x="243477" y="53340"/>
                    </a:cubicBezTo>
                    <a:cubicBezTo>
                      <a:pt x="334917" y="128270"/>
                      <a:pt x="642257" y="455930"/>
                      <a:pt x="705757" y="535940"/>
                    </a:cubicBezTo>
                    <a:cubicBezTo>
                      <a:pt x="723537" y="558800"/>
                      <a:pt x="731157" y="565150"/>
                      <a:pt x="736237" y="584200"/>
                    </a:cubicBezTo>
                    <a:cubicBezTo>
                      <a:pt x="742587" y="608330"/>
                      <a:pt x="743857" y="645160"/>
                      <a:pt x="733697" y="670560"/>
                    </a:cubicBezTo>
                    <a:cubicBezTo>
                      <a:pt x="723537" y="694690"/>
                      <a:pt x="695597" y="721360"/>
                      <a:pt x="674007" y="732790"/>
                    </a:cubicBezTo>
                    <a:cubicBezTo>
                      <a:pt x="656227" y="742950"/>
                      <a:pt x="638447" y="746760"/>
                      <a:pt x="618127" y="745490"/>
                    </a:cubicBezTo>
                    <a:cubicBezTo>
                      <a:pt x="592727" y="742950"/>
                      <a:pt x="538117" y="711200"/>
                      <a:pt x="538117" y="711200"/>
                    </a:cubicBezTo>
                  </a:path>
                </a:pathLst>
              </a:custGeom>
              <a:solidFill>
                <a:srgbClr val="88A3CE"/>
              </a:solidFill>
              <a:ln cap="sq">
                <a:noFill/>
                <a:prstDash val="solid"/>
                <a:miter/>
              </a:ln>
            </p:spPr>
          </p:sp>
        </p:grpSp>
        <p:grpSp>
          <p:nvGrpSpPr>
            <p:cNvPr id="14" name="Group 14"/>
            <p:cNvGrpSpPr/>
            <p:nvPr/>
          </p:nvGrpSpPr>
          <p:grpSpPr>
            <a:xfrm>
              <a:off x="810260" y="0"/>
              <a:ext cx="394970" cy="820420"/>
              <a:chOff x="0" y="0"/>
              <a:chExt cx="394970" cy="820420"/>
            </a:xfrm>
          </p:grpSpPr>
          <p:sp>
            <p:nvSpPr>
              <p:cNvPr id="15" name="Freeform 15"/>
              <p:cNvSpPr/>
              <p:nvPr/>
            </p:nvSpPr>
            <p:spPr>
              <a:xfrm>
                <a:off x="49574" y="50476"/>
                <a:ext cx="297355" cy="719531"/>
              </a:xfrm>
              <a:custGeom>
                <a:avLst/>
                <a:gdLst/>
                <a:ahLst/>
                <a:cxnLst/>
                <a:rect l="l" t="t" r="r" b="b"/>
                <a:pathLst>
                  <a:path w="297355" h="719531">
                    <a:moveTo>
                      <a:pt x="64726" y="625164"/>
                    </a:moveTo>
                    <a:cubicBezTo>
                      <a:pt x="1226" y="207334"/>
                      <a:pt x="10116" y="86684"/>
                      <a:pt x="31706" y="47314"/>
                    </a:cubicBezTo>
                    <a:cubicBezTo>
                      <a:pt x="39326" y="30804"/>
                      <a:pt x="48216" y="26994"/>
                      <a:pt x="62186" y="19374"/>
                    </a:cubicBezTo>
                    <a:cubicBezTo>
                      <a:pt x="82506" y="9214"/>
                      <a:pt x="116796" y="-946"/>
                      <a:pt x="142196" y="1594"/>
                    </a:cubicBezTo>
                    <a:cubicBezTo>
                      <a:pt x="167596" y="4134"/>
                      <a:pt x="198076" y="18104"/>
                      <a:pt x="217126" y="35884"/>
                    </a:cubicBezTo>
                    <a:cubicBezTo>
                      <a:pt x="236176" y="52394"/>
                      <a:pt x="251416" y="81604"/>
                      <a:pt x="256496" y="107004"/>
                    </a:cubicBezTo>
                    <a:cubicBezTo>
                      <a:pt x="260306" y="132404"/>
                      <a:pt x="255226" y="165424"/>
                      <a:pt x="243796" y="188284"/>
                    </a:cubicBezTo>
                    <a:cubicBezTo>
                      <a:pt x="231096" y="211144"/>
                      <a:pt x="203156" y="234004"/>
                      <a:pt x="184106" y="245434"/>
                    </a:cubicBezTo>
                    <a:cubicBezTo>
                      <a:pt x="171406" y="253054"/>
                      <a:pt x="159976" y="255594"/>
                      <a:pt x="144736" y="256864"/>
                    </a:cubicBezTo>
                    <a:cubicBezTo>
                      <a:pt x="123146" y="256864"/>
                      <a:pt x="83776" y="249244"/>
                      <a:pt x="64726" y="239084"/>
                    </a:cubicBezTo>
                    <a:cubicBezTo>
                      <a:pt x="50756" y="232734"/>
                      <a:pt x="41866" y="225114"/>
                      <a:pt x="32976" y="213684"/>
                    </a:cubicBezTo>
                    <a:cubicBezTo>
                      <a:pt x="19006" y="195904"/>
                      <a:pt x="5036" y="159074"/>
                      <a:pt x="1226" y="137484"/>
                    </a:cubicBezTo>
                    <a:cubicBezTo>
                      <a:pt x="-1314" y="122244"/>
                      <a:pt x="-44" y="110814"/>
                      <a:pt x="6306" y="95574"/>
                    </a:cubicBezTo>
                    <a:cubicBezTo>
                      <a:pt x="12656" y="75254"/>
                      <a:pt x="30436" y="43504"/>
                      <a:pt x="50756" y="28264"/>
                    </a:cubicBezTo>
                    <a:cubicBezTo>
                      <a:pt x="71076" y="11754"/>
                      <a:pt x="106636" y="2864"/>
                      <a:pt x="128226" y="324"/>
                    </a:cubicBezTo>
                    <a:cubicBezTo>
                      <a:pt x="144736" y="-946"/>
                      <a:pt x="154896" y="1594"/>
                      <a:pt x="170136" y="6674"/>
                    </a:cubicBezTo>
                    <a:cubicBezTo>
                      <a:pt x="190456" y="15564"/>
                      <a:pt x="220936" y="34614"/>
                      <a:pt x="234906" y="56204"/>
                    </a:cubicBezTo>
                    <a:cubicBezTo>
                      <a:pt x="250146" y="77794"/>
                      <a:pt x="259036" y="109544"/>
                      <a:pt x="257766" y="134944"/>
                    </a:cubicBezTo>
                    <a:cubicBezTo>
                      <a:pt x="256496" y="160344"/>
                      <a:pt x="226016" y="209874"/>
                      <a:pt x="228556" y="211144"/>
                    </a:cubicBezTo>
                    <a:cubicBezTo>
                      <a:pt x="229826" y="212414"/>
                      <a:pt x="242526" y="181934"/>
                      <a:pt x="248876" y="184474"/>
                    </a:cubicBezTo>
                    <a:cubicBezTo>
                      <a:pt x="271736" y="190824"/>
                      <a:pt x="309836" y="561664"/>
                      <a:pt x="293326" y="635324"/>
                    </a:cubicBezTo>
                    <a:cubicBezTo>
                      <a:pt x="288246" y="660724"/>
                      <a:pt x="279356" y="669614"/>
                      <a:pt x="265386" y="683584"/>
                    </a:cubicBezTo>
                    <a:cubicBezTo>
                      <a:pt x="247606" y="700094"/>
                      <a:pt x="215856" y="716604"/>
                      <a:pt x="189186" y="719144"/>
                    </a:cubicBezTo>
                    <a:cubicBezTo>
                      <a:pt x="163786" y="721684"/>
                      <a:pt x="130766" y="711524"/>
                      <a:pt x="109176" y="695014"/>
                    </a:cubicBezTo>
                    <a:cubicBezTo>
                      <a:pt x="88856" y="679774"/>
                      <a:pt x="64726" y="625164"/>
                      <a:pt x="64726" y="625164"/>
                    </a:cubicBezTo>
                  </a:path>
                </a:pathLst>
              </a:custGeom>
              <a:solidFill>
                <a:srgbClr val="88A3CE"/>
              </a:solidFill>
              <a:ln cap="sq">
                <a:noFill/>
                <a:prstDash val="solid"/>
                <a:miter/>
              </a:ln>
            </p:spPr>
          </p:sp>
        </p:grpSp>
      </p:grpSp>
      <p:grpSp>
        <p:nvGrpSpPr>
          <p:cNvPr id="16" name="Group 16"/>
          <p:cNvGrpSpPr/>
          <p:nvPr/>
        </p:nvGrpSpPr>
        <p:grpSpPr>
          <a:xfrm>
            <a:off x="3566274" y="1797491"/>
            <a:ext cx="592455" cy="303847"/>
            <a:chOff x="0" y="0"/>
            <a:chExt cx="789940" cy="405130"/>
          </a:xfrm>
        </p:grpSpPr>
        <p:sp>
          <p:nvSpPr>
            <p:cNvPr id="17" name="Freeform 17"/>
            <p:cNvSpPr/>
            <p:nvPr/>
          </p:nvSpPr>
          <p:spPr>
            <a:xfrm>
              <a:off x="49213" y="50302"/>
              <a:ext cx="690163" cy="305006"/>
            </a:xfrm>
            <a:custGeom>
              <a:avLst/>
              <a:gdLst/>
              <a:ahLst/>
              <a:cxnLst/>
              <a:rect l="l" t="t" r="r" b="b"/>
              <a:pathLst>
                <a:path w="690163" h="305006">
                  <a:moveTo>
                    <a:pt x="552767" y="276088"/>
                  </a:moveTo>
                  <a:cubicBezTo>
                    <a:pt x="350837" y="254498"/>
                    <a:pt x="270827" y="248148"/>
                    <a:pt x="233997" y="260848"/>
                  </a:cubicBezTo>
                  <a:cubicBezTo>
                    <a:pt x="213677" y="268468"/>
                    <a:pt x="209867" y="286248"/>
                    <a:pt x="190817" y="292598"/>
                  </a:cubicBezTo>
                  <a:cubicBezTo>
                    <a:pt x="169227" y="301488"/>
                    <a:pt x="132397" y="307838"/>
                    <a:pt x="105727" y="301488"/>
                  </a:cubicBezTo>
                  <a:cubicBezTo>
                    <a:pt x="79057" y="295138"/>
                    <a:pt x="48577" y="273548"/>
                    <a:pt x="32067" y="257038"/>
                  </a:cubicBezTo>
                  <a:cubicBezTo>
                    <a:pt x="20637" y="244338"/>
                    <a:pt x="15557" y="232908"/>
                    <a:pt x="10477" y="218938"/>
                  </a:cubicBezTo>
                  <a:cubicBezTo>
                    <a:pt x="5397" y="204968"/>
                    <a:pt x="317" y="192268"/>
                    <a:pt x="1587" y="175758"/>
                  </a:cubicBezTo>
                  <a:cubicBezTo>
                    <a:pt x="2857" y="152898"/>
                    <a:pt x="9207" y="116068"/>
                    <a:pt x="25717" y="93208"/>
                  </a:cubicBezTo>
                  <a:cubicBezTo>
                    <a:pt x="40957" y="71618"/>
                    <a:pt x="68897" y="50028"/>
                    <a:pt x="94297" y="42408"/>
                  </a:cubicBezTo>
                  <a:cubicBezTo>
                    <a:pt x="119697" y="33518"/>
                    <a:pt x="157797" y="37328"/>
                    <a:pt x="180657" y="43678"/>
                  </a:cubicBezTo>
                  <a:cubicBezTo>
                    <a:pt x="195897" y="47488"/>
                    <a:pt x="206057" y="52568"/>
                    <a:pt x="218757" y="63998"/>
                  </a:cubicBezTo>
                  <a:cubicBezTo>
                    <a:pt x="235267" y="79238"/>
                    <a:pt x="259397" y="109718"/>
                    <a:pt x="265747" y="135118"/>
                  </a:cubicBezTo>
                  <a:cubicBezTo>
                    <a:pt x="273367" y="161788"/>
                    <a:pt x="270827" y="196078"/>
                    <a:pt x="260667" y="221478"/>
                  </a:cubicBezTo>
                  <a:cubicBezTo>
                    <a:pt x="250507" y="246878"/>
                    <a:pt x="227647" y="272278"/>
                    <a:pt x="204787" y="286248"/>
                  </a:cubicBezTo>
                  <a:cubicBezTo>
                    <a:pt x="180657" y="300218"/>
                    <a:pt x="147637" y="307838"/>
                    <a:pt x="119697" y="304028"/>
                  </a:cubicBezTo>
                  <a:cubicBezTo>
                    <a:pt x="93027" y="301488"/>
                    <a:pt x="62547" y="286248"/>
                    <a:pt x="42227" y="267198"/>
                  </a:cubicBezTo>
                  <a:cubicBezTo>
                    <a:pt x="23177" y="248148"/>
                    <a:pt x="7937" y="213858"/>
                    <a:pt x="2857" y="190998"/>
                  </a:cubicBezTo>
                  <a:cubicBezTo>
                    <a:pt x="-953" y="174488"/>
                    <a:pt x="-953" y="163058"/>
                    <a:pt x="2857" y="146548"/>
                  </a:cubicBezTo>
                  <a:cubicBezTo>
                    <a:pt x="9207" y="124958"/>
                    <a:pt x="28257" y="91938"/>
                    <a:pt x="44767" y="71618"/>
                  </a:cubicBezTo>
                  <a:cubicBezTo>
                    <a:pt x="58737" y="53838"/>
                    <a:pt x="70167" y="41138"/>
                    <a:pt x="93027" y="29708"/>
                  </a:cubicBezTo>
                  <a:cubicBezTo>
                    <a:pt x="131127" y="11928"/>
                    <a:pt x="206057" y="4308"/>
                    <a:pt x="263207" y="498"/>
                  </a:cubicBezTo>
                  <a:cubicBezTo>
                    <a:pt x="321627" y="-2042"/>
                    <a:pt x="382587" y="5578"/>
                    <a:pt x="441007" y="13198"/>
                  </a:cubicBezTo>
                  <a:cubicBezTo>
                    <a:pt x="500697" y="20818"/>
                    <a:pt x="574357" y="25898"/>
                    <a:pt x="616267" y="47488"/>
                  </a:cubicBezTo>
                  <a:cubicBezTo>
                    <a:pt x="644207" y="61458"/>
                    <a:pt x="665797" y="84318"/>
                    <a:pt x="677227" y="104638"/>
                  </a:cubicBezTo>
                  <a:cubicBezTo>
                    <a:pt x="687387" y="122418"/>
                    <a:pt x="691197" y="141468"/>
                    <a:pt x="689927" y="160518"/>
                  </a:cubicBezTo>
                  <a:cubicBezTo>
                    <a:pt x="687387" y="184648"/>
                    <a:pt x="673417" y="220208"/>
                    <a:pt x="656907" y="239258"/>
                  </a:cubicBezTo>
                  <a:cubicBezTo>
                    <a:pt x="644207" y="254498"/>
                    <a:pt x="626427" y="264658"/>
                    <a:pt x="609917" y="271008"/>
                  </a:cubicBezTo>
                  <a:cubicBezTo>
                    <a:pt x="592137" y="276088"/>
                    <a:pt x="552767" y="276088"/>
                    <a:pt x="552767" y="276088"/>
                  </a:cubicBezTo>
                </a:path>
              </a:pathLst>
            </a:custGeom>
            <a:solidFill>
              <a:srgbClr val="88A3CE"/>
            </a:solidFill>
            <a:ln cap="sq">
              <a:noFill/>
              <a:prstDash val="solid"/>
              <a:miter/>
            </a:ln>
          </p:spPr>
        </p:sp>
      </p:grpSp>
      <p:grpSp>
        <p:nvGrpSpPr>
          <p:cNvPr id="18" name="Group 18"/>
          <p:cNvGrpSpPr/>
          <p:nvPr/>
        </p:nvGrpSpPr>
        <p:grpSpPr>
          <a:xfrm rot="-5466542">
            <a:off x="12290150" y="1463631"/>
            <a:ext cx="552469" cy="522858"/>
            <a:chOff x="0" y="0"/>
            <a:chExt cx="900430" cy="852170"/>
          </a:xfrm>
        </p:grpSpPr>
        <p:sp>
          <p:nvSpPr>
            <p:cNvPr id="19" name="Freeform 19"/>
            <p:cNvSpPr/>
            <p:nvPr/>
          </p:nvSpPr>
          <p:spPr>
            <a:xfrm>
              <a:off x="48017" y="49847"/>
              <a:ext cx="803368" cy="750720"/>
            </a:xfrm>
            <a:custGeom>
              <a:avLst/>
              <a:gdLst/>
              <a:ahLst/>
              <a:cxnLst/>
              <a:rect l="l" t="t" r="r" b="b"/>
              <a:pathLst>
                <a:path w="803368" h="750720">
                  <a:moveTo>
                    <a:pt x="205983" y="40323"/>
                  </a:moveTo>
                  <a:cubicBezTo>
                    <a:pt x="569203" y="394653"/>
                    <a:pt x="744463" y="493713"/>
                    <a:pt x="783833" y="543243"/>
                  </a:cubicBezTo>
                  <a:cubicBezTo>
                    <a:pt x="796533" y="559753"/>
                    <a:pt x="797803" y="567373"/>
                    <a:pt x="800343" y="583883"/>
                  </a:cubicBezTo>
                  <a:cubicBezTo>
                    <a:pt x="804153" y="606743"/>
                    <a:pt x="802883" y="644843"/>
                    <a:pt x="792723" y="670243"/>
                  </a:cubicBezTo>
                  <a:cubicBezTo>
                    <a:pt x="781293" y="695643"/>
                    <a:pt x="757163" y="721043"/>
                    <a:pt x="733033" y="733743"/>
                  </a:cubicBezTo>
                  <a:cubicBezTo>
                    <a:pt x="708903" y="747713"/>
                    <a:pt x="674613" y="754063"/>
                    <a:pt x="647943" y="748983"/>
                  </a:cubicBezTo>
                  <a:cubicBezTo>
                    <a:pt x="620003" y="745173"/>
                    <a:pt x="589523" y="729933"/>
                    <a:pt x="570473" y="709613"/>
                  </a:cubicBezTo>
                  <a:cubicBezTo>
                    <a:pt x="551423" y="690563"/>
                    <a:pt x="537453" y="653733"/>
                    <a:pt x="532373" y="630873"/>
                  </a:cubicBezTo>
                  <a:cubicBezTo>
                    <a:pt x="529833" y="614363"/>
                    <a:pt x="531103" y="601663"/>
                    <a:pt x="534913" y="587693"/>
                  </a:cubicBezTo>
                  <a:cubicBezTo>
                    <a:pt x="537453" y="572453"/>
                    <a:pt x="541263" y="559753"/>
                    <a:pt x="550153" y="545783"/>
                  </a:cubicBezTo>
                  <a:cubicBezTo>
                    <a:pt x="564123" y="526733"/>
                    <a:pt x="590793" y="500063"/>
                    <a:pt x="616193" y="488633"/>
                  </a:cubicBezTo>
                  <a:cubicBezTo>
                    <a:pt x="641593" y="478473"/>
                    <a:pt x="679693" y="478473"/>
                    <a:pt x="702553" y="483553"/>
                  </a:cubicBezTo>
                  <a:cubicBezTo>
                    <a:pt x="719063" y="486093"/>
                    <a:pt x="729223" y="491173"/>
                    <a:pt x="743193" y="501333"/>
                  </a:cubicBezTo>
                  <a:cubicBezTo>
                    <a:pt x="760973" y="515303"/>
                    <a:pt x="787643" y="543243"/>
                    <a:pt x="796533" y="569913"/>
                  </a:cubicBezTo>
                  <a:cubicBezTo>
                    <a:pt x="805423" y="595313"/>
                    <a:pt x="805423" y="630873"/>
                    <a:pt x="797803" y="656273"/>
                  </a:cubicBezTo>
                  <a:cubicBezTo>
                    <a:pt x="788913" y="682943"/>
                    <a:pt x="768593" y="710883"/>
                    <a:pt x="745733" y="726123"/>
                  </a:cubicBezTo>
                  <a:cubicBezTo>
                    <a:pt x="722873" y="742633"/>
                    <a:pt x="686043" y="750253"/>
                    <a:pt x="661913" y="750253"/>
                  </a:cubicBezTo>
                  <a:cubicBezTo>
                    <a:pt x="645403" y="751523"/>
                    <a:pt x="636513" y="747713"/>
                    <a:pt x="618733" y="741363"/>
                  </a:cubicBezTo>
                  <a:cubicBezTo>
                    <a:pt x="592063" y="731203"/>
                    <a:pt x="550153" y="707073"/>
                    <a:pt x="515863" y="682943"/>
                  </a:cubicBezTo>
                  <a:cubicBezTo>
                    <a:pt x="479033" y="657543"/>
                    <a:pt x="448553" y="633413"/>
                    <a:pt x="405373" y="592773"/>
                  </a:cubicBezTo>
                  <a:cubicBezTo>
                    <a:pt x="332983" y="529273"/>
                    <a:pt x="208523" y="403543"/>
                    <a:pt x="137403" y="324803"/>
                  </a:cubicBezTo>
                  <a:cubicBezTo>
                    <a:pt x="85333" y="268923"/>
                    <a:pt x="30723" y="219393"/>
                    <a:pt x="11673" y="173673"/>
                  </a:cubicBezTo>
                  <a:cubicBezTo>
                    <a:pt x="-1027" y="143193"/>
                    <a:pt x="-2297" y="113983"/>
                    <a:pt x="2783" y="89853"/>
                  </a:cubicBezTo>
                  <a:cubicBezTo>
                    <a:pt x="5323" y="70803"/>
                    <a:pt x="16753" y="53023"/>
                    <a:pt x="28183" y="40323"/>
                  </a:cubicBezTo>
                  <a:cubicBezTo>
                    <a:pt x="40883" y="26353"/>
                    <a:pt x="58663" y="14923"/>
                    <a:pt x="75173" y="8573"/>
                  </a:cubicBezTo>
                  <a:cubicBezTo>
                    <a:pt x="92953" y="953"/>
                    <a:pt x="112003" y="-1587"/>
                    <a:pt x="132323" y="953"/>
                  </a:cubicBezTo>
                  <a:cubicBezTo>
                    <a:pt x="155183" y="6033"/>
                    <a:pt x="205983" y="40323"/>
                    <a:pt x="205983" y="40323"/>
                  </a:cubicBezTo>
                </a:path>
              </a:pathLst>
            </a:custGeom>
            <a:solidFill>
              <a:srgbClr val="88A3CE"/>
            </a:solidFill>
            <a:ln cap="sq">
              <a:noFill/>
              <a:prstDash val="solid"/>
              <a:miter/>
            </a:ln>
          </p:spPr>
        </p:sp>
      </p:grpSp>
      <p:grpSp>
        <p:nvGrpSpPr>
          <p:cNvPr id="20" name="Group 20"/>
          <p:cNvGrpSpPr/>
          <p:nvPr/>
        </p:nvGrpSpPr>
        <p:grpSpPr>
          <a:xfrm rot="-5466542">
            <a:off x="11861973" y="1515446"/>
            <a:ext cx="621819" cy="241559"/>
            <a:chOff x="0" y="0"/>
            <a:chExt cx="1013460" cy="393700"/>
          </a:xfrm>
        </p:grpSpPr>
        <p:sp>
          <p:nvSpPr>
            <p:cNvPr id="21" name="Freeform 21"/>
            <p:cNvSpPr/>
            <p:nvPr/>
          </p:nvSpPr>
          <p:spPr>
            <a:xfrm>
              <a:off x="50559" y="48084"/>
              <a:ext cx="913595" cy="300601"/>
            </a:xfrm>
            <a:custGeom>
              <a:avLst/>
              <a:gdLst/>
              <a:ahLst/>
              <a:cxnLst/>
              <a:rect l="l" t="t" r="r" b="b"/>
              <a:pathLst>
                <a:path w="913595" h="300601">
                  <a:moveTo>
                    <a:pt x="123431" y="45896"/>
                  </a:moveTo>
                  <a:cubicBezTo>
                    <a:pt x="710171" y="29386"/>
                    <a:pt x="710171" y="17956"/>
                    <a:pt x="725411" y="12876"/>
                  </a:cubicBezTo>
                  <a:cubicBezTo>
                    <a:pt x="748271" y="5256"/>
                    <a:pt x="785101" y="-1094"/>
                    <a:pt x="811771" y="5256"/>
                  </a:cubicBezTo>
                  <a:cubicBezTo>
                    <a:pt x="838441" y="11606"/>
                    <a:pt x="868921" y="34466"/>
                    <a:pt x="884161" y="50976"/>
                  </a:cubicBezTo>
                  <a:cubicBezTo>
                    <a:pt x="895591" y="62406"/>
                    <a:pt x="901941" y="72566"/>
                    <a:pt x="905751" y="89076"/>
                  </a:cubicBezTo>
                  <a:cubicBezTo>
                    <a:pt x="912101" y="110666"/>
                    <a:pt x="917181" y="148766"/>
                    <a:pt x="908291" y="174166"/>
                  </a:cubicBezTo>
                  <a:cubicBezTo>
                    <a:pt x="900671" y="200836"/>
                    <a:pt x="880351" y="228776"/>
                    <a:pt x="858761" y="245286"/>
                  </a:cubicBezTo>
                  <a:cubicBezTo>
                    <a:pt x="837171" y="260526"/>
                    <a:pt x="800341" y="269416"/>
                    <a:pt x="776211" y="270686"/>
                  </a:cubicBezTo>
                  <a:cubicBezTo>
                    <a:pt x="759701" y="271956"/>
                    <a:pt x="748271" y="269416"/>
                    <a:pt x="734301" y="263066"/>
                  </a:cubicBezTo>
                  <a:cubicBezTo>
                    <a:pt x="712711" y="252906"/>
                    <a:pt x="680961" y="231316"/>
                    <a:pt x="666991" y="208456"/>
                  </a:cubicBezTo>
                  <a:cubicBezTo>
                    <a:pt x="651751" y="185596"/>
                    <a:pt x="642861" y="152576"/>
                    <a:pt x="645401" y="125906"/>
                  </a:cubicBezTo>
                  <a:cubicBezTo>
                    <a:pt x="647941" y="97966"/>
                    <a:pt x="660641" y="66216"/>
                    <a:pt x="678421" y="45896"/>
                  </a:cubicBezTo>
                  <a:cubicBezTo>
                    <a:pt x="697471" y="25576"/>
                    <a:pt x="731761" y="10336"/>
                    <a:pt x="753351" y="3986"/>
                  </a:cubicBezTo>
                  <a:cubicBezTo>
                    <a:pt x="769861" y="-1094"/>
                    <a:pt x="781291" y="-1094"/>
                    <a:pt x="797801" y="2716"/>
                  </a:cubicBezTo>
                  <a:cubicBezTo>
                    <a:pt x="819391" y="6526"/>
                    <a:pt x="856221" y="25576"/>
                    <a:pt x="874001" y="39546"/>
                  </a:cubicBezTo>
                  <a:cubicBezTo>
                    <a:pt x="886701" y="50976"/>
                    <a:pt x="894321" y="59866"/>
                    <a:pt x="900671" y="75106"/>
                  </a:cubicBezTo>
                  <a:cubicBezTo>
                    <a:pt x="908291" y="96696"/>
                    <a:pt x="917181" y="133526"/>
                    <a:pt x="912101" y="160196"/>
                  </a:cubicBezTo>
                  <a:cubicBezTo>
                    <a:pt x="907021" y="186866"/>
                    <a:pt x="895591" y="216076"/>
                    <a:pt x="870191" y="235126"/>
                  </a:cubicBezTo>
                  <a:cubicBezTo>
                    <a:pt x="828281" y="268146"/>
                    <a:pt x="734301" y="283386"/>
                    <a:pt x="650481" y="294816"/>
                  </a:cubicBezTo>
                  <a:cubicBezTo>
                    <a:pt x="543801" y="307516"/>
                    <a:pt x="382511" y="296086"/>
                    <a:pt x="278371" y="291006"/>
                  </a:cubicBezTo>
                  <a:cubicBezTo>
                    <a:pt x="203441" y="288466"/>
                    <a:pt x="131051" y="293546"/>
                    <a:pt x="84061" y="277036"/>
                  </a:cubicBezTo>
                  <a:cubicBezTo>
                    <a:pt x="54851" y="264336"/>
                    <a:pt x="31991" y="245286"/>
                    <a:pt x="18021" y="226236"/>
                  </a:cubicBezTo>
                  <a:cubicBezTo>
                    <a:pt x="6591" y="209726"/>
                    <a:pt x="1511" y="190676"/>
                    <a:pt x="241" y="171626"/>
                  </a:cubicBezTo>
                  <a:cubicBezTo>
                    <a:pt x="-1029" y="153846"/>
                    <a:pt x="2781" y="133526"/>
                    <a:pt x="10401" y="117016"/>
                  </a:cubicBezTo>
                  <a:cubicBezTo>
                    <a:pt x="18021" y="99236"/>
                    <a:pt x="28181" y="82726"/>
                    <a:pt x="44691" y="71296"/>
                  </a:cubicBezTo>
                  <a:cubicBezTo>
                    <a:pt x="63741" y="57326"/>
                    <a:pt x="123431" y="45896"/>
                    <a:pt x="123431" y="45896"/>
                  </a:cubicBezTo>
                </a:path>
              </a:pathLst>
            </a:custGeom>
            <a:solidFill>
              <a:srgbClr val="88A3CE"/>
            </a:solidFill>
            <a:ln cap="sq">
              <a:noFill/>
              <a:prstDash val="solid"/>
              <a:miter/>
            </a:ln>
          </p:spPr>
        </p:sp>
      </p:grpSp>
      <p:grpSp>
        <p:nvGrpSpPr>
          <p:cNvPr id="22" name="Group 22"/>
          <p:cNvGrpSpPr/>
          <p:nvPr/>
        </p:nvGrpSpPr>
        <p:grpSpPr>
          <a:xfrm rot="-5466542">
            <a:off x="12554152" y="1852832"/>
            <a:ext cx="287533" cy="490131"/>
            <a:chOff x="0" y="0"/>
            <a:chExt cx="468630" cy="798830"/>
          </a:xfrm>
        </p:grpSpPr>
        <p:sp>
          <p:nvSpPr>
            <p:cNvPr id="23" name="Freeform 23"/>
            <p:cNvSpPr/>
            <p:nvPr/>
          </p:nvSpPr>
          <p:spPr>
            <a:xfrm>
              <a:off x="49539" y="47400"/>
              <a:ext cx="371182" cy="700630"/>
            </a:xfrm>
            <a:custGeom>
              <a:avLst/>
              <a:gdLst/>
              <a:ahLst/>
              <a:cxnLst/>
              <a:rect l="l" t="t" r="r" b="b"/>
              <a:pathLst>
                <a:path w="371182" h="700630">
                  <a:moveTo>
                    <a:pt x="231131" y="102460"/>
                  </a:moveTo>
                  <a:cubicBezTo>
                    <a:pt x="294631" y="459330"/>
                    <a:pt x="351781" y="489810"/>
                    <a:pt x="364481" y="529180"/>
                  </a:cubicBezTo>
                  <a:cubicBezTo>
                    <a:pt x="374641" y="558390"/>
                    <a:pt x="372101" y="587600"/>
                    <a:pt x="364481" y="613000"/>
                  </a:cubicBezTo>
                  <a:cubicBezTo>
                    <a:pt x="355591" y="637130"/>
                    <a:pt x="334001" y="663800"/>
                    <a:pt x="312411" y="679040"/>
                  </a:cubicBezTo>
                  <a:cubicBezTo>
                    <a:pt x="290821" y="693010"/>
                    <a:pt x="257801" y="701900"/>
                    <a:pt x="231131" y="699360"/>
                  </a:cubicBezTo>
                  <a:cubicBezTo>
                    <a:pt x="205731" y="698090"/>
                    <a:pt x="173981" y="685390"/>
                    <a:pt x="154931" y="667610"/>
                  </a:cubicBezTo>
                  <a:cubicBezTo>
                    <a:pt x="134611" y="651100"/>
                    <a:pt x="116831" y="621890"/>
                    <a:pt x="111751" y="595220"/>
                  </a:cubicBezTo>
                  <a:cubicBezTo>
                    <a:pt x="106671" y="569820"/>
                    <a:pt x="114291" y="534260"/>
                    <a:pt x="121911" y="512670"/>
                  </a:cubicBezTo>
                  <a:cubicBezTo>
                    <a:pt x="128261" y="497430"/>
                    <a:pt x="134611" y="488540"/>
                    <a:pt x="146041" y="478380"/>
                  </a:cubicBezTo>
                  <a:cubicBezTo>
                    <a:pt x="163821" y="463140"/>
                    <a:pt x="198111" y="445360"/>
                    <a:pt x="220971" y="440280"/>
                  </a:cubicBezTo>
                  <a:cubicBezTo>
                    <a:pt x="236211" y="436470"/>
                    <a:pt x="247641" y="436470"/>
                    <a:pt x="262881" y="440280"/>
                  </a:cubicBezTo>
                  <a:cubicBezTo>
                    <a:pt x="284471" y="445360"/>
                    <a:pt x="320031" y="465680"/>
                    <a:pt x="336541" y="480920"/>
                  </a:cubicBezTo>
                  <a:cubicBezTo>
                    <a:pt x="347971" y="491080"/>
                    <a:pt x="354321" y="499970"/>
                    <a:pt x="359401" y="515210"/>
                  </a:cubicBezTo>
                  <a:cubicBezTo>
                    <a:pt x="367021" y="536800"/>
                    <a:pt x="370831" y="576170"/>
                    <a:pt x="368291" y="599030"/>
                  </a:cubicBezTo>
                  <a:cubicBezTo>
                    <a:pt x="365751" y="614270"/>
                    <a:pt x="360671" y="625700"/>
                    <a:pt x="351781" y="638400"/>
                  </a:cubicBezTo>
                  <a:cubicBezTo>
                    <a:pt x="337811" y="656180"/>
                    <a:pt x="307331" y="681580"/>
                    <a:pt x="287011" y="691740"/>
                  </a:cubicBezTo>
                  <a:cubicBezTo>
                    <a:pt x="273041" y="698090"/>
                    <a:pt x="261611" y="700630"/>
                    <a:pt x="246371" y="700630"/>
                  </a:cubicBezTo>
                  <a:cubicBezTo>
                    <a:pt x="223511" y="699360"/>
                    <a:pt x="193031" y="691740"/>
                    <a:pt x="165091" y="676500"/>
                  </a:cubicBezTo>
                  <a:cubicBezTo>
                    <a:pt x="130801" y="658720"/>
                    <a:pt x="85081" y="626970"/>
                    <a:pt x="62221" y="590140"/>
                  </a:cubicBezTo>
                  <a:cubicBezTo>
                    <a:pt x="38091" y="550770"/>
                    <a:pt x="36821" y="503780"/>
                    <a:pt x="26661" y="445360"/>
                  </a:cubicBezTo>
                  <a:cubicBezTo>
                    <a:pt x="13961" y="360270"/>
                    <a:pt x="-5089" y="196440"/>
                    <a:pt x="1261" y="126590"/>
                  </a:cubicBezTo>
                  <a:cubicBezTo>
                    <a:pt x="5071" y="91030"/>
                    <a:pt x="10151" y="66900"/>
                    <a:pt x="22851" y="47850"/>
                  </a:cubicBezTo>
                  <a:cubicBezTo>
                    <a:pt x="33011" y="31340"/>
                    <a:pt x="46981" y="18640"/>
                    <a:pt x="64761" y="11020"/>
                  </a:cubicBezTo>
                  <a:cubicBezTo>
                    <a:pt x="86351" y="2130"/>
                    <a:pt x="120641" y="-4220"/>
                    <a:pt x="146041" y="3400"/>
                  </a:cubicBezTo>
                  <a:cubicBezTo>
                    <a:pt x="170171" y="9750"/>
                    <a:pt x="198111" y="31340"/>
                    <a:pt x="212081" y="50390"/>
                  </a:cubicBezTo>
                  <a:cubicBezTo>
                    <a:pt x="223511" y="65630"/>
                    <a:pt x="231131" y="102460"/>
                    <a:pt x="231131" y="102460"/>
                  </a:cubicBezTo>
                </a:path>
              </a:pathLst>
            </a:custGeom>
            <a:solidFill>
              <a:srgbClr val="88A3CE"/>
            </a:solidFill>
            <a:ln cap="sq">
              <a:noFill/>
              <a:prstDash val="solid"/>
              <a:miter/>
            </a:ln>
          </p:spPr>
        </p:sp>
      </p:grpSp>
      <p:sp>
        <p:nvSpPr>
          <p:cNvPr id="24" name="Freeform 24"/>
          <p:cNvSpPr/>
          <p:nvPr/>
        </p:nvSpPr>
        <p:spPr>
          <a:xfrm>
            <a:off x="15404213" y="559883"/>
            <a:ext cx="2224612" cy="1275334"/>
          </a:xfrm>
          <a:custGeom>
            <a:avLst/>
            <a:gdLst/>
            <a:ahLst/>
            <a:cxnLst/>
            <a:rect l="l" t="t" r="r" b="b"/>
            <a:pathLst>
              <a:path w="3692894" h="2316452">
                <a:moveTo>
                  <a:pt x="0" y="0"/>
                </a:moveTo>
                <a:lnTo>
                  <a:pt x="3692894" y="0"/>
                </a:lnTo>
                <a:lnTo>
                  <a:pt x="3692894" y="2316451"/>
                </a:lnTo>
                <a:lnTo>
                  <a:pt x="0" y="23164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5" name="Freeform 25"/>
          <p:cNvSpPr/>
          <p:nvPr/>
        </p:nvSpPr>
        <p:spPr>
          <a:xfrm rot="-1008282" flipH="1">
            <a:off x="15390590" y="2224730"/>
            <a:ext cx="2659752" cy="3491322"/>
          </a:xfrm>
          <a:custGeom>
            <a:avLst/>
            <a:gdLst/>
            <a:ahLst/>
            <a:cxnLst/>
            <a:rect l="l" t="t" r="r" b="b"/>
            <a:pathLst>
              <a:path w="2659752" h="3491322">
                <a:moveTo>
                  <a:pt x="2659753" y="0"/>
                </a:moveTo>
                <a:lnTo>
                  <a:pt x="0" y="0"/>
                </a:lnTo>
                <a:lnTo>
                  <a:pt x="0" y="3491322"/>
                </a:lnTo>
                <a:lnTo>
                  <a:pt x="2659753" y="3491322"/>
                </a:lnTo>
                <a:lnTo>
                  <a:pt x="2659753"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6" name="TextBox 26"/>
          <p:cNvSpPr txBox="1"/>
          <p:nvPr/>
        </p:nvSpPr>
        <p:spPr>
          <a:xfrm>
            <a:off x="3214092" y="3343329"/>
            <a:ext cx="11925962" cy="1120775"/>
          </a:xfrm>
          <a:prstGeom prst="rect">
            <a:avLst/>
          </a:prstGeom>
        </p:spPr>
        <p:txBody>
          <a:bodyPr lIns="0" tIns="0" rIns="0" bIns="0" rtlCol="0" anchor="t">
            <a:spAutoFit/>
          </a:bodyPr>
          <a:lstStyle/>
          <a:p>
            <a:pPr algn="r">
              <a:lnSpc>
                <a:spcPts val="9100"/>
              </a:lnSpc>
            </a:pPr>
            <a:r>
              <a:rPr lang="en-US" sz="6500">
                <a:solidFill>
                  <a:srgbClr val="3B365F"/>
                </a:solidFill>
                <a:latin typeface="TAN Headline"/>
                <a:ea typeface="TAN Headline"/>
                <a:cs typeface="TAN Headline"/>
                <a:sym typeface="TAN Headline"/>
              </a:rPr>
              <a:t>O Voluntariado no Brasil</a:t>
            </a:r>
          </a:p>
        </p:txBody>
      </p:sp>
      <p:sp>
        <p:nvSpPr>
          <p:cNvPr id="27" name="TextBox 27"/>
          <p:cNvSpPr txBox="1"/>
          <p:nvPr/>
        </p:nvSpPr>
        <p:spPr>
          <a:xfrm>
            <a:off x="10362586" y="1892264"/>
            <a:ext cx="2068481" cy="494094"/>
          </a:xfrm>
          <a:prstGeom prst="rect">
            <a:avLst/>
          </a:prstGeom>
        </p:spPr>
        <p:txBody>
          <a:bodyPr lIns="0" tIns="0" rIns="0" bIns="0" rtlCol="0" anchor="t">
            <a:spAutoFit/>
          </a:bodyPr>
          <a:lstStyle/>
          <a:p>
            <a:pPr algn="r">
              <a:lnSpc>
                <a:spcPts val="4026"/>
              </a:lnSpc>
            </a:pPr>
            <a:r>
              <a:rPr lang="en-US" sz="2876">
                <a:solidFill>
                  <a:srgbClr val="3B365F"/>
                </a:solidFill>
                <a:latin typeface="TAN Headline"/>
                <a:ea typeface="TAN Headline"/>
                <a:cs typeface="TAN Headline"/>
                <a:sym typeface="TAN Headline"/>
              </a:rPr>
              <a:t>Justino 🎵</a:t>
            </a:r>
          </a:p>
        </p:txBody>
      </p:sp>
      <p:sp>
        <p:nvSpPr>
          <p:cNvPr id="28" name="TextBox 28"/>
          <p:cNvSpPr txBox="1"/>
          <p:nvPr/>
        </p:nvSpPr>
        <p:spPr>
          <a:xfrm>
            <a:off x="5358879" y="1892264"/>
            <a:ext cx="1494630" cy="488823"/>
          </a:xfrm>
          <a:prstGeom prst="rect">
            <a:avLst/>
          </a:prstGeom>
        </p:spPr>
        <p:txBody>
          <a:bodyPr lIns="0" tIns="0" rIns="0" bIns="0" rtlCol="0" anchor="t">
            <a:spAutoFit/>
          </a:bodyPr>
          <a:lstStyle/>
          <a:p>
            <a:pPr algn="r">
              <a:lnSpc>
                <a:spcPts val="4031"/>
              </a:lnSpc>
            </a:pPr>
            <a:r>
              <a:rPr lang="en-US" sz="2879">
                <a:solidFill>
                  <a:srgbClr val="3B365F"/>
                </a:solidFill>
                <a:latin typeface="TAN Headline"/>
                <a:ea typeface="TAN Headline"/>
                <a:cs typeface="TAN Headline"/>
                <a:sym typeface="TAN Headline"/>
              </a:rPr>
              <a:t>Ana 🌼</a:t>
            </a:r>
          </a:p>
        </p:txBody>
      </p:sp>
      <p:sp>
        <p:nvSpPr>
          <p:cNvPr id="29" name="TextBox 29"/>
          <p:cNvSpPr txBox="1"/>
          <p:nvPr/>
        </p:nvSpPr>
        <p:spPr>
          <a:xfrm>
            <a:off x="7334136" y="1892264"/>
            <a:ext cx="2641489" cy="488823"/>
          </a:xfrm>
          <a:prstGeom prst="rect">
            <a:avLst/>
          </a:prstGeom>
        </p:spPr>
        <p:txBody>
          <a:bodyPr lIns="0" tIns="0" rIns="0" bIns="0" rtlCol="0" anchor="t">
            <a:spAutoFit/>
          </a:bodyPr>
          <a:lstStyle/>
          <a:p>
            <a:pPr algn="r">
              <a:lnSpc>
                <a:spcPts val="4031"/>
              </a:lnSpc>
            </a:pPr>
            <a:r>
              <a:rPr lang="en-US" sz="2879">
                <a:solidFill>
                  <a:srgbClr val="3B365F"/>
                </a:solidFill>
                <a:latin typeface="TAN Headline"/>
                <a:ea typeface="TAN Headline"/>
                <a:cs typeface="TAN Headline"/>
                <a:sym typeface="TAN Headline"/>
              </a:rPr>
              <a:t>Gabriel l.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rot="5755965">
            <a:off x="-2596635" y="-6569350"/>
            <a:ext cx="9743832" cy="10202966"/>
          </a:xfrm>
          <a:custGeom>
            <a:avLst/>
            <a:gdLst/>
            <a:ahLst/>
            <a:cxnLst/>
            <a:rect l="l" t="t" r="r" b="b"/>
            <a:pathLst>
              <a:path w="9743832" h="10202966">
                <a:moveTo>
                  <a:pt x="0" y="0"/>
                </a:moveTo>
                <a:lnTo>
                  <a:pt x="9743832" y="0"/>
                </a:lnTo>
                <a:lnTo>
                  <a:pt x="9743832" y="10202965"/>
                </a:lnTo>
                <a:lnTo>
                  <a:pt x="0" y="102029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441338" flipH="1">
            <a:off x="1608121" y="2418820"/>
            <a:ext cx="16065837" cy="10084176"/>
          </a:xfrm>
          <a:custGeom>
            <a:avLst/>
            <a:gdLst/>
            <a:ahLst/>
            <a:cxnLst/>
            <a:rect l="l" t="t" r="r" b="b"/>
            <a:pathLst>
              <a:path w="16065837" h="10084176">
                <a:moveTo>
                  <a:pt x="16065837" y="0"/>
                </a:moveTo>
                <a:lnTo>
                  <a:pt x="0" y="0"/>
                </a:lnTo>
                <a:lnTo>
                  <a:pt x="0" y="10084176"/>
                </a:lnTo>
                <a:lnTo>
                  <a:pt x="16065837" y="10084176"/>
                </a:lnTo>
                <a:lnTo>
                  <a:pt x="16065837"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28700" y="1565392"/>
            <a:ext cx="15059185" cy="2166722"/>
          </a:xfrm>
          <a:prstGeom prst="rect">
            <a:avLst/>
          </a:prstGeom>
        </p:spPr>
        <p:txBody>
          <a:bodyPr lIns="0" tIns="0" rIns="0" bIns="0" rtlCol="0" anchor="t">
            <a:spAutoFit/>
          </a:bodyPr>
          <a:lstStyle/>
          <a:p>
            <a:pPr marL="0" lvl="0" indent="0" algn="l">
              <a:lnSpc>
                <a:spcPts val="4263"/>
              </a:lnSpc>
              <a:spcBef>
                <a:spcPct val="0"/>
              </a:spcBef>
            </a:pPr>
            <a:r>
              <a:rPr lang="en-US" sz="3045" dirty="0">
                <a:solidFill>
                  <a:srgbClr val="3B365F"/>
                </a:solidFill>
                <a:latin typeface="Coco Gothic"/>
                <a:ea typeface="Coco Gothic"/>
                <a:cs typeface="Coco Gothic"/>
                <a:sym typeface="Coco Gothic"/>
              </a:rPr>
              <a:t>O </a:t>
            </a:r>
            <a:r>
              <a:rPr lang="en-US" sz="3045" dirty="0" err="1">
                <a:solidFill>
                  <a:srgbClr val="3B365F"/>
                </a:solidFill>
                <a:latin typeface="Coco Gothic"/>
                <a:ea typeface="Coco Gothic"/>
                <a:cs typeface="Coco Gothic"/>
                <a:sym typeface="Coco Gothic"/>
              </a:rPr>
              <a:t>voluntar</a:t>
            </a:r>
            <a:r>
              <a:rPr lang="en-US" sz="3045" u="none" strike="noStrike" dirty="0" err="1">
                <a:solidFill>
                  <a:srgbClr val="3B365F"/>
                </a:solidFill>
                <a:latin typeface="Coco Gothic"/>
                <a:ea typeface="Coco Gothic"/>
                <a:cs typeface="Coco Gothic"/>
                <a:sym typeface="Coco Gothic"/>
              </a:rPr>
              <a:t>iado</a:t>
            </a:r>
            <a:r>
              <a:rPr lang="en-US" sz="3045" u="none" strike="noStrike" dirty="0">
                <a:solidFill>
                  <a:srgbClr val="3B365F"/>
                </a:solidFill>
                <a:latin typeface="Coco Gothic"/>
                <a:ea typeface="Coco Gothic"/>
                <a:cs typeface="Coco Gothic"/>
                <a:sym typeface="Coco Gothic"/>
              </a:rPr>
              <a:t> </a:t>
            </a:r>
            <a:r>
              <a:rPr lang="en-US" sz="3045" u="none" strike="noStrike" dirty="0" err="1">
                <a:solidFill>
                  <a:srgbClr val="3B365F"/>
                </a:solidFill>
                <a:latin typeface="Coco Gothic"/>
                <a:ea typeface="Coco Gothic"/>
                <a:cs typeface="Coco Gothic"/>
                <a:sym typeface="Coco Gothic"/>
              </a:rPr>
              <a:t>na</a:t>
            </a:r>
            <a:r>
              <a:rPr lang="en-US" sz="3045" u="none" strike="noStrike" dirty="0">
                <a:solidFill>
                  <a:srgbClr val="3B365F"/>
                </a:solidFill>
                <a:latin typeface="Coco Gothic"/>
                <a:ea typeface="Coco Gothic"/>
                <a:cs typeface="Coco Gothic"/>
                <a:sym typeface="Coco Gothic"/>
              </a:rPr>
              <a:t> </a:t>
            </a:r>
            <a:r>
              <a:rPr lang="en-US" sz="3045" u="none" strike="noStrike" dirty="0" err="1">
                <a:solidFill>
                  <a:srgbClr val="3B365F"/>
                </a:solidFill>
                <a:latin typeface="Coco Gothic"/>
                <a:ea typeface="Coco Gothic"/>
                <a:cs typeface="Coco Gothic"/>
                <a:sym typeface="Coco Gothic"/>
              </a:rPr>
              <a:t>área</a:t>
            </a:r>
            <a:r>
              <a:rPr lang="en-US" sz="3045" u="none" strike="noStrike" dirty="0">
                <a:solidFill>
                  <a:srgbClr val="3B365F"/>
                </a:solidFill>
                <a:latin typeface="Coco Gothic"/>
                <a:ea typeface="Coco Gothic"/>
                <a:cs typeface="Coco Gothic"/>
                <a:sym typeface="Coco Gothic"/>
              </a:rPr>
              <a:t> da </a:t>
            </a:r>
            <a:r>
              <a:rPr lang="en-US" sz="3045" u="none" strike="noStrike" dirty="0" err="1">
                <a:solidFill>
                  <a:srgbClr val="3B365F"/>
                </a:solidFill>
                <a:latin typeface="Coco Gothic"/>
                <a:ea typeface="Coco Gothic"/>
                <a:cs typeface="Coco Gothic"/>
                <a:sym typeface="Coco Gothic"/>
              </a:rPr>
              <a:t>saúde</a:t>
            </a:r>
            <a:r>
              <a:rPr lang="en-US" sz="3045" u="none" strike="noStrike" dirty="0">
                <a:solidFill>
                  <a:srgbClr val="3B365F"/>
                </a:solidFill>
                <a:latin typeface="Coco Gothic"/>
                <a:ea typeface="Coco Gothic"/>
                <a:cs typeface="Coco Gothic"/>
                <a:sym typeface="Coco Gothic"/>
              </a:rPr>
              <a:t> </a:t>
            </a:r>
            <a:r>
              <a:rPr lang="en-US" sz="3045" u="none" strike="noStrike" dirty="0" err="1">
                <a:solidFill>
                  <a:srgbClr val="3B365F"/>
                </a:solidFill>
                <a:latin typeface="Coco Gothic"/>
                <a:ea typeface="Coco Gothic"/>
                <a:cs typeface="Coco Gothic"/>
                <a:sym typeface="Coco Gothic"/>
              </a:rPr>
              <a:t>consiste</a:t>
            </a:r>
            <a:r>
              <a:rPr lang="en-US" sz="3045" u="none" strike="noStrike" dirty="0">
                <a:solidFill>
                  <a:srgbClr val="3B365F"/>
                </a:solidFill>
                <a:latin typeface="Coco Gothic"/>
                <a:ea typeface="Coco Gothic"/>
                <a:cs typeface="Coco Gothic"/>
                <a:sym typeface="Coco Gothic"/>
              </a:rPr>
              <a:t> </a:t>
            </a:r>
            <a:r>
              <a:rPr lang="en-US" sz="3045" u="none" strike="noStrike" dirty="0" err="1">
                <a:solidFill>
                  <a:srgbClr val="3B365F"/>
                </a:solidFill>
                <a:latin typeface="Coco Gothic"/>
                <a:ea typeface="Coco Gothic"/>
                <a:cs typeface="Coco Gothic"/>
                <a:sym typeface="Coco Gothic"/>
              </a:rPr>
              <a:t>em</a:t>
            </a:r>
            <a:r>
              <a:rPr lang="en-US" sz="3045" u="none" strike="noStrike" dirty="0">
                <a:solidFill>
                  <a:srgbClr val="3B365F"/>
                </a:solidFill>
                <a:latin typeface="Coco Gothic"/>
                <a:ea typeface="Coco Gothic"/>
                <a:cs typeface="Coco Gothic"/>
                <a:sym typeface="Coco Gothic"/>
              </a:rPr>
              <a:t> </a:t>
            </a:r>
            <a:r>
              <a:rPr lang="en-US" sz="3045" u="none" strike="noStrike" dirty="0" err="1">
                <a:solidFill>
                  <a:srgbClr val="3B365F"/>
                </a:solidFill>
                <a:latin typeface="Coco Gothic"/>
                <a:ea typeface="Coco Gothic"/>
                <a:cs typeface="Coco Gothic"/>
                <a:sym typeface="Coco Gothic"/>
              </a:rPr>
              <a:t>ações</a:t>
            </a:r>
            <a:r>
              <a:rPr lang="en-US" sz="3045" u="none" strike="noStrike" dirty="0">
                <a:solidFill>
                  <a:srgbClr val="3B365F"/>
                </a:solidFill>
                <a:latin typeface="Coco Gothic"/>
                <a:ea typeface="Coco Gothic"/>
                <a:cs typeface="Coco Gothic"/>
                <a:sym typeface="Coco Gothic"/>
              </a:rPr>
              <a:t> </a:t>
            </a:r>
            <a:r>
              <a:rPr lang="en-US" sz="3045" u="none" strike="noStrike" dirty="0" err="1">
                <a:solidFill>
                  <a:srgbClr val="3B365F"/>
                </a:solidFill>
                <a:latin typeface="Coco Gothic"/>
                <a:ea typeface="Coco Gothic"/>
                <a:cs typeface="Coco Gothic"/>
                <a:sym typeface="Coco Gothic"/>
              </a:rPr>
              <a:t>não</a:t>
            </a:r>
            <a:r>
              <a:rPr lang="en-US" sz="3045" u="none" strike="noStrike" dirty="0">
                <a:solidFill>
                  <a:srgbClr val="3B365F"/>
                </a:solidFill>
                <a:latin typeface="Coco Gothic"/>
                <a:ea typeface="Coco Gothic"/>
                <a:cs typeface="Coco Gothic"/>
                <a:sym typeface="Coco Gothic"/>
              </a:rPr>
              <a:t> </a:t>
            </a:r>
            <a:r>
              <a:rPr lang="en-US" sz="3045" u="none" strike="noStrike" dirty="0" err="1">
                <a:solidFill>
                  <a:srgbClr val="3B365F"/>
                </a:solidFill>
                <a:latin typeface="Coco Gothic"/>
                <a:ea typeface="Coco Gothic"/>
                <a:cs typeface="Coco Gothic"/>
                <a:sym typeface="Coco Gothic"/>
              </a:rPr>
              <a:t>remuneradas</a:t>
            </a:r>
            <a:r>
              <a:rPr lang="en-US" sz="3045" u="none" strike="noStrike" dirty="0">
                <a:solidFill>
                  <a:srgbClr val="3B365F"/>
                </a:solidFill>
                <a:latin typeface="Coco Gothic"/>
                <a:ea typeface="Coco Gothic"/>
                <a:cs typeface="Coco Gothic"/>
                <a:sym typeface="Coco Gothic"/>
              </a:rPr>
              <a:t> </a:t>
            </a:r>
            <a:r>
              <a:rPr lang="en-US" sz="3045" u="none" strike="noStrike" dirty="0" err="1">
                <a:solidFill>
                  <a:srgbClr val="3B365F"/>
                </a:solidFill>
                <a:latin typeface="Coco Gothic"/>
                <a:ea typeface="Coco Gothic"/>
                <a:cs typeface="Coco Gothic"/>
                <a:sym typeface="Coco Gothic"/>
              </a:rPr>
              <a:t>voltadas</a:t>
            </a:r>
            <a:r>
              <a:rPr lang="en-US" sz="3045" u="none" strike="noStrike" dirty="0">
                <a:solidFill>
                  <a:srgbClr val="3B365F"/>
                </a:solidFill>
                <a:latin typeface="Coco Gothic"/>
                <a:ea typeface="Coco Gothic"/>
                <a:cs typeface="Coco Gothic"/>
                <a:sym typeface="Coco Gothic"/>
              </a:rPr>
              <a:t> </a:t>
            </a:r>
            <a:r>
              <a:rPr lang="en-US" sz="3045" u="none" strike="noStrike" dirty="0" err="1">
                <a:solidFill>
                  <a:srgbClr val="3B365F"/>
                </a:solidFill>
                <a:latin typeface="Coco Gothic"/>
                <a:ea typeface="Coco Gothic"/>
                <a:cs typeface="Coco Gothic"/>
                <a:sym typeface="Coco Gothic"/>
              </a:rPr>
              <a:t>ao</a:t>
            </a:r>
            <a:r>
              <a:rPr lang="en-US" sz="3045" u="none" strike="noStrike" dirty="0">
                <a:solidFill>
                  <a:srgbClr val="3B365F"/>
                </a:solidFill>
                <a:latin typeface="Coco Gothic"/>
                <a:ea typeface="Coco Gothic"/>
                <a:cs typeface="Coco Gothic"/>
                <a:sym typeface="Coco Gothic"/>
              </a:rPr>
              <a:t> </a:t>
            </a:r>
            <a:r>
              <a:rPr lang="en-US" sz="3045" u="none" strike="noStrike" dirty="0" err="1">
                <a:solidFill>
                  <a:srgbClr val="3B365F"/>
                </a:solidFill>
                <a:latin typeface="Coco Gothic"/>
                <a:ea typeface="Coco Gothic"/>
                <a:cs typeface="Coco Gothic"/>
                <a:sym typeface="Coco Gothic"/>
              </a:rPr>
              <a:t>bem-estar</a:t>
            </a:r>
            <a:r>
              <a:rPr lang="en-US" sz="3045" u="none" strike="noStrike" dirty="0">
                <a:solidFill>
                  <a:srgbClr val="3B365F"/>
                </a:solidFill>
                <a:latin typeface="Coco Gothic"/>
                <a:ea typeface="Coco Gothic"/>
                <a:cs typeface="Coco Gothic"/>
                <a:sym typeface="Coco Gothic"/>
              </a:rPr>
              <a:t> e </a:t>
            </a:r>
            <a:r>
              <a:rPr lang="en-US" sz="3045" u="none" strike="noStrike" dirty="0" err="1">
                <a:solidFill>
                  <a:srgbClr val="3B365F"/>
                </a:solidFill>
                <a:latin typeface="Coco Gothic"/>
                <a:ea typeface="Coco Gothic"/>
                <a:cs typeface="Coco Gothic"/>
                <a:sym typeface="Coco Gothic"/>
              </a:rPr>
              <a:t>apoio</a:t>
            </a:r>
            <a:r>
              <a:rPr lang="en-US" sz="3045" u="none" strike="noStrike" dirty="0">
                <a:solidFill>
                  <a:srgbClr val="3B365F"/>
                </a:solidFill>
                <a:latin typeface="Coco Gothic"/>
                <a:ea typeface="Coco Gothic"/>
                <a:cs typeface="Coco Gothic"/>
                <a:sym typeface="Coco Gothic"/>
              </a:rPr>
              <a:t> </a:t>
            </a:r>
            <a:r>
              <a:rPr lang="en-US" sz="3045" u="none" strike="noStrike" dirty="0" err="1">
                <a:solidFill>
                  <a:srgbClr val="3B365F"/>
                </a:solidFill>
                <a:latin typeface="Coco Gothic"/>
                <a:ea typeface="Coco Gothic"/>
                <a:cs typeface="Coco Gothic"/>
                <a:sym typeface="Coco Gothic"/>
              </a:rPr>
              <a:t>aos</a:t>
            </a:r>
            <a:r>
              <a:rPr lang="en-US" sz="3045" u="none" strike="noStrike" dirty="0">
                <a:solidFill>
                  <a:srgbClr val="3B365F"/>
                </a:solidFill>
                <a:latin typeface="Coco Gothic"/>
                <a:ea typeface="Coco Gothic"/>
                <a:cs typeface="Coco Gothic"/>
                <a:sym typeface="Coco Gothic"/>
              </a:rPr>
              <a:t> </a:t>
            </a:r>
            <a:r>
              <a:rPr lang="en-US" sz="3045" u="none" strike="noStrike" dirty="0" err="1">
                <a:solidFill>
                  <a:srgbClr val="3B365F"/>
                </a:solidFill>
                <a:latin typeface="Coco Gothic"/>
                <a:ea typeface="Coco Gothic"/>
                <a:cs typeface="Coco Gothic"/>
                <a:sym typeface="Coco Gothic"/>
              </a:rPr>
              <a:t>pacientes</a:t>
            </a:r>
            <a:r>
              <a:rPr lang="en-US" sz="3045" u="none" strike="noStrike" dirty="0">
                <a:solidFill>
                  <a:srgbClr val="3B365F"/>
                </a:solidFill>
                <a:latin typeface="Coco Gothic"/>
                <a:ea typeface="Coco Gothic"/>
                <a:cs typeface="Coco Gothic"/>
                <a:sym typeface="Coco Gothic"/>
              </a:rPr>
              <a:t>. </a:t>
            </a:r>
          </a:p>
          <a:p>
            <a:pPr marL="0" lvl="0" indent="0" algn="l">
              <a:lnSpc>
                <a:spcPts val="4263"/>
              </a:lnSpc>
              <a:spcBef>
                <a:spcPct val="0"/>
              </a:spcBef>
            </a:pPr>
            <a:endParaRPr lang="en-US" sz="3045" u="none" strike="noStrike" dirty="0">
              <a:solidFill>
                <a:srgbClr val="3B365F"/>
              </a:solidFill>
              <a:latin typeface="Coco Gothic"/>
              <a:ea typeface="Coco Gothic"/>
              <a:cs typeface="Coco Gothic"/>
              <a:sym typeface="Coco Gothic"/>
            </a:endParaRPr>
          </a:p>
          <a:p>
            <a:pPr marL="0" lvl="0" indent="0" algn="l">
              <a:lnSpc>
                <a:spcPts val="4263"/>
              </a:lnSpc>
              <a:spcBef>
                <a:spcPct val="0"/>
              </a:spcBef>
            </a:pPr>
            <a:endParaRPr lang="en-US" sz="3045" u="none" strike="noStrike" dirty="0">
              <a:solidFill>
                <a:srgbClr val="3B365F"/>
              </a:solidFill>
              <a:latin typeface="Coco Gothic"/>
              <a:ea typeface="Coco Gothic"/>
              <a:cs typeface="Coco Gothic"/>
              <a:sym typeface="Coco Gothic"/>
            </a:endParaRPr>
          </a:p>
        </p:txBody>
      </p:sp>
      <p:sp>
        <p:nvSpPr>
          <p:cNvPr id="6" name="TextBox 6"/>
          <p:cNvSpPr txBox="1"/>
          <p:nvPr/>
        </p:nvSpPr>
        <p:spPr>
          <a:xfrm>
            <a:off x="1028700" y="485727"/>
            <a:ext cx="11023415" cy="946149"/>
          </a:xfrm>
          <a:prstGeom prst="rect">
            <a:avLst/>
          </a:prstGeom>
        </p:spPr>
        <p:txBody>
          <a:bodyPr lIns="0" tIns="0" rIns="0" bIns="0" rtlCol="0" anchor="t">
            <a:spAutoFit/>
          </a:bodyPr>
          <a:lstStyle/>
          <a:p>
            <a:pPr algn="just">
              <a:lnSpc>
                <a:spcPts val="7700"/>
              </a:lnSpc>
            </a:pPr>
            <a:r>
              <a:rPr lang="en-US" sz="5500">
                <a:solidFill>
                  <a:srgbClr val="3B365F"/>
                </a:solidFill>
                <a:latin typeface="TAN Headline"/>
                <a:ea typeface="TAN Headline"/>
                <a:cs typeface="TAN Headline"/>
                <a:sym typeface="TAN Headline"/>
              </a:rPr>
              <a:t>O que é o Voluntariado?</a:t>
            </a:r>
          </a:p>
        </p:txBody>
      </p:sp>
      <p:sp>
        <p:nvSpPr>
          <p:cNvPr id="7" name="TextBox 7"/>
          <p:cNvSpPr txBox="1"/>
          <p:nvPr/>
        </p:nvSpPr>
        <p:spPr>
          <a:xfrm>
            <a:off x="1028700" y="2959100"/>
            <a:ext cx="10782300" cy="946150"/>
          </a:xfrm>
          <a:prstGeom prst="rect">
            <a:avLst/>
          </a:prstGeom>
        </p:spPr>
        <p:txBody>
          <a:bodyPr wrap="square" lIns="0" tIns="0" rIns="0" bIns="0" rtlCol="0" anchor="t">
            <a:spAutoFit/>
          </a:bodyPr>
          <a:lstStyle/>
          <a:p>
            <a:pPr algn="l">
              <a:lnSpc>
                <a:spcPts val="7700"/>
              </a:lnSpc>
              <a:spcBef>
                <a:spcPct val="0"/>
              </a:spcBef>
            </a:pPr>
            <a:r>
              <a:rPr lang="en-US" sz="5500" dirty="0" err="1">
                <a:solidFill>
                  <a:srgbClr val="3B365F"/>
                </a:solidFill>
                <a:latin typeface="TAN Headline"/>
                <a:ea typeface="TAN Headline"/>
                <a:cs typeface="TAN Headline"/>
                <a:sym typeface="TAN Headline"/>
              </a:rPr>
              <a:t>Quem</a:t>
            </a:r>
            <a:r>
              <a:rPr lang="en-US" sz="5500" dirty="0">
                <a:solidFill>
                  <a:srgbClr val="3B365F"/>
                </a:solidFill>
                <a:latin typeface="TAN Headline"/>
                <a:ea typeface="TAN Headline"/>
                <a:cs typeface="TAN Headline"/>
                <a:sym typeface="TAN Headline"/>
              </a:rPr>
              <a:t> é o </a:t>
            </a:r>
            <a:r>
              <a:rPr lang="en-US" sz="5500" dirty="0" err="1">
                <a:solidFill>
                  <a:srgbClr val="3B365F"/>
                </a:solidFill>
                <a:latin typeface="TAN Headline"/>
                <a:ea typeface="TAN Headline"/>
                <a:cs typeface="TAN Headline"/>
                <a:sym typeface="TAN Headline"/>
              </a:rPr>
              <a:t>Voluntário</a:t>
            </a:r>
            <a:r>
              <a:rPr lang="en-US" sz="5500" dirty="0">
                <a:solidFill>
                  <a:srgbClr val="3B365F"/>
                </a:solidFill>
                <a:latin typeface="TAN Headline"/>
                <a:ea typeface="TAN Headline"/>
                <a:cs typeface="TAN Headline"/>
                <a:sym typeface="TAN Headline"/>
              </a:rPr>
              <a:t>?</a:t>
            </a:r>
          </a:p>
        </p:txBody>
      </p:sp>
      <p:sp>
        <p:nvSpPr>
          <p:cNvPr id="8" name="TextBox 8"/>
          <p:cNvSpPr txBox="1"/>
          <p:nvPr/>
        </p:nvSpPr>
        <p:spPr>
          <a:xfrm>
            <a:off x="1028700" y="4144899"/>
            <a:ext cx="15262900" cy="2179701"/>
          </a:xfrm>
          <a:prstGeom prst="rect">
            <a:avLst/>
          </a:prstGeom>
        </p:spPr>
        <p:txBody>
          <a:bodyPr lIns="0" tIns="0" rIns="0" bIns="0" rtlCol="0" anchor="t">
            <a:spAutoFit/>
          </a:bodyPr>
          <a:lstStyle/>
          <a:p>
            <a:pPr marL="0" lvl="0" indent="0" algn="l">
              <a:lnSpc>
                <a:spcPts val="4284"/>
              </a:lnSpc>
              <a:spcBef>
                <a:spcPct val="0"/>
              </a:spcBef>
            </a:pPr>
            <a:r>
              <a:rPr lang="en-US" sz="3060" dirty="0">
                <a:solidFill>
                  <a:srgbClr val="3B365F"/>
                </a:solidFill>
                <a:latin typeface="Coco Gothic"/>
                <a:ea typeface="Coco Gothic"/>
                <a:cs typeface="Coco Gothic"/>
                <a:sym typeface="Coco Gothic"/>
              </a:rPr>
              <a:t>Segundo</a:t>
            </a:r>
            <a:r>
              <a:rPr lang="en-US" sz="3060" u="none" strike="noStrike" dirty="0">
                <a:solidFill>
                  <a:srgbClr val="3B365F"/>
                </a:solidFill>
                <a:latin typeface="Coco Gothic"/>
                <a:ea typeface="Coco Gothic"/>
                <a:cs typeface="Coco Gothic"/>
                <a:sym typeface="Coco Gothic"/>
              </a:rPr>
              <a:t> o Centro de </a:t>
            </a:r>
            <a:r>
              <a:rPr lang="en-US" sz="3060" u="none" strike="noStrike" dirty="0" err="1">
                <a:solidFill>
                  <a:srgbClr val="3B365F"/>
                </a:solidFill>
                <a:latin typeface="Coco Gothic"/>
                <a:ea typeface="Coco Gothic"/>
                <a:cs typeface="Coco Gothic"/>
                <a:sym typeface="Coco Gothic"/>
              </a:rPr>
              <a:t>Voluntariado</a:t>
            </a:r>
            <a:r>
              <a:rPr lang="en-US" sz="3060" u="none" strike="noStrike" dirty="0">
                <a:solidFill>
                  <a:srgbClr val="3B365F"/>
                </a:solidFill>
                <a:latin typeface="Coco Gothic"/>
                <a:ea typeface="Coco Gothic"/>
                <a:cs typeface="Coco Gothic"/>
                <a:sym typeface="Coco Gothic"/>
              </a:rPr>
              <a:t> de São Paulo: </a:t>
            </a:r>
          </a:p>
          <a:p>
            <a:pPr marL="0" lvl="0" indent="0" algn="l">
              <a:lnSpc>
                <a:spcPts val="4284"/>
              </a:lnSpc>
              <a:spcBef>
                <a:spcPct val="0"/>
              </a:spcBef>
            </a:pPr>
            <a:r>
              <a:rPr lang="en-US" sz="3060" u="none" strike="noStrike" dirty="0">
                <a:solidFill>
                  <a:srgbClr val="3B365F"/>
                </a:solidFill>
                <a:latin typeface="Coco Gothic"/>
                <a:ea typeface="Coco Gothic"/>
                <a:cs typeface="Coco Gothic"/>
                <a:sym typeface="Coco Gothic"/>
              </a:rPr>
              <a:t>“Ser </a:t>
            </a:r>
            <a:r>
              <a:rPr lang="en-US" sz="3060" u="none" strike="noStrike" dirty="0" err="1">
                <a:solidFill>
                  <a:srgbClr val="3B365F"/>
                </a:solidFill>
                <a:latin typeface="Coco Gothic"/>
                <a:ea typeface="Coco Gothic"/>
                <a:cs typeface="Coco Gothic"/>
                <a:sym typeface="Coco Gothic"/>
              </a:rPr>
              <a:t>voluntário</a:t>
            </a:r>
            <a:r>
              <a:rPr lang="en-US" sz="3060" u="none" strike="noStrike" dirty="0">
                <a:solidFill>
                  <a:srgbClr val="3B365F"/>
                </a:solidFill>
                <a:latin typeface="Coco Gothic"/>
                <a:ea typeface="Coco Gothic"/>
                <a:cs typeface="Coco Gothic"/>
                <a:sym typeface="Coco Gothic"/>
              </a:rPr>
              <a:t> é </a:t>
            </a:r>
            <a:r>
              <a:rPr lang="en-US" sz="3060" u="none" strike="noStrike" dirty="0" err="1">
                <a:solidFill>
                  <a:srgbClr val="3B365F"/>
                </a:solidFill>
                <a:latin typeface="Coco Gothic"/>
                <a:ea typeface="Coco Gothic"/>
                <a:cs typeface="Coco Gothic"/>
                <a:sym typeface="Coco Gothic"/>
              </a:rPr>
              <a:t>doar</a:t>
            </a:r>
            <a:r>
              <a:rPr lang="en-US" sz="3060" u="none" strike="noStrike" dirty="0">
                <a:solidFill>
                  <a:srgbClr val="3B365F"/>
                </a:solidFill>
                <a:latin typeface="Coco Gothic"/>
                <a:ea typeface="Coco Gothic"/>
                <a:cs typeface="Coco Gothic"/>
                <a:sym typeface="Coco Gothic"/>
              </a:rPr>
              <a:t> </a:t>
            </a:r>
            <a:r>
              <a:rPr lang="en-US" sz="3060" u="none" strike="noStrike" dirty="0" err="1">
                <a:solidFill>
                  <a:srgbClr val="3B365F"/>
                </a:solidFill>
                <a:latin typeface="Coco Gothic"/>
                <a:ea typeface="Coco Gothic"/>
                <a:cs typeface="Coco Gothic"/>
                <a:sym typeface="Coco Gothic"/>
              </a:rPr>
              <a:t>seu</a:t>
            </a:r>
            <a:r>
              <a:rPr lang="en-US" sz="3060" u="none" strike="noStrike" dirty="0">
                <a:solidFill>
                  <a:srgbClr val="3B365F"/>
                </a:solidFill>
                <a:latin typeface="Coco Gothic"/>
                <a:ea typeface="Coco Gothic"/>
                <a:cs typeface="Coco Gothic"/>
                <a:sym typeface="Coco Gothic"/>
              </a:rPr>
              <a:t> tempo, </a:t>
            </a:r>
            <a:r>
              <a:rPr lang="en-US" sz="3060" u="none" strike="noStrike" dirty="0" err="1">
                <a:solidFill>
                  <a:srgbClr val="3B365F"/>
                </a:solidFill>
                <a:latin typeface="Coco Gothic"/>
                <a:ea typeface="Coco Gothic"/>
                <a:cs typeface="Coco Gothic"/>
                <a:sym typeface="Coco Gothic"/>
              </a:rPr>
              <a:t>trabalho</a:t>
            </a:r>
            <a:r>
              <a:rPr lang="en-US" sz="3060" u="none" strike="noStrike" dirty="0">
                <a:solidFill>
                  <a:srgbClr val="3B365F"/>
                </a:solidFill>
                <a:latin typeface="Coco Gothic"/>
                <a:ea typeface="Coco Gothic"/>
                <a:cs typeface="Coco Gothic"/>
                <a:sym typeface="Coco Gothic"/>
              </a:rPr>
              <a:t> e </a:t>
            </a:r>
            <a:r>
              <a:rPr lang="en-US" sz="3060" u="none" strike="noStrike" dirty="0" err="1">
                <a:solidFill>
                  <a:srgbClr val="3B365F"/>
                </a:solidFill>
                <a:latin typeface="Coco Gothic"/>
                <a:ea typeface="Coco Gothic"/>
                <a:cs typeface="Coco Gothic"/>
                <a:sym typeface="Coco Gothic"/>
              </a:rPr>
              <a:t>talento</a:t>
            </a:r>
            <a:r>
              <a:rPr lang="en-US" sz="3060" u="none" strike="noStrike" dirty="0">
                <a:solidFill>
                  <a:srgbClr val="3B365F"/>
                </a:solidFill>
                <a:latin typeface="Coco Gothic"/>
                <a:ea typeface="Coco Gothic"/>
                <a:cs typeface="Coco Gothic"/>
                <a:sym typeface="Coco Gothic"/>
              </a:rPr>
              <a:t> para </a:t>
            </a:r>
            <a:r>
              <a:rPr lang="en-US" sz="3060" u="none" strike="noStrike" dirty="0" err="1">
                <a:solidFill>
                  <a:srgbClr val="3B365F"/>
                </a:solidFill>
                <a:latin typeface="Coco Gothic"/>
                <a:ea typeface="Coco Gothic"/>
                <a:cs typeface="Coco Gothic"/>
                <a:sym typeface="Coco Gothic"/>
              </a:rPr>
              <a:t>causas</a:t>
            </a:r>
            <a:r>
              <a:rPr lang="en-US" sz="3060" u="none" strike="noStrike" dirty="0">
                <a:solidFill>
                  <a:srgbClr val="3B365F"/>
                </a:solidFill>
                <a:latin typeface="Coco Gothic"/>
                <a:ea typeface="Coco Gothic"/>
                <a:cs typeface="Coco Gothic"/>
                <a:sym typeface="Coco Gothic"/>
              </a:rPr>
              <a:t> de interesse social e </a:t>
            </a:r>
            <a:r>
              <a:rPr lang="en-US" sz="3060" u="none" strike="noStrike" dirty="0" err="1">
                <a:solidFill>
                  <a:srgbClr val="3B365F"/>
                </a:solidFill>
                <a:latin typeface="Coco Gothic"/>
                <a:ea typeface="Coco Gothic"/>
                <a:cs typeface="Coco Gothic"/>
                <a:sym typeface="Coco Gothic"/>
              </a:rPr>
              <a:t>comunitário</a:t>
            </a:r>
            <a:r>
              <a:rPr lang="en-US" sz="3060" u="none" strike="noStrike" dirty="0">
                <a:solidFill>
                  <a:srgbClr val="3B365F"/>
                </a:solidFill>
                <a:latin typeface="Coco Gothic"/>
                <a:ea typeface="Coco Gothic"/>
                <a:cs typeface="Coco Gothic"/>
                <a:sym typeface="Coco Gothic"/>
              </a:rPr>
              <a:t>, </a:t>
            </a:r>
            <a:r>
              <a:rPr lang="en-US" sz="3060" u="none" strike="noStrike" dirty="0" err="1">
                <a:solidFill>
                  <a:srgbClr val="3B365F"/>
                </a:solidFill>
                <a:latin typeface="Coco Gothic"/>
                <a:ea typeface="Coco Gothic"/>
                <a:cs typeface="Coco Gothic"/>
                <a:sym typeface="Coco Gothic"/>
              </a:rPr>
              <a:t>contribuindo</a:t>
            </a:r>
            <a:r>
              <a:rPr lang="en-US" sz="3060" u="none" strike="noStrike" dirty="0">
                <a:solidFill>
                  <a:srgbClr val="3B365F"/>
                </a:solidFill>
                <a:latin typeface="Coco Gothic"/>
                <a:ea typeface="Coco Gothic"/>
                <a:cs typeface="Coco Gothic"/>
                <a:sym typeface="Coco Gothic"/>
              </a:rPr>
              <a:t> para </a:t>
            </a:r>
            <a:r>
              <a:rPr lang="en-US" sz="3060" u="none" strike="noStrike" dirty="0" err="1">
                <a:solidFill>
                  <a:srgbClr val="3B365F"/>
                </a:solidFill>
                <a:latin typeface="Coco Gothic"/>
                <a:ea typeface="Coco Gothic"/>
                <a:cs typeface="Coco Gothic"/>
                <a:sym typeface="Coco Gothic"/>
              </a:rPr>
              <a:t>melhorar</a:t>
            </a:r>
            <a:r>
              <a:rPr lang="en-US" sz="3060" u="none" strike="noStrike" dirty="0">
                <a:solidFill>
                  <a:srgbClr val="3B365F"/>
                </a:solidFill>
                <a:latin typeface="Coco Gothic"/>
                <a:ea typeface="Coco Gothic"/>
                <a:cs typeface="Coco Gothic"/>
                <a:sym typeface="Coco Gothic"/>
              </a:rPr>
              <a:t> a </a:t>
            </a:r>
            <a:r>
              <a:rPr lang="en-US" sz="3060" u="none" strike="noStrike" dirty="0" err="1">
                <a:solidFill>
                  <a:srgbClr val="3B365F"/>
                </a:solidFill>
                <a:latin typeface="Coco Gothic"/>
                <a:ea typeface="Coco Gothic"/>
                <a:cs typeface="Coco Gothic"/>
                <a:sym typeface="Coco Gothic"/>
              </a:rPr>
              <a:t>qualidade</a:t>
            </a:r>
            <a:r>
              <a:rPr lang="en-US" sz="3060" u="none" strike="noStrike" dirty="0">
                <a:solidFill>
                  <a:srgbClr val="3B365F"/>
                </a:solidFill>
                <a:latin typeface="Coco Gothic"/>
                <a:ea typeface="Coco Gothic"/>
                <a:cs typeface="Coco Gothic"/>
                <a:sym typeface="Coco Gothic"/>
              </a:rPr>
              <a:t> de </a:t>
            </a:r>
            <a:r>
              <a:rPr lang="en-US" sz="3060" u="none" strike="noStrike" dirty="0" err="1">
                <a:solidFill>
                  <a:srgbClr val="3B365F"/>
                </a:solidFill>
                <a:latin typeface="Coco Gothic"/>
                <a:ea typeface="Coco Gothic"/>
                <a:cs typeface="Coco Gothic"/>
                <a:sym typeface="Coco Gothic"/>
              </a:rPr>
              <a:t>vida</a:t>
            </a:r>
            <a:r>
              <a:rPr lang="en-US" sz="3060" u="none" strike="noStrike" dirty="0">
                <a:solidFill>
                  <a:srgbClr val="3B365F"/>
                </a:solidFill>
                <a:latin typeface="Coco Gothic"/>
                <a:ea typeface="Coco Gothic"/>
                <a:cs typeface="Coco Gothic"/>
                <a:sym typeface="Coco Gothic"/>
              </a:rPr>
              <a:t> da </a:t>
            </a:r>
            <a:r>
              <a:rPr lang="en-US" sz="3060" u="none" strike="noStrike" dirty="0" err="1">
                <a:solidFill>
                  <a:srgbClr val="3B365F"/>
                </a:solidFill>
                <a:latin typeface="Coco Gothic"/>
                <a:ea typeface="Coco Gothic"/>
                <a:cs typeface="Coco Gothic"/>
                <a:sym typeface="Coco Gothic"/>
              </a:rPr>
              <a:t>comunidade</a:t>
            </a:r>
            <a:r>
              <a:rPr lang="en-US" sz="3060" u="none" strike="noStrike" dirty="0">
                <a:solidFill>
                  <a:srgbClr val="3B365F"/>
                </a:solidFill>
                <a:latin typeface="Coco Gothic"/>
                <a:ea typeface="Coco Gothic"/>
                <a:cs typeface="Coco Gothic"/>
                <a:sym typeface="Coco Gothic"/>
              </a:rPr>
              <a:t>”.</a:t>
            </a:r>
          </a:p>
          <a:p>
            <a:pPr marL="0" lvl="0" indent="0" algn="l">
              <a:lnSpc>
                <a:spcPts val="4284"/>
              </a:lnSpc>
              <a:spcBef>
                <a:spcPct val="0"/>
              </a:spcBef>
            </a:pPr>
            <a:endParaRPr lang="en-US" sz="3060" u="none" strike="noStrike" dirty="0">
              <a:solidFill>
                <a:srgbClr val="3B365F"/>
              </a:solidFill>
              <a:latin typeface="Coco Gothic"/>
              <a:ea typeface="Coco Gothic"/>
              <a:cs typeface="Coco Gothic"/>
              <a:sym typeface="Coco Gothic"/>
            </a:endParaRPr>
          </a:p>
        </p:txBody>
      </p:sp>
      <p:grpSp>
        <p:nvGrpSpPr>
          <p:cNvPr id="9" name="Group 9"/>
          <p:cNvGrpSpPr/>
          <p:nvPr/>
        </p:nvGrpSpPr>
        <p:grpSpPr>
          <a:xfrm>
            <a:off x="1028700" y="6324600"/>
            <a:ext cx="3745160" cy="3745160"/>
            <a:chOff x="0" y="0"/>
            <a:chExt cx="6350000" cy="6350000"/>
          </a:xfrm>
        </p:grpSpPr>
        <p:sp>
          <p:nvSpPr>
            <p:cNvPr id="10" name="Freeform 10"/>
            <p:cNvSpPr/>
            <p:nvPr/>
          </p:nvSpPr>
          <p:spPr>
            <a:xfrm>
              <a:off x="0" y="0"/>
              <a:ext cx="6350000" cy="6350000"/>
            </a:xfrm>
            <a:custGeom>
              <a:avLst/>
              <a:gdLst/>
              <a:ahLst/>
              <a:cxnLst/>
              <a:rect l="l" t="t" r="r" b="b"/>
              <a:pathLst>
                <a:path w="6350000" h="6350000">
                  <a:moveTo>
                    <a:pt x="5715000" y="6350000"/>
                  </a:moveTo>
                  <a:lnTo>
                    <a:pt x="635000" y="6350000"/>
                  </a:lnTo>
                  <a:cubicBezTo>
                    <a:pt x="284480" y="6350000"/>
                    <a:pt x="0" y="6065520"/>
                    <a:pt x="0" y="5715000"/>
                  </a:cubicBezTo>
                  <a:lnTo>
                    <a:pt x="0" y="635000"/>
                  </a:lnTo>
                  <a:cubicBezTo>
                    <a:pt x="0" y="284480"/>
                    <a:pt x="284480" y="0"/>
                    <a:pt x="635000" y="0"/>
                  </a:cubicBezTo>
                  <a:lnTo>
                    <a:pt x="5715000" y="0"/>
                  </a:lnTo>
                  <a:cubicBezTo>
                    <a:pt x="6065520" y="0"/>
                    <a:pt x="6350000" y="284480"/>
                    <a:pt x="6350000" y="635000"/>
                  </a:cubicBezTo>
                  <a:lnTo>
                    <a:pt x="6350000" y="5715000"/>
                  </a:lnTo>
                  <a:cubicBezTo>
                    <a:pt x="6350000" y="6065520"/>
                    <a:pt x="6065520" y="6350000"/>
                    <a:pt x="5715000" y="6350000"/>
                  </a:cubicBezTo>
                  <a:close/>
                </a:path>
              </a:pathLst>
            </a:custGeom>
            <a:blipFill>
              <a:blip r:embed="rId6"/>
              <a:stretch>
                <a:fillRect/>
              </a:stretch>
            </a:blipFill>
          </p:spPr>
        </p:sp>
      </p:grpSp>
      <p:grpSp>
        <p:nvGrpSpPr>
          <p:cNvPr id="11" name="Group 11"/>
          <p:cNvGrpSpPr/>
          <p:nvPr/>
        </p:nvGrpSpPr>
        <p:grpSpPr>
          <a:xfrm>
            <a:off x="5294065" y="6324600"/>
            <a:ext cx="3745160" cy="3745160"/>
            <a:chOff x="0" y="0"/>
            <a:chExt cx="6350000" cy="6350000"/>
          </a:xfrm>
        </p:grpSpPr>
        <p:sp>
          <p:nvSpPr>
            <p:cNvPr id="12" name="Freeform 12"/>
            <p:cNvSpPr/>
            <p:nvPr/>
          </p:nvSpPr>
          <p:spPr>
            <a:xfrm>
              <a:off x="0" y="0"/>
              <a:ext cx="6350000" cy="6350000"/>
            </a:xfrm>
            <a:custGeom>
              <a:avLst/>
              <a:gdLst/>
              <a:ahLst/>
              <a:cxnLst/>
              <a:rect l="l" t="t" r="r" b="b"/>
              <a:pathLst>
                <a:path w="6350000" h="6350000">
                  <a:moveTo>
                    <a:pt x="5715000" y="6350000"/>
                  </a:moveTo>
                  <a:lnTo>
                    <a:pt x="635000" y="6350000"/>
                  </a:lnTo>
                  <a:cubicBezTo>
                    <a:pt x="284480" y="6350000"/>
                    <a:pt x="0" y="6065520"/>
                    <a:pt x="0" y="5715000"/>
                  </a:cubicBezTo>
                  <a:lnTo>
                    <a:pt x="0" y="635000"/>
                  </a:lnTo>
                  <a:cubicBezTo>
                    <a:pt x="0" y="284480"/>
                    <a:pt x="284480" y="0"/>
                    <a:pt x="635000" y="0"/>
                  </a:cubicBezTo>
                  <a:lnTo>
                    <a:pt x="5715000" y="0"/>
                  </a:lnTo>
                  <a:cubicBezTo>
                    <a:pt x="6065520" y="0"/>
                    <a:pt x="6350000" y="284480"/>
                    <a:pt x="6350000" y="635000"/>
                  </a:cubicBezTo>
                  <a:lnTo>
                    <a:pt x="6350000" y="5715000"/>
                  </a:lnTo>
                  <a:cubicBezTo>
                    <a:pt x="6350000" y="6065520"/>
                    <a:pt x="6065520" y="6350000"/>
                    <a:pt x="5715000" y="6350000"/>
                  </a:cubicBezTo>
                  <a:close/>
                </a:path>
              </a:pathLst>
            </a:custGeom>
            <a:blipFill>
              <a:blip r:embed="rId7"/>
              <a:stretch>
                <a:fillRect l="-38996" r="-38996"/>
              </a:stretch>
            </a:blipFill>
          </p:spPr>
        </p:sp>
      </p:grpSp>
      <p:grpSp>
        <p:nvGrpSpPr>
          <p:cNvPr id="13" name="Group 13"/>
          <p:cNvGrpSpPr/>
          <p:nvPr/>
        </p:nvGrpSpPr>
        <p:grpSpPr>
          <a:xfrm>
            <a:off x="9574364" y="6324600"/>
            <a:ext cx="3745160" cy="3745160"/>
            <a:chOff x="0" y="0"/>
            <a:chExt cx="6350000" cy="6350000"/>
          </a:xfrm>
        </p:grpSpPr>
        <p:sp>
          <p:nvSpPr>
            <p:cNvPr id="14" name="Freeform 14"/>
            <p:cNvSpPr/>
            <p:nvPr/>
          </p:nvSpPr>
          <p:spPr>
            <a:xfrm>
              <a:off x="0" y="0"/>
              <a:ext cx="6350000" cy="6350000"/>
            </a:xfrm>
            <a:custGeom>
              <a:avLst/>
              <a:gdLst/>
              <a:ahLst/>
              <a:cxnLst/>
              <a:rect l="l" t="t" r="r" b="b"/>
              <a:pathLst>
                <a:path w="6350000" h="6350000">
                  <a:moveTo>
                    <a:pt x="5715000" y="6350000"/>
                  </a:moveTo>
                  <a:lnTo>
                    <a:pt x="635000" y="6350000"/>
                  </a:lnTo>
                  <a:cubicBezTo>
                    <a:pt x="284480" y="6350000"/>
                    <a:pt x="0" y="6065520"/>
                    <a:pt x="0" y="5715000"/>
                  </a:cubicBezTo>
                  <a:lnTo>
                    <a:pt x="0" y="635000"/>
                  </a:lnTo>
                  <a:cubicBezTo>
                    <a:pt x="0" y="284480"/>
                    <a:pt x="284480" y="0"/>
                    <a:pt x="635000" y="0"/>
                  </a:cubicBezTo>
                  <a:lnTo>
                    <a:pt x="5715000" y="0"/>
                  </a:lnTo>
                  <a:cubicBezTo>
                    <a:pt x="6065520" y="0"/>
                    <a:pt x="6350000" y="284480"/>
                    <a:pt x="6350000" y="635000"/>
                  </a:cubicBezTo>
                  <a:lnTo>
                    <a:pt x="6350000" y="5715000"/>
                  </a:lnTo>
                  <a:cubicBezTo>
                    <a:pt x="6350000" y="6065520"/>
                    <a:pt x="6065520" y="6350000"/>
                    <a:pt x="5715000" y="6350000"/>
                  </a:cubicBezTo>
                  <a:close/>
                </a:path>
              </a:pathLst>
            </a:custGeom>
            <a:blipFill>
              <a:blip r:embed="rId8"/>
              <a:stretch>
                <a:fillRect/>
              </a:stretch>
            </a:blipFill>
          </p:spPr>
        </p:sp>
      </p:grpSp>
      <p:grpSp>
        <p:nvGrpSpPr>
          <p:cNvPr id="15" name="Group 15"/>
          <p:cNvGrpSpPr/>
          <p:nvPr/>
        </p:nvGrpSpPr>
        <p:grpSpPr>
          <a:xfrm>
            <a:off x="13875274" y="6324600"/>
            <a:ext cx="3745160" cy="3745160"/>
            <a:chOff x="0" y="0"/>
            <a:chExt cx="6350000" cy="6350000"/>
          </a:xfrm>
        </p:grpSpPr>
        <p:sp>
          <p:nvSpPr>
            <p:cNvPr id="16" name="Freeform 16"/>
            <p:cNvSpPr/>
            <p:nvPr/>
          </p:nvSpPr>
          <p:spPr>
            <a:xfrm>
              <a:off x="0" y="0"/>
              <a:ext cx="6350000" cy="6350000"/>
            </a:xfrm>
            <a:custGeom>
              <a:avLst/>
              <a:gdLst/>
              <a:ahLst/>
              <a:cxnLst/>
              <a:rect l="l" t="t" r="r" b="b"/>
              <a:pathLst>
                <a:path w="6350000" h="6350000">
                  <a:moveTo>
                    <a:pt x="5715000" y="6350000"/>
                  </a:moveTo>
                  <a:lnTo>
                    <a:pt x="635000" y="6350000"/>
                  </a:lnTo>
                  <a:cubicBezTo>
                    <a:pt x="284480" y="6350000"/>
                    <a:pt x="0" y="6065520"/>
                    <a:pt x="0" y="5715000"/>
                  </a:cubicBezTo>
                  <a:lnTo>
                    <a:pt x="0" y="635000"/>
                  </a:lnTo>
                  <a:cubicBezTo>
                    <a:pt x="0" y="284480"/>
                    <a:pt x="284480" y="0"/>
                    <a:pt x="635000" y="0"/>
                  </a:cubicBezTo>
                  <a:lnTo>
                    <a:pt x="5715000" y="0"/>
                  </a:lnTo>
                  <a:cubicBezTo>
                    <a:pt x="6065520" y="0"/>
                    <a:pt x="6350000" y="284480"/>
                    <a:pt x="6350000" y="635000"/>
                  </a:cubicBezTo>
                  <a:lnTo>
                    <a:pt x="6350000" y="5715000"/>
                  </a:lnTo>
                  <a:cubicBezTo>
                    <a:pt x="6350000" y="6065520"/>
                    <a:pt x="6065520" y="6350000"/>
                    <a:pt x="5715000" y="6350000"/>
                  </a:cubicBezTo>
                  <a:close/>
                </a:path>
              </a:pathLst>
            </a:custGeom>
            <a:blipFill>
              <a:blip r:embed="rId9"/>
              <a:stretch>
                <a:fillRect t="-38996" b="-38996"/>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rot="-441338" flipH="1">
            <a:off x="8142845" y="-388851"/>
            <a:ext cx="9705096" cy="6091678"/>
          </a:xfrm>
          <a:custGeom>
            <a:avLst/>
            <a:gdLst/>
            <a:ahLst/>
            <a:cxnLst/>
            <a:rect l="l" t="t" r="r" b="b"/>
            <a:pathLst>
              <a:path w="12395216" h="7780208">
                <a:moveTo>
                  <a:pt x="12395216" y="0"/>
                </a:moveTo>
                <a:lnTo>
                  <a:pt x="0" y="0"/>
                </a:lnTo>
                <a:lnTo>
                  <a:pt x="0" y="7780208"/>
                </a:lnTo>
                <a:lnTo>
                  <a:pt x="12395216" y="7780208"/>
                </a:lnTo>
                <a:lnTo>
                  <a:pt x="1239521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441338" flipH="1">
            <a:off x="-177217" y="3565215"/>
            <a:ext cx="10334381" cy="6486667"/>
          </a:xfrm>
          <a:custGeom>
            <a:avLst/>
            <a:gdLst/>
            <a:ahLst/>
            <a:cxnLst/>
            <a:rect l="l" t="t" r="r" b="b"/>
            <a:pathLst>
              <a:path w="12395216" h="7780208">
                <a:moveTo>
                  <a:pt x="12395216" y="0"/>
                </a:moveTo>
                <a:lnTo>
                  <a:pt x="0" y="0"/>
                </a:lnTo>
                <a:lnTo>
                  <a:pt x="0" y="7780207"/>
                </a:lnTo>
                <a:lnTo>
                  <a:pt x="12395216" y="7780207"/>
                </a:lnTo>
                <a:lnTo>
                  <a:pt x="1239521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787050" y="530573"/>
            <a:ext cx="6816687" cy="4114800"/>
          </a:xfrm>
          <a:custGeom>
            <a:avLst/>
            <a:gdLst/>
            <a:ahLst/>
            <a:cxnLst/>
            <a:rect l="l" t="t" r="r" b="b"/>
            <a:pathLst>
              <a:path w="6816687" h="4114800">
                <a:moveTo>
                  <a:pt x="0" y="0"/>
                </a:moveTo>
                <a:lnTo>
                  <a:pt x="6816686" y="0"/>
                </a:lnTo>
                <a:lnTo>
                  <a:pt x="681668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1260975">
            <a:off x="9644047" y="1017524"/>
            <a:ext cx="2598678" cy="3270648"/>
          </a:xfrm>
          <a:custGeom>
            <a:avLst/>
            <a:gdLst/>
            <a:ahLst/>
            <a:cxnLst/>
            <a:rect l="l" t="t" r="r" b="b"/>
            <a:pathLst>
              <a:path w="2598678" h="3270648">
                <a:moveTo>
                  <a:pt x="0" y="0"/>
                </a:moveTo>
                <a:lnTo>
                  <a:pt x="2598678" y="0"/>
                </a:lnTo>
                <a:lnTo>
                  <a:pt x="2598678" y="3270647"/>
                </a:lnTo>
                <a:lnTo>
                  <a:pt x="0" y="32706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aphicFrame>
        <p:nvGraphicFramePr>
          <p:cNvPr id="7" name="Object 7"/>
          <p:cNvGraphicFramePr/>
          <p:nvPr/>
        </p:nvGraphicFramePr>
        <p:xfrm>
          <a:off x="10529879" y="5692706"/>
          <a:ext cx="7586157" cy="4274588"/>
        </p:xfrm>
        <a:graphic>
          <a:graphicData uri="http://schemas.openxmlformats.org/presentationml/2006/ole">
            <mc:AlternateContent xmlns:mc="http://schemas.openxmlformats.org/markup-compatibility/2006">
              <mc:Choice xmlns:v="urn:schemas-microsoft-com:vml" Requires="v">
                <p:oleObj name="Worksheet" r:id="rId8" imgW="9105900" imgH="5791200" progId="Excel.Sheet.12">
                  <p:embed/>
                </p:oleObj>
              </mc:Choice>
              <mc:Fallback>
                <p:oleObj name="Worksheet" r:id="rId8" imgW="9105900" imgH="5791200" progId="Excel.Sheet.12">
                  <p:embed/>
                  <p:pic>
                    <p:nvPicPr>
                      <p:cNvPr id="7" name="Object 7"/>
                      <p:cNvPicPr/>
                      <p:nvPr/>
                    </p:nvPicPr>
                    <p:blipFill>
                      <a:blip r:embed="rId9"/>
                      <a:stretch>
                        <a:fillRect/>
                      </a:stretch>
                    </p:blipFill>
                    <p:spPr>
                      <a:xfrm>
                        <a:off x="10529879" y="5692706"/>
                        <a:ext cx="7586157" cy="4274588"/>
                      </a:xfrm>
                      <a:prstGeom prst="rect">
                        <a:avLst/>
                      </a:prstGeom>
                    </p:spPr>
                  </p:pic>
                </p:oleObj>
              </mc:Fallback>
            </mc:AlternateContent>
          </a:graphicData>
        </a:graphic>
      </p:graphicFrame>
      <p:sp>
        <p:nvSpPr>
          <p:cNvPr id="8" name="TextBox 8"/>
          <p:cNvSpPr txBox="1"/>
          <p:nvPr/>
        </p:nvSpPr>
        <p:spPr>
          <a:xfrm>
            <a:off x="7823306" y="1111253"/>
            <a:ext cx="8836926" cy="1917699"/>
          </a:xfrm>
          <a:prstGeom prst="rect">
            <a:avLst/>
          </a:prstGeom>
        </p:spPr>
        <p:txBody>
          <a:bodyPr lIns="0" tIns="0" rIns="0" bIns="0" rtlCol="0" anchor="t">
            <a:spAutoFit/>
          </a:bodyPr>
          <a:lstStyle/>
          <a:p>
            <a:pPr algn="r">
              <a:lnSpc>
                <a:spcPts val="7700"/>
              </a:lnSpc>
            </a:pPr>
            <a:r>
              <a:rPr lang="en-US" sz="5500" dirty="0">
                <a:solidFill>
                  <a:srgbClr val="3B365F"/>
                </a:solidFill>
                <a:latin typeface="TAN Headline"/>
                <a:ea typeface="TAN Headline"/>
                <a:cs typeface="TAN Headline"/>
                <a:sym typeface="TAN Headline"/>
              </a:rPr>
              <a:t>O </a:t>
            </a:r>
            <a:r>
              <a:rPr lang="en-US" sz="5500" dirty="0" err="1">
                <a:solidFill>
                  <a:srgbClr val="3B365F"/>
                </a:solidFill>
                <a:latin typeface="TAN Headline"/>
                <a:ea typeface="TAN Headline"/>
                <a:cs typeface="TAN Headline"/>
                <a:sym typeface="TAN Headline"/>
              </a:rPr>
              <a:t>Problema</a:t>
            </a:r>
            <a:r>
              <a:rPr lang="en-US" sz="5500" dirty="0">
                <a:solidFill>
                  <a:srgbClr val="3B365F"/>
                </a:solidFill>
                <a:latin typeface="TAN Headline"/>
                <a:ea typeface="TAN Headline"/>
                <a:cs typeface="TAN Headline"/>
                <a:sym typeface="TAN Headline"/>
              </a:rPr>
              <a:t> </a:t>
            </a:r>
            <a:r>
              <a:rPr lang="en-US" sz="5500" dirty="0" err="1">
                <a:solidFill>
                  <a:srgbClr val="3B365F"/>
                </a:solidFill>
                <a:latin typeface="TAN Headline"/>
                <a:ea typeface="TAN Headline"/>
                <a:cs typeface="TAN Headline"/>
                <a:sym typeface="TAN Headline"/>
              </a:rPr>
              <a:t>Analisado</a:t>
            </a:r>
            <a:endParaRPr lang="en-US" sz="5500" dirty="0">
              <a:solidFill>
                <a:srgbClr val="3B365F"/>
              </a:solidFill>
              <a:latin typeface="TAN Headline"/>
              <a:ea typeface="TAN Headline"/>
              <a:cs typeface="TAN Headline"/>
              <a:sym typeface="TAN Headline"/>
            </a:endParaRPr>
          </a:p>
        </p:txBody>
      </p:sp>
      <p:sp>
        <p:nvSpPr>
          <p:cNvPr id="9" name="TextBox 9"/>
          <p:cNvSpPr txBox="1"/>
          <p:nvPr/>
        </p:nvSpPr>
        <p:spPr>
          <a:xfrm>
            <a:off x="386691" y="5491346"/>
            <a:ext cx="9104947" cy="2288921"/>
          </a:xfrm>
          <a:prstGeom prst="rect">
            <a:avLst/>
          </a:prstGeom>
        </p:spPr>
        <p:txBody>
          <a:bodyPr lIns="0" tIns="0" rIns="0" bIns="0" rtlCol="0" anchor="t">
            <a:spAutoFit/>
          </a:bodyPr>
          <a:lstStyle/>
          <a:p>
            <a:pPr algn="l">
              <a:lnSpc>
                <a:spcPts val="4563"/>
              </a:lnSpc>
            </a:pPr>
            <a:r>
              <a:rPr lang="en-US" sz="3259">
                <a:solidFill>
                  <a:srgbClr val="3B365F"/>
                </a:solidFill>
                <a:latin typeface="Coco Gothic"/>
                <a:ea typeface="Coco Gothic"/>
                <a:cs typeface="Coco Gothic"/>
                <a:sym typeface="Coco Gothic"/>
              </a:rPr>
              <a:t>Dificuldade em analisar e acompanhar os atendimentos/atividades do voluntariado hospitalar de forma organizada, integrada e estratégica.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Freeform 3"/>
          <p:cNvSpPr/>
          <p:nvPr/>
        </p:nvSpPr>
        <p:spPr>
          <a:xfrm>
            <a:off x="2080518" y="257139"/>
            <a:ext cx="14985706" cy="9772722"/>
          </a:xfrm>
          <a:custGeom>
            <a:avLst/>
            <a:gdLst/>
            <a:ahLst/>
            <a:cxnLst/>
            <a:rect l="l" t="t" r="r" b="b"/>
            <a:pathLst>
              <a:path w="14985706" h="9772722">
                <a:moveTo>
                  <a:pt x="0" y="0"/>
                </a:moveTo>
                <a:lnTo>
                  <a:pt x="14985706" y="0"/>
                </a:lnTo>
                <a:lnTo>
                  <a:pt x="14985706" y="9772722"/>
                </a:lnTo>
                <a:lnTo>
                  <a:pt x="0" y="9772722"/>
                </a:lnTo>
                <a:lnTo>
                  <a:pt x="0" y="0"/>
                </a:lnTo>
                <a:close/>
              </a:path>
            </a:pathLst>
          </a:custGeom>
          <a:blipFill>
            <a:blip r:embed="rId2"/>
            <a:stretch>
              <a:fillRect t="-1559" b="-735"/>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rot="-6262171">
            <a:off x="3492400" y="3970647"/>
            <a:ext cx="9743832" cy="10202966"/>
          </a:xfrm>
          <a:custGeom>
            <a:avLst/>
            <a:gdLst/>
            <a:ahLst/>
            <a:cxnLst/>
            <a:rect l="l" t="t" r="r" b="b"/>
            <a:pathLst>
              <a:path w="9743832" h="10202966">
                <a:moveTo>
                  <a:pt x="0" y="0"/>
                </a:moveTo>
                <a:lnTo>
                  <a:pt x="9743832" y="0"/>
                </a:lnTo>
                <a:lnTo>
                  <a:pt x="9743832" y="10202965"/>
                </a:lnTo>
                <a:lnTo>
                  <a:pt x="0" y="102029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441338" flipH="1">
            <a:off x="2577927" y="2244644"/>
            <a:ext cx="7090051" cy="4450271"/>
          </a:xfrm>
          <a:custGeom>
            <a:avLst/>
            <a:gdLst/>
            <a:ahLst/>
            <a:cxnLst/>
            <a:rect l="l" t="t" r="r" b="b"/>
            <a:pathLst>
              <a:path w="7090051" h="4450271">
                <a:moveTo>
                  <a:pt x="7090051" y="0"/>
                </a:moveTo>
                <a:lnTo>
                  <a:pt x="0" y="0"/>
                </a:lnTo>
                <a:lnTo>
                  <a:pt x="0" y="4450271"/>
                </a:lnTo>
                <a:lnTo>
                  <a:pt x="7090051" y="4450271"/>
                </a:lnTo>
                <a:lnTo>
                  <a:pt x="7090051"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2596515" y="4509135"/>
            <a:ext cx="558165" cy="1234440"/>
            <a:chOff x="0" y="0"/>
            <a:chExt cx="744220" cy="1645920"/>
          </a:xfrm>
        </p:grpSpPr>
        <p:sp>
          <p:nvSpPr>
            <p:cNvPr id="5" name="Freeform 5"/>
            <p:cNvSpPr/>
            <p:nvPr/>
          </p:nvSpPr>
          <p:spPr>
            <a:xfrm>
              <a:off x="48790" y="50564"/>
              <a:ext cx="644826" cy="1544747"/>
            </a:xfrm>
            <a:custGeom>
              <a:avLst/>
              <a:gdLst/>
              <a:ahLst/>
              <a:cxnLst/>
              <a:rect l="l" t="t" r="r" b="b"/>
              <a:pathLst>
                <a:path w="644826" h="1544747">
                  <a:moveTo>
                    <a:pt x="167110" y="65006"/>
                  </a:moveTo>
                  <a:cubicBezTo>
                    <a:pt x="281410" y="550146"/>
                    <a:pt x="322050" y="688576"/>
                    <a:pt x="357610" y="782556"/>
                  </a:cubicBezTo>
                  <a:cubicBezTo>
                    <a:pt x="381740" y="847326"/>
                    <a:pt x="410950" y="886696"/>
                    <a:pt x="431270" y="943846"/>
                  </a:cubicBezTo>
                  <a:cubicBezTo>
                    <a:pt x="452860" y="1007346"/>
                    <a:pt x="456670" y="1083546"/>
                    <a:pt x="478260" y="1147046"/>
                  </a:cubicBezTo>
                  <a:cubicBezTo>
                    <a:pt x="498580" y="1206736"/>
                    <a:pt x="525250" y="1268966"/>
                    <a:pt x="554460" y="1314686"/>
                  </a:cubicBezTo>
                  <a:cubicBezTo>
                    <a:pt x="578590" y="1351516"/>
                    <a:pt x="621770" y="1383266"/>
                    <a:pt x="634470" y="1406126"/>
                  </a:cubicBezTo>
                  <a:cubicBezTo>
                    <a:pt x="640820" y="1417556"/>
                    <a:pt x="643360" y="1423906"/>
                    <a:pt x="644630" y="1435336"/>
                  </a:cubicBezTo>
                  <a:cubicBezTo>
                    <a:pt x="645900" y="1450576"/>
                    <a:pt x="640820" y="1479786"/>
                    <a:pt x="634470" y="1495026"/>
                  </a:cubicBezTo>
                  <a:cubicBezTo>
                    <a:pt x="630660" y="1505186"/>
                    <a:pt x="625580" y="1511536"/>
                    <a:pt x="616690" y="1519156"/>
                  </a:cubicBezTo>
                  <a:cubicBezTo>
                    <a:pt x="603990" y="1529316"/>
                    <a:pt x="579860" y="1542016"/>
                    <a:pt x="560810" y="1544556"/>
                  </a:cubicBezTo>
                  <a:cubicBezTo>
                    <a:pt x="543030" y="1545826"/>
                    <a:pt x="518900" y="1540746"/>
                    <a:pt x="502390" y="1530586"/>
                  </a:cubicBezTo>
                  <a:cubicBezTo>
                    <a:pt x="485880" y="1521696"/>
                    <a:pt x="470640" y="1500106"/>
                    <a:pt x="463020" y="1484866"/>
                  </a:cubicBezTo>
                  <a:cubicBezTo>
                    <a:pt x="457940" y="1474706"/>
                    <a:pt x="456670" y="1467086"/>
                    <a:pt x="456670" y="1455656"/>
                  </a:cubicBezTo>
                  <a:cubicBezTo>
                    <a:pt x="457940" y="1439146"/>
                    <a:pt x="461750" y="1412476"/>
                    <a:pt x="473180" y="1397236"/>
                  </a:cubicBezTo>
                  <a:cubicBezTo>
                    <a:pt x="483340" y="1380726"/>
                    <a:pt x="506200" y="1366756"/>
                    <a:pt x="521440" y="1360406"/>
                  </a:cubicBezTo>
                  <a:cubicBezTo>
                    <a:pt x="531600" y="1356596"/>
                    <a:pt x="541760" y="1355326"/>
                    <a:pt x="551920" y="1355326"/>
                  </a:cubicBezTo>
                  <a:cubicBezTo>
                    <a:pt x="560810" y="1355326"/>
                    <a:pt x="570970" y="1356596"/>
                    <a:pt x="581130" y="1360406"/>
                  </a:cubicBezTo>
                  <a:cubicBezTo>
                    <a:pt x="596370" y="1366756"/>
                    <a:pt x="619230" y="1384536"/>
                    <a:pt x="629390" y="1397236"/>
                  </a:cubicBezTo>
                  <a:cubicBezTo>
                    <a:pt x="637010" y="1406126"/>
                    <a:pt x="639550" y="1413746"/>
                    <a:pt x="642090" y="1425176"/>
                  </a:cubicBezTo>
                  <a:cubicBezTo>
                    <a:pt x="645900" y="1440416"/>
                    <a:pt x="645900" y="1467086"/>
                    <a:pt x="639550" y="1484866"/>
                  </a:cubicBezTo>
                  <a:cubicBezTo>
                    <a:pt x="631930" y="1502646"/>
                    <a:pt x="612880" y="1521696"/>
                    <a:pt x="600180" y="1530586"/>
                  </a:cubicBezTo>
                  <a:cubicBezTo>
                    <a:pt x="590020" y="1538206"/>
                    <a:pt x="582400" y="1540746"/>
                    <a:pt x="570970" y="1542016"/>
                  </a:cubicBezTo>
                  <a:cubicBezTo>
                    <a:pt x="555730" y="1544556"/>
                    <a:pt x="532870" y="1547096"/>
                    <a:pt x="511280" y="1535666"/>
                  </a:cubicBezTo>
                  <a:cubicBezTo>
                    <a:pt x="469370" y="1514076"/>
                    <a:pt x="402060" y="1417556"/>
                    <a:pt x="369040" y="1364216"/>
                  </a:cubicBezTo>
                  <a:cubicBezTo>
                    <a:pt x="344910" y="1326116"/>
                    <a:pt x="337290" y="1299446"/>
                    <a:pt x="320780" y="1253726"/>
                  </a:cubicBezTo>
                  <a:cubicBezTo>
                    <a:pt x="295380" y="1181336"/>
                    <a:pt x="272520" y="1067036"/>
                    <a:pt x="240770" y="966706"/>
                  </a:cubicBezTo>
                  <a:cubicBezTo>
                    <a:pt x="206480" y="854946"/>
                    <a:pt x="149330" y="717786"/>
                    <a:pt x="118850" y="612376"/>
                  </a:cubicBezTo>
                  <a:cubicBezTo>
                    <a:pt x="93450" y="529826"/>
                    <a:pt x="79480" y="468866"/>
                    <a:pt x="61700" y="386316"/>
                  </a:cubicBezTo>
                  <a:cubicBezTo>
                    <a:pt x="40110" y="288526"/>
                    <a:pt x="-10690" y="120886"/>
                    <a:pt x="2010" y="62466"/>
                  </a:cubicBezTo>
                  <a:cubicBezTo>
                    <a:pt x="8360" y="37066"/>
                    <a:pt x="21060" y="24366"/>
                    <a:pt x="37570" y="12936"/>
                  </a:cubicBezTo>
                  <a:cubicBezTo>
                    <a:pt x="52810" y="2776"/>
                    <a:pt x="78210" y="-1034"/>
                    <a:pt x="95990" y="236"/>
                  </a:cubicBezTo>
                  <a:cubicBezTo>
                    <a:pt x="109960" y="1506"/>
                    <a:pt x="122660" y="5316"/>
                    <a:pt x="134090" y="15476"/>
                  </a:cubicBezTo>
                  <a:cubicBezTo>
                    <a:pt x="146790" y="25636"/>
                    <a:pt x="167110" y="65006"/>
                    <a:pt x="167110" y="65006"/>
                  </a:cubicBezTo>
                </a:path>
              </a:pathLst>
            </a:custGeom>
            <a:solidFill>
              <a:srgbClr val="94AAB8"/>
            </a:solidFill>
            <a:ln cap="sq">
              <a:noFill/>
              <a:prstDash val="solid"/>
              <a:miter/>
            </a:ln>
          </p:spPr>
        </p:sp>
      </p:grpSp>
      <p:grpSp>
        <p:nvGrpSpPr>
          <p:cNvPr id="6" name="Group 6"/>
          <p:cNvGrpSpPr/>
          <p:nvPr/>
        </p:nvGrpSpPr>
        <p:grpSpPr>
          <a:xfrm>
            <a:off x="3106102" y="5699760"/>
            <a:ext cx="194310" cy="197167"/>
            <a:chOff x="0" y="0"/>
            <a:chExt cx="259080" cy="262890"/>
          </a:xfrm>
        </p:grpSpPr>
        <p:sp>
          <p:nvSpPr>
            <p:cNvPr id="7" name="Freeform 7"/>
            <p:cNvSpPr/>
            <p:nvPr/>
          </p:nvSpPr>
          <p:spPr>
            <a:xfrm>
              <a:off x="46003" y="49802"/>
              <a:ext cx="158467" cy="163241"/>
            </a:xfrm>
            <a:custGeom>
              <a:avLst/>
              <a:gdLst/>
              <a:ahLst/>
              <a:cxnLst/>
              <a:rect l="l" t="t" r="r" b="b"/>
              <a:pathLst>
                <a:path w="158467" h="163241">
                  <a:moveTo>
                    <a:pt x="158467" y="55608"/>
                  </a:moveTo>
                  <a:cubicBezTo>
                    <a:pt x="154657" y="114028"/>
                    <a:pt x="130527" y="144508"/>
                    <a:pt x="112747" y="154668"/>
                  </a:cubicBezTo>
                  <a:cubicBezTo>
                    <a:pt x="101317" y="162288"/>
                    <a:pt x="88617" y="164828"/>
                    <a:pt x="74647" y="162288"/>
                  </a:cubicBezTo>
                  <a:cubicBezTo>
                    <a:pt x="54327" y="158478"/>
                    <a:pt x="20037" y="141968"/>
                    <a:pt x="8607" y="122918"/>
                  </a:cubicBezTo>
                  <a:cubicBezTo>
                    <a:pt x="-2823" y="102598"/>
                    <a:pt x="-1553" y="64498"/>
                    <a:pt x="4797" y="45448"/>
                  </a:cubicBezTo>
                  <a:cubicBezTo>
                    <a:pt x="8607" y="31478"/>
                    <a:pt x="16227" y="22588"/>
                    <a:pt x="28927" y="14968"/>
                  </a:cubicBezTo>
                  <a:cubicBezTo>
                    <a:pt x="45437" y="4808"/>
                    <a:pt x="84807" y="-2812"/>
                    <a:pt x="103857" y="998"/>
                  </a:cubicBezTo>
                  <a:cubicBezTo>
                    <a:pt x="117827" y="3538"/>
                    <a:pt x="138147" y="21318"/>
                    <a:pt x="138147" y="21318"/>
                  </a:cubicBezTo>
                </a:path>
              </a:pathLst>
            </a:custGeom>
            <a:solidFill>
              <a:srgbClr val="94AAB8"/>
            </a:solidFill>
            <a:ln cap="sq">
              <a:noFill/>
              <a:prstDash val="solid"/>
              <a:miter/>
            </a:ln>
          </p:spPr>
        </p:sp>
      </p:grpSp>
      <p:grpSp>
        <p:nvGrpSpPr>
          <p:cNvPr id="8" name="Group 8"/>
          <p:cNvGrpSpPr/>
          <p:nvPr/>
        </p:nvGrpSpPr>
        <p:grpSpPr>
          <a:xfrm>
            <a:off x="8724900" y="3016567"/>
            <a:ext cx="644843" cy="566738"/>
            <a:chOff x="0" y="0"/>
            <a:chExt cx="859790" cy="755650"/>
          </a:xfrm>
        </p:grpSpPr>
        <p:sp>
          <p:nvSpPr>
            <p:cNvPr id="9" name="Freeform 9"/>
            <p:cNvSpPr/>
            <p:nvPr/>
          </p:nvSpPr>
          <p:spPr>
            <a:xfrm>
              <a:off x="50800" y="49378"/>
              <a:ext cx="758190" cy="654491"/>
            </a:xfrm>
            <a:custGeom>
              <a:avLst/>
              <a:gdLst/>
              <a:ahLst/>
              <a:cxnLst/>
              <a:rect l="l" t="t" r="r" b="b"/>
              <a:pathLst>
                <a:path w="758190" h="654491">
                  <a:moveTo>
                    <a:pt x="123190" y="6502"/>
                  </a:moveTo>
                  <a:cubicBezTo>
                    <a:pt x="515620" y="282092"/>
                    <a:pt x="695960" y="439572"/>
                    <a:pt x="739140" y="504342"/>
                  </a:cubicBezTo>
                  <a:cubicBezTo>
                    <a:pt x="754380" y="527202"/>
                    <a:pt x="758190" y="541172"/>
                    <a:pt x="758190" y="560222"/>
                  </a:cubicBezTo>
                  <a:cubicBezTo>
                    <a:pt x="758190" y="579272"/>
                    <a:pt x="751840" y="600862"/>
                    <a:pt x="740410" y="616102"/>
                  </a:cubicBezTo>
                  <a:cubicBezTo>
                    <a:pt x="728980" y="631342"/>
                    <a:pt x="709930" y="645312"/>
                    <a:pt x="692150" y="650392"/>
                  </a:cubicBezTo>
                  <a:cubicBezTo>
                    <a:pt x="673100" y="655472"/>
                    <a:pt x="650240" y="654202"/>
                    <a:pt x="632460" y="647852"/>
                  </a:cubicBezTo>
                  <a:cubicBezTo>
                    <a:pt x="614680" y="641502"/>
                    <a:pt x="596900" y="622452"/>
                    <a:pt x="586740" y="609752"/>
                  </a:cubicBezTo>
                  <a:cubicBezTo>
                    <a:pt x="580390" y="600862"/>
                    <a:pt x="576580" y="593242"/>
                    <a:pt x="575310" y="581812"/>
                  </a:cubicBezTo>
                  <a:cubicBezTo>
                    <a:pt x="572770" y="566572"/>
                    <a:pt x="575310" y="538632"/>
                    <a:pt x="581660" y="523392"/>
                  </a:cubicBezTo>
                  <a:cubicBezTo>
                    <a:pt x="585470" y="513232"/>
                    <a:pt x="589280" y="505612"/>
                    <a:pt x="598170" y="497992"/>
                  </a:cubicBezTo>
                  <a:cubicBezTo>
                    <a:pt x="609600" y="487832"/>
                    <a:pt x="631190" y="472592"/>
                    <a:pt x="648970" y="470052"/>
                  </a:cubicBezTo>
                  <a:cubicBezTo>
                    <a:pt x="668020" y="466242"/>
                    <a:pt x="693420" y="472592"/>
                    <a:pt x="708660" y="478942"/>
                  </a:cubicBezTo>
                  <a:cubicBezTo>
                    <a:pt x="718820" y="482752"/>
                    <a:pt x="725170" y="489102"/>
                    <a:pt x="732790" y="496722"/>
                  </a:cubicBezTo>
                  <a:cubicBezTo>
                    <a:pt x="739140" y="503072"/>
                    <a:pt x="745490" y="510692"/>
                    <a:pt x="749300" y="520852"/>
                  </a:cubicBezTo>
                  <a:cubicBezTo>
                    <a:pt x="754380" y="536092"/>
                    <a:pt x="760730" y="561492"/>
                    <a:pt x="756920" y="580542"/>
                  </a:cubicBezTo>
                  <a:cubicBezTo>
                    <a:pt x="753110" y="598322"/>
                    <a:pt x="740410" y="618642"/>
                    <a:pt x="726440" y="631342"/>
                  </a:cubicBezTo>
                  <a:cubicBezTo>
                    <a:pt x="712470" y="642772"/>
                    <a:pt x="690880" y="652932"/>
                    <a:pt x="671830" y="654202"/>
                  </a:cubicBezTo>
                  <a:cubicBezTo>
                    <a:pt x="652780" y="655472"/>
                    <a:pt x="638810" y="652932"/>
                    <a:pt x="614680" y="638962"/>
                  </a:cubicBezTo>
                  <a:cubicBezTo>
                    <a:pt x="543560" y="598322"/>
                    <a:pt x="378460" y="386232"/>
                    <a:pt x="266700" y="296062"/>
                  </a:cubicBezTo>
                  <a:cubicBezTo>
                    <a:pt x="180340" y="226212"/>
                    <a:pt x="49530" y="179222"/>
                    <a:pt x="16510" y="132232"/>
                  </a:cubicBezTo>
                  <a:cubicBezTo>
                    <a:pt x="1270" y="111912"/>
                    <a:pt x="0" y="91592"/>
                    <a:pt x="0" y="73812"/>
                  </a:cubicBezTo>
                  <a:cubicBezTo>
                    <a:pt x="1270" y="59842"/>
                    <a:pt x="5080" y="47142"/>
                    <a:pt x="13970" y="35712"/>
                  </a:cubicBezTo>
                  <a:cubicBezTo>
                    <a:pt x="24130" y="21742"/>
                    <a:pt x="44450" y="5232"/>
                    <a:pt x="63500" y="1422"/>
                  </a:cubicBezTo>
                  <a:cubicBezTo>
                    <a:pt x="81280" y="-3658"/>
                    <a:pt x="123190" y="6502"/>
                    <a:pt x="123190" y="6502"/>
                  </a:cubicBezTo>
                </a:path>
              </a:pathLst>
            </a:custGeom>
            <a:solidFill>
              <a:srgbClr val="94AAB8"/>
            </a:solidFill>
            <a:ln cap="sq">
              <a:noFill/>
              <a:prstDash val="solid"/>
              <a:miter/>
            </a:ln>
          </p:spPr>
        </p:sp>
      </p:grpSp>
      <p:grpSp>
        <p:nvGrpSpPr>
          <p:cNvPr id="10" name="Group 10"/>
          <p:cNvGrpSpPr/>
          <p:nvPr/>
        </p:nvGrpSpPr>
        <p:grpSpPr>
          <a:xfrm>
            <a:off x="10100310" y="5636895"/>
            <a:ext cx="739140" cy="760095"/>
            <a:chOff x="0" y="0"/>
            <a:chExt cx="985520" cy="1013460"/>
          </a:xfrm>
        </p:grpSpPr>
        <p:sp>
          <p:nvSpPr>
            <p:cNvPr id="11" name="Freeform 11"/>
            <p:cNvSpPr/>
            <p:nvPr/>
          </p:nvSpPr>
          <p:spPr>
            <a:xfrm>
              <a:off x="49866" y="46185"/>
              <a:ext cx="885078" cy="917946"/>
            </a:xfrm>
            <a:custGeom>
              <a:avLst/>
              <a:gdLst/>
              <a:ahLst/>
              <a:cxnLst/>
              <a:rect l="l" t="t" r="r" b="b"/>
              <a:pathLst>
                <a:path w="885078" h="917946">
                  <a:moveTo>
                    <a:pt x="160954" y="46525"/>
                  </a:moveTo>
                  <a:cubicBezTo>
                    <a:pt x="224454" y="158285"/>
                    <a:pt x="313354" y="282745"/>
                    <a:pt x="393364" y="370375"/>
                  </a:cubicBezTo>
                  <a:cubicBezTo>
                    <a:pt x="482264" y="466895"/>
                    <a:pt x="618154" y="586275"/>
                    <a:pt x="703244" y="652315"/>
                  </a:cubicBezTo>
                  <a:cubicBezTo>
                    <a:pt x="755314" y="694225"/>
                    <a:pt x="807384" y="717085"/>
                    <a:pt x="837864" y="743755"/>
                  </a:cubicBezTo>
                  <a:cubicBezTo>
                    <a:pt x="855644" y="760265"/>
                    <a:pt x="869614" y="774235"/>
                    <a:pt x="877234" y="788205"/>
                  </a:cubicBezTo>
                  <a:cubicBezTo>
                    <a:pt x="882314" y="798365"/>
                    <a:pt x="884854" y="805985"/>
                    <a:pt x="884854" y="817415"/>
                  </a:cubicBezTo>
                  <a:cubicBezTo>
                    <a:pt x="884854" y="832655"/>
                    <a:pt x="881044" y="858055"/>
                    <a:pt x="870884" y="874565"/>
                  </a:cubicBezTo>
                  <a:cubicBezTo>
                    <a:pt x="860724" y="889805"/>
                    <a:pt x="842944" y="905045"/>
                    <a:pt x="825164" y="911395"/>
                  </a:cubicBezTo>
                  <a:cubicBezTo>
                    <a:pt x="807384" y="917745"/>
                    <a:pt x="781984" y="916475"/>
                    <a:pt x="765474" y="913935"/>
                  </a:cubicBezTo>
                  <a:cubicBezTo>
                    <a:pt x="755314" y="911395"/>
                    <a:pt x="747694" y="907585"/>
                    <a:pt x="738804" y="899965"/>
                  </a:cubicBezTo>
                  <a:cubicBezTo>
                    <a:pt x="727374" y="889805"/>
                    <a:pt x="709594" y="870755"/>
                    <a:pt x="704514" y="852975"/>
                  </a:cubicBezTo>
                  <a:cubicBezTo>
                    <a:pt x="698164" y="835195"/>
                    <a:pt x="699434" y="811065"/>
                    <a:pt x="705784" y="793285"/>
                  </a:cubicBezTo>
                  <a:cubicBezTo>
                    <a:pt x="712134" y="775505"/>
                    <a:pt x="729914" y="756455"/>
                    <a:pt x="742614" y="747565"/>
                  </a:cubicBezTo>
                  <a:cubicBezTo>
                    <a:pt x="751504" y="739945"/>
                    <a:pt x="760394" y="737405"/>
                    <a:pt x="770554" y="734865"/>
                  </a:cubicBezTo>
                  <a:cubicBezTo>
                    <a:pt x="779444" y="732325"/>
                    <a:pt x="788334" y="731055"/>
                    <a:pt x="799764" y="732325"/>
                  </a:cubicBezTo>
                  <a:cubicBezTo>
                    <a:pt x="815004" y="734865"/>
                    <a:pt x="840404" y="743755"/>
                    <a:pt x="854374" y="755185"/>
                  </a:cubicBezTo>
                  <a:cubicBezTo>
                    <a:pt x="868344" y="767885"/>
                    <a:pt x="879774" y="788205"/>
                    <a:pt x="883584" y="807255"/>
                  </a:cubicBezTo>
                  <a:cubicBezTo>
                    <a:pt x="887394" y="825035"/>
                    <a:pt x="883584" y="849165"/>
                    <a:pt x="875964" y="865675"/>
                  </a:cubicBezTo>
                  <a:cubicBezTo>
                    <a:pt x="867074" y="882185"/>
                    <a:pt x="850564" y="898695"/>
                    <a:pt x="834054" y="907585"/>
                  </a:cubicBezTo>
                  <a:cubicBezTo>
                    <a:pt x="817544" y="916475"/>
                    <a:pt x="798494" y="920285"/>
                    <a:pt x="775634" y="916475"/>
                  </a:cubicBezTo>
                  <a:cubicBezTo>
                    <a:pt x="740074" y="908855"/>
                    <a:pt x="690544" y="874565"/>
                    <a:pt x="649904" y="845355"/>
                  </a:cubicBezTo>
                  <a:cubicBezTo>
                    <a:pt x="600374" y="809795"/>
                    <a:pt x="541954" y="753915"/>
                    <a:pt x="505124" y="713275"/>
                  </a:cubicBezTo>
                  <a:cubicBezTo>
                    <a:pt x="478454" y="682795"/>
                    <a:pt x="470834" y="654855"/>
                    <a:pt x="442894" y="626915"/>
                  </a:cubicBezTo>
                  <a:cubicBezTo>
                    <a:pt x="407334" y="590085"/>
                    <a:pt x="343834" y="563415"/>
                    <a:pt x="298114" y="520235"/>
                  </a:cubicBezTo>
                  <a:cubicBezTo>
                    <a:pt x="246044" y="471975"/>
                    <a:pt x="197784" y="403395"/>
                    <a:pt x="153334" y="344975"/>
                  </a:cubicBezTo>
                  <a:cubicBezTo>
                    <a:pt x="110154" y="289095"/>
                    <a:pt x="61894" y="224325"/>
                    <a:pt x="35224" y="178605"/>
                  </a:cubicBezTo>
                  <a:cubicBezTo>
                    <a:pt x="18714" y="149395"/>
                    <a:pt x="4744" y="126535"/>
                    <a:pt x="934" y="102405"/>
                  </a:cubicBezTo>
                  <a:cubicBezTo>
                    <a:pt x="-1606" y="82085"/>
                    <a:pt x="934" y="59225"/>
                    <a:pt x="9824" y="42715"/>
                  </a:cubicBezTo>
                  <a:cubicBezTo>
                    <a:pt x="18714" y="26205"/>
                    <a:pt x="37764" y="10965"/>
                    <a:pt x="55544" y="4615"/>
                  </a:cubicBezTo>
                  <a:cubicBezTo>
                    <a:pt x="73324" y="-1735"/>
                    <a:pt x="98724" y="-1735"/>
                    <a:pt x="116504" y="5885"/>
                  </a:cubicBezTo>
                  <a:cubicBezTo>
                    <a:pt x="133014" y="12235"/>
                    <a:pt x="160954" y="46525"/>
                    <a:pt x="160954" y="46525"/>
                  </a:cubicBezTo>
                </a:path>
              </a:pathLst>
            </a:custGeom>
            <a:solidFill>
              <a:srgbClr val="94AAB8"/>
            </a:solidFill>
            <a:ln cap="sq">
              <a:noFill/>
              <a:prstDash val="solid"/>
              <a:miter/>
            </a:ln>
          </p:spPr>
        </p:sp>
      </p:grpSp>
      <p:grpSp>
        <p:nvGrpSpPr>
          <p:cNvPr id="12" name="Group 12"/>
          <p:cNvGrpSpPr/>
          <p:nvPr/>
        </p:nvGrpSpPr>
        <p:grpSpPr>
          <a:xfrm>
            <a:off x="13448348" y="2546033"/>
            <a:ext cx="1091565" cy="437197"/>
            <a:chOff x="0" y="0"/>
            <a:chExt cx="1455420" cy="582930"/>
          </a:xfrm>
        </p:grpSpPr>
        <p:sp>
          <p:nvSpPr>
            <p:cNvPr id="13" name="Freeform 13"/>
            <p:cNvSpPr/>
            <p:nvPr/>
          </p:nvSpPr>
          <p:spPr>
            <a:xfrm>
              <a:off x="50146" y="44316"/>
              <a:ext cx="1355479" cy="488314"/>
            </a:xfrm>
            <a:custGeom>
              <a:avLst/>
              <a:gdLst/>
              <a:ahLst/>
              <a:cxnLst/>
              <a:rect l="l" t="t" r="r" b="b"/>
              <a:pathLst>
                <a:path w="1355479" h="488314">
                  <a:moveTo>
                    <a:pt x="1283354" y="170314"/>
                  </a:moveTo>
                  <a:cubicBezTo>
                    <a:pt x="747414" y="241434"/>
                    <a:pt x="508654" y="327794"/>
                    <a:pt x="361334" y="381134"/>
                  </a:cubicBezTo>
                  <a:cubicBezTo>
                    <a:pt x="259734" y="419234"/>
                    <a:pt x="153054" y="477654"/>
                    <a:pt x="108604" y="486544"/>
                  </a:cubicBezTo>
                  <a:cubicBezTo>
                    <a:pt x="93364" y="489084"/>
                    <a:pt x="88284" y="489084"/>
                    <a:pt x="78124" y="485274"/>
                  </a:cubicBezTo>
                  <a:cubicBezTo>
                    <a:pt x="61614" y="481464"/>
                    <a:pt x="37484" y="470034"/>
                    <a:pt x="24784" y="454794"/>
                  </a:cubicBezTo>
                  <a:cubicBezTo>
                    <a:pt x="12084" y="440824"/>
                    <a:pt x="1924" y="417964"/>
                    <a:pt x="654" y="398914"/>
                  </a:cubicBezTo>
                  <a:cubicBezTo>
                    <a:pt x="-616" y="379864"/>
                    <a:pt x="4464" y="355734"/>
                    <a:pt x="15894" y="340494"/>
                  </a:cubicBezTo>
                  <a:cubicBezTo>
                    <a:pt x="26054" y="323984"/>
                    <a:pt x="47644" y="308744"/>
                    <a:pt x="62884" y="302394"/>
                  </a:cubicBezTo>
                  <a:cubicBezTo>
                    <a:pt x="73044" y="297314"/>
                    <a:pt x="81934" y="296044"/>
                    <a:pt x="93364" y="296044"/>
                  </a:cubicBezTo>
                  <a:cubicBezTo>
                    <a:pt x="109874" y="297314"/>
                    <a:pt x="137814" y="306204"/>
                    <a:pt x="151784" y="313824"/>
                  </a:cubicBezTo>
                  <a:cubicBezTo>
                    <a:pt x="161944" y="320174"/>
                    <a:pt x="167024" y="326524"/>
                    <a:pt x="173374" y="336684"/>
                  </a:cubicBezTo>
                  <a:cubicBezTo>
                    <a:pt x="182264" y="350654"/>
                    <a:pt x="189884" y="378594"/>
                    <a:pt x="191154" y="395104"/>
                  </a:cubicBezTo>
                  <a:cubicBezTo>
                    <a:pt x="191154" y="406534"/>
                    <a:pt x="189884" y="414154"/>
                    <a:pt x="184804" y="424314"/>
                  </a:cubicBezTo>
                  <a:cubicBezTo>
                    <a:pt x="178454" y="439554"/>
                    <a:pt x="163214" y="462414"/>
                    <a:pt x="146704" y="472574"/>
                  </a:cubicBezTo>
                  <a:cubicBezTo>
                    <a:pt x="130194" y="482734"/>
                    <a:pt x="103524" y="486544"/>
                    <a:pt x="88284" y="486544"/>
                  </a:cubicBezTo>
                  <a:cubicBezTo>
                    <a:pt x="75584" y="486544"/>
                    <a:pt x="67964" y="485274"/>
                    <a:pt x="57804" y="478924"/>
                  </a:cubicBezTo>
                  <a:cubicBezTo>
                    <a:pt x="43834" y="471304"/>
                    <a:pt x="22244" y="454794"/>
                    <a:pt x="12084" y="438284"/>
                  </a:cubicBezTo>
                  <a:cubicBezTo>
                    <a:pt x="3194" y="421774"/>
                    <a:pt x="-1886" y="397644"/>
                    <a:pt x="654" y="378594"/>
                  </a:cubicBezTo>
                  <a:cubicBezTo>
                    <a:pt x="3194" y="359544"/>
                    <a:pt x="17164" y="336684"/>
                    <a:pt x="28594" y="323984"/>
                  </a:cubicBezTo>
                  <a:cubicBezTo>
                    <a:pt x="36214" y="315094"/>
                    <a:pt x="40024" y="312554"/>
                    <a:pt x="53994" y="306204"/>
                  </a:cubicBezTo>
                  <a:cubicBezTo>
                    <a:pt x="87014" y="288424"/>
                    <a:pt x="194964" y="260484"/>
                    <a:pt x="249574" y="237624"/>
                  </a:cubicBezTo>
                  <a:cubicBezTo>
                    <a:pt x="290214" y="219844"/>
                    <a:pt x="304184" y="203334"/>
                    <a:pt x="353714" y="184284"/>
                  </a:cubicBezTo>
                  <a:cubicBezTo>
                    <a:pt x="465474" y="141104"/>
                    <a:pt x="807104" y="36964"/>
                    <a:pt x="915054" y="28074"/>
                  </a:cubicBezTo>
                  <a:cubicBezTo>
                    <a:pt x="958234" y="25534"/>
                    <a:pt x="976014" y="40774"/>
                    <a:pt x="1006494" y="38234"/>
                  </a:cubicBezTo>
                  <a:cubicBezTo>
                    <a:pt x="1038244" y="36964"/>
                    <a:pt x="1062374" y="20454"/>
                    <a:pt x="1097934" y="15374"/>
                  </a:cubicBezTo>
                  <a:cubicBezTo>
                    <a:pt x="1152544" y="6484"/>
                    <a:pt x="1257954" y="-8756"/>
                    <a:pt x="1299864" y="6484"/>
                  </a:cubicBezTo>
                  <a:cubicBezTo>
                    <a:pt x="1322724" y="14104"/>
                    <a:pt x="1336694" y="28074"/>
                    <a:pt x="1345584" y="44584"/>
                  </a:cubicBezTo>
                  <a:cubicBezTo>
                    <a:pt x="1354474" y="61094"/>
                    <a:pt x="1358284" y="86494"/>
                    <a:pt x="1353204" y="104274"/>
                  </a:cubicBezTo>
                  <a:cubicBezTo>
                    <a:pt x="1349394" y="122054"/>
                    <a:pt x="1334154" y="143644"/>
                    <a:pt x="1320184" y="155074"/>
                  </a:cubicBezTo>
                  <a:cubicBezTo>
                    <a:pt x="1310024" y="163964"/>
                    <a:pt x="1283354" y="170314"/>
                    <a:pt x="1283354" y="170314"/>
                  </a:cubicBezTo>
                </a:path>
              </a:pathLst>
            </a:custGeom>
            <a:solidFill>
              <a:srgbClr val="94AAB8"/>
            </a:solidFill>
            <a:ln cap="sq">
              <a:noFill/>
              <a:prstDash val="solid"/>
              <a:miter/>
            </a:ln>
          </p:spPr>
        </p:sp>
      </p:grpSp>
      <p:grpSp>
        <p:nvGrpSpPr>
          <p:cNvPr id="14" name="Group 14"/>
          <p:cNvGrpSpPr/>
          <p:nvPr/>
        </p:nvGrpSpPr>
        <p:grpSpPr>
          <a:xfrm>
            <a:off x="13270230" y="2882265"/>
            <a:ext cx="192405" cy="199072"/>
            <a:chOff x="0" y="0"/>
            <a:chExt cx="256540" cy="265430"/>
          </a:xfrm>
        </p:grpSpPr>
        <p:sp>
          <p:nvSpPr>
            <p:cNvPr id="15" name="Freeform 15"/>
            <p:cNvSpPr/>
            <p:nvPr/>
          </p:nvSpPr>
          <p:spPr>
            <a:xfrm>
              <a:off x="46003" y="50800"/>
              <a:ext cx="158467" cy="164638"/>
            </a:xfrm>
            <a:custGeom>
              <a:avLst/>
              <a:gdLst/>
              <a:ahLst/>
              <a:cxnLst/>
              <a:rect l="l" t="t" r="r" b="b"/>
              <a:pathLst>
                <a:path w="158467" h="164638">
                  <a:moveTo>
                    <a:pt x="158467" y="57150"/>
                  </a:moveTo>
                  <a:cubicBezTo>
                    <a:pt x="136877" y="144780"/>
                    <a:pt x="125447" y="152400"/>
                    <a:pt x="114017" y="157480"/>
                  </a:cubicBezTo>
                  <a:cubicBezTo>
                    <a:pt x="101317" y="162560"/>
                    <a:pt x="88617" y="166370"/>
                    <a:pt x="74647" y="163830"/>
                  </a:cubicBezTo>
                  <a:cubicBezTo>
                    <a:pt x="55597" y="160020"/>
                    <a:pt x="21307" y="143510"/>
                    <a:pt x="8607" y="124460"/>
                  </a:cubicBezTo>
                  <a:cubicBezTo>
                    <a:pt x="-2823" y="105410"/>
                    <a:pt x="-1553" y="67310"/>
                    <a:pt x="4797" y="48260"/>
                  </a:cubicBezTo>
                  <a:cubicBezTo>
                    <a:pt x="8607" y="34290"/>
                    <a:pt x="18767" y="24130"/>
                    <a:pt x="28927" y="16510"/>
                  </a:cubicBezTo>
                  <a:cubicBezTo>
                    <a:pt x="39087" y="8890"/>
                    <a:pt x="50517" y="1270"/>
                    <a:pt x="64487" y="0"/>
                  </a:cubicBezTo>
                  <a:cubicBezTo>
                    <a:pt x="84807" y="0"/>
                    <a:pt x="138147" y="22860"/>
                    <a:pt x="138147" y="22860"/>
                  </a:cubicBezTo>
                </a:path>
              </a:pathLst>
            </a:custGeom>
            <a:solidFill>
              <a:srgbClr val="94AAB8"/>
            </a:solidFill>
            <a:ln cap="sq">
              <a:noFill/>
              <a:prstDash val="solid"/>
              <a:miter/>
            </a:ln>
          </p:spPr>
        </p:sp>
      </p:grpSp>
      <p:grpSp>
        <p:nvGrpSpPr>
          <p:cNvPr id="16" name="Group 16"/>
          <p:cNvGrpSpPr/>
          <p:nvPr/>
        </p:nvGrpSpPr>
        <p:grpSpPr>
          <a:xfrm>
            <a:off x="13642657" y="8930640"/>
            <a:ext cx="1429702" cy="738188"/>
            <a:chOff x="0" y="0"/>
            <a:chExt cx="1906270" cy="984250"/>
          </a:xfrm>
        </p:grpSpPr>
        <p:sp>
          <p:nvSpPr>
            <p:cNvPr id="17" name="Freeform 17"/>
            <p:cNvSpPr/>
            <p:nvPr/>
          </p:nvSpPr>
          <p:spPr>
            <a:xfrm>
              <a:off x="50153" y="48500"/>
              <a:ext cx="1805312" cy="887998"/>
            </a:xfrm>
            <a:custGeom>
              <a:avLst/>
              <a:gdLst/>
              <a:ahLst/>
              <a:cxnLst/>
              <a:rect l="l" t="t" r="r" b="b"/>
              <a:pathLst>
                <a:path w="1805312" h="887998">
                  <a:moveTo>
                    <a:pt x="1773567" y="152160"/>
                  </a:moveTo>
                  <a:cubicBezTo>
                    <a:pt x="1487817" y="317260"/>
                    <a:pt x="1409077" y="345200"/>
                    <a:pt x="1315097" y="379490"/>
                  </a:cubicBezTo>
                  <a:cubicBezTo>
                    <a:pt x="1195717" y="423940"/>
                    <a:pt x="1009027" y="468390"/>
                    <a:pt x="904887" y="510300"/>
                  </a:cubicBezTo>
                  <a:cubicBezTo>
                    <a:pt x="840117" y="538240"/>
                    <a:pt x="794397" y="572530"/>
                    <a:pt x="748677" y="589040"/>
                  </a:cubicBezTo>
                  <a:cubicBezTo>
                    <a:pt x="716927" y="600470"/>
                    <a:pt x="702957" y="594120"/>
                    <a:pt x="663587" y="608090"/>
                  </a:cubicBezTo>
                  <a:cubicBezTo>
                    <a:pt x="559447" y="644920"/>
                    <a:pt x="211467" y="865900"/>
                    <a:pt x="118757" y="884950"/>
                  </a:cubicBezTo>
                  <a:cubicBezTo>
                    <a:pt x="90817" y="890030"/>
                    <a:pt x="76847" y="888760"/>
                    <a:pt x="59067" y="881140"/>
                  </a:cubicBezTo>
                  <a:cubicBezTo>
                    <a:pt x="41287" y="873520"/>
                    <a:pt x="23507" y="858280"/>
                    <a:pt x="13347" y="841770"/>
                  </a:cubicBezTo>
                  <a:cubicBezTo>
                    <a:pt x="3187" y="825260"/>
                    <a:pt x="-1893" y="802400"/>
                    <a:pt x="647" y="783350"/>
                  </a:cubicBezTo>
                  <a:cubicBezTo>
                    <a:pt x="3187" y="764300"/>
                    <a:pt x="15887" y="741440"/>
                    <a:pt x="26047" y="728740"/>
                  </a:cubicBezTo>
                  <a:cubicBezTo>
                    <a:pt x="33667" y="719850"/>
                    <a:pt x="40017" y="714770"/>
                    <a:pt x="50177" y="710960"/>
                  </a:cubicBezTo>
                  <a:cubicBezTo>
                    <a:pt x="65417" y="704610"/>
                    <a:pt x="93357" y="699530"/>
                    <a:pt x="109867" y="700800"/>
                  </a:cubicBezTo>
                  <a:cubicBezTo>
                    <a:pt x="121297" y="702070"/>
                    <a:pt x="128917" y="704610"/>
                    <a:pt x="139077" y="710960"/>
                  </a:cubicBezTo>
                  <a:cubicBezTo>
                    <a:pt x="151777" y="719850"/>
                    <a:pt x="172097" y="740170"/>
                    <a:pt x="179717" y="755410"/>
                  </a:cubicBezTo>
                  <a:cubicBezTo>
                    <a:pt x="184797" y="764300"/>
                    <a:pt x="187337" y="773190"/>
                    <a:pt x="187337" y="784620"/>
                  </a:cubicBezTo>
                  <a:cubicBezTo>
                    <a:pt x="187337" y="799860"/>
                    <a:pt x="184797" y="826530"/>
                    <a:pt x="174637" y="843040"/>
                  </a:cubicBezTo>
                  <a:cubicBezTo>
                    <a:pt x="164477" y="858280"/>
                    <a:pt x="146697" y="874790"/>
                    <a:pt x="128917" y="881140"/>
                  </a:cubicBezTo>
                  <a:cubicBezTo>
                    <a:pt x="111137" y="888760"/>
                    <a:pt x="87007" y="890030"/>
                    <a:pt x="69227" y="884950"/>
                  </a:cubicBezTo>
                  <a:cubicBezTo>
                    <a:pt x="50177" y="878600"/>
                    <a:pt x="31127" y="865900"/>
                    <a:pt x="19697" y="850660"/>
                  </a:cubicBezTo>
                  <a:cubicBezTo>
                    <a:pt x="8267" y="835420"/>
                    <a:pt x="647" y="812560"/>
                    <a:pt x="647" y="793510"/>
                  </a:cubicBezTo>
                  <a:cubicBezTo>
                    <a:pt x="647" y="774460"/>
                    <a:pt x="1917" y="757950"/>
                    <a:pt x="19697" y="736360"/>
                  </a:cubicBezTo>
                  <a:cubicBezTo>
                    <a:pt x="75577" y="670320"/>
                    <a:pt x="377837" y="539510"/>
                    <a:pt x="525157" y="469660"/>
                  </a:cubicBezTo>
                  <a:cubicBezTo>
                    <a:pt x="636917" y="418860"/>
                    <a:pt x="715657" y="388380"/>
                    <a:pt x="822337" y="349010"/>
                  </a:cubicBezTo>
                  <a:cubicBezTo>
                    <a:pt x="945527" y="304560"/>
                    <a:pt x="1099197" y="267730"/>
                    <a:pt x="1224927" y="223280"/>
                  </a:cubicBezTo>
                  <a:cubicBezTo>
                    <a:pt x="1337957" y="182640"/>
                    <a:pt x="1456067" y="138190"/>
                    <a:pt x="1543697" y="95010"/>
                  </a:cubicBezTo>
                  <a:cubicBezTo>
                    <a:pt x="1607197" y="64530"/>
                    <a:pt x="1666887" y="11190"/>
                    <a:pt x="1703717" y="2300"/>
                  </a:cubicBezTo>
                  <a:cubicBezTo>
                    <a:pt x="1721497" y="-1510"/>
                    <a:pt x="1731657" y="-240"/>
                    <a:pt x="1744357" y="3570"/>
                  </a:cubicBezTo>
                  <a:cubicBezTo>
                    <a:pt x="1760867" y="9920"/>
                    <a:pt x="1782457" y="25160"/>
                    <a:pt x="1792617" y="40400"/>
                  </a:cubicBezTo>
                  <a:cubicBezTo>
                    <a:pt x="1802777" y="56910"/>
                    <a:pt x="1807857" y="81040"/>
                    <a:pt x="1804047" y="100090"/>
                  </a:cubicBezTo>
                  <a:cubicBezTo>
                    <a:pt x="1800237" y="119140"/>
                    <a:pt x="1773567" y="152160"/>
                    <a:pt x="1773567" y="152160"/>
                  </a:cubicBezTo>
                </a:path>
              </a:pathLst>
            </a:custGeom>
            <a:solidFill>
              <a:srgbClr val="94AAB8"/>
            </a:solidFill>
            <a:ln cap="sq">
              <a:noFill/>
              <a:prstDash val="solid"/>
              <a:miter/>
            </a:ln>
          </p:spPr>
        </p:sp>
      </p:grpSp>
      <p:grpSp>
        <p:nvGrpSpPr>
          <p:cNvPr id="18" name="Group 18"/>
          <p:cNvGrpSpPr/>
          <p:nvPr/>
        </p:nvGrpSpPr>
        <p:grpSpPr>
          <a:xfrm>
            <a:off x="8903970" y="8929688"/>
            <a:ext cx="754380" cy="1043940"/>
            <a:chOff x="0" y="0"/>
            <a:chExt cx="1005840" cy="1391920"/>
          </a:xfrm>
        </p:grpSpPr>
        <p:sp>
          <p:nvSpPr>
            <p:cNvPr id="19" name="Freeform 19"/>
            <p:cNvSpPr/>
            <p:nvPr/>
          </p:nvSpPr>
          <p:spPr>
            <a:xfrm>
              <a:off x="50665" y="50153"/>
              <a:ext cx="904180" cy="1291602"/>
            </a:xfrm>
            <a:custGeom>
              <a:avLst/>
              <a:gdLst/>
              <a:ahLst/>
              <a:cxnLst/>
              <a:rect l="l" t="t" r="r" b="b"/>
              <a:pathLst>
                <a:path w="904180" h="1291602">
                  <a:moveTo>
                    <a:pt x="166505" y="61607"/>
                  </a:moveTo>
                  <a:cubicBezTo>
                    <a:pt x="331605" y="575957"/>
                    <a:pt x="339225" y="583577"/>
                    <a:pt x="363355" y="615327"/>
                  </a:cubicBezTo>
                  <a:cubicBezTo>
                    <a:pt x="405265" y="675017"/>
                    <a:pt x="487815" y="768997"/>
                    <a:pt x="566555" y="850277"/>
                  </a:cubicBezTo>
                  <a:cubicBezTo>
                    <a:pt x="659265" y="946797"/>
                    <a:pt x="854845" y="1082687"/>
                    <a:pt x="891675" y="1148727"/>
                  </a:cubicBezTo>
                  <a:cubicBezTo>
                    <a:pt x="904375" y="1172857"/>
                    <a:pt x="905645" y="1189367"/>
                    <a:pt x="903105" y="1208417"/>
                  </a:cubicBezTo>
                  <a:cubicBezTo>
                    <a:pt x="900565" y="1227467"/>
                    <a:pt x="890405" y="1249057"/>
                    <a:pt x="876435" y="1263027"/>
                  </a:cubicBezTo>
                  <a:cubicBezTo>
                    <a:pt x="863735" y="1275727"/>
                    <a:pt x="838335" y="1285887"/>
                    <a:pt x="823095" y="1289697"/>
                  </a:cubicBezTo>
                  <a:cubicBezTo>
                    <a:pt x="811665" y="1292237"/>
                    <a:pt x="802775" y="1292237"/>
                    <a:pt x="792615" y="1289697"/>
                  </a:cubicBezTo>
                  <a:cubicBezTo>
                    <a:pt x="776105" y="1284617"/>
                    <a:pt x="751975" y="1274457"/>
                    <a:pt x="739275" y="1259217"/>
                  </a:cubicBezTo>
                  <a:cubicBezTo>
                    <a:pt x="726575" y="1245247"/>
                    <a:pt x="717685" y="1219847"/>
                    <a:pt x="715145" y="1204607"/>
                  </a:cubicBezTo>
                  <a:cubicBezTo>
                    <a:pt x="712605" y="1193177"/>
                    <a:pt x="713875" y="1184287"/>
                    <a:pt x="717685" y="1174127"/>
                  </a:cubicBezTo>
                  <a:cubicBezTo>
                    <a:pt x="722765" y="1158887"/>
                    <a:pt x="738005" y="1133487"/>
                    <a:pt x="749435" y="1123327"/>
                  </a:cubicBezTo>
                  <a:cubicBezTo>
                    <a:pt x="758325" y="1114437"/>
                    <a:pt x="764675" y="1110627"/>
                    <a:pt x="776105" y="1106817"/>
                  </a:cubicBezTo>
                  <a:cubicBezTo>
                    <a:pt x="791345" y="1103007"/>
                    <a:pt x="818015" y="1100467"/>
                    <a:pt x="835795" y="1105547"/>
                  </a:cubicBezTo>
                  <a:cubicBezTo>
                    <a:pt x="854845" y="1110627"/>
                    <a:pt x="875165" y="1128407"/>
                    <a:pt x="885325" y="1139837"/>
                  </a:cubicBezTo>
                  <a:cubicBezTo>
                    <a:pt x="892945" y="1148727"/>
                    <a:pt x="896755" y="1156347"/>
                    <a:pt x="899295" y="1167777"/>
                  </a:cubicBezTo>
                  <a:cubicBezTo>
                    <a:pt x="903105" y="1183017"/>
                    <a:pt x="904375" y="1209687"/>
                    <a:pt x="898025" y="1227467"/>
                  </a:cubicBezTo>
                  <a:cubicBezTo>
                    <a:pt x="891675" y="1246517"/>
                    <a:pt x="876435" y="1265567"/>
                    <a:pt x="861195" y="1275727"/>
                  </a:cubicBezTo>
                  <a:cubicBezTo>
                    <a:pt x="844685" y="1285887"/>
                    <a:pt x="821825" y="1292237"/>
                    <a:pt x="802775" y="1290967"/>
                  </a:cubicBezTo>
                  <a:cubicBezTo>
                    <a:pt x="783725" y="1288427"/>
                    <a:pt x="771025" y="1282077"/>
                    <a:pt x="746895" y="1266837"/>
                  </a:cubicBezTo>
                  <a:cubicBezTo>
                    <a:pt x="687205" y="1228737"/>
                    <a:pt x="556395" y="1106817"/>
                    <a:pt x="468765" y="1017917"/>
                  </a:cubicBezTo>
                  <a:cubicBezTo>
                    <a:pt x="379865" y="929017"/>
                    <a:pt x="279535" y="819797"/>
                    <a:pt x="218575" y="733437"/>
                  </a:cubicBezTo>
                  <a:cubicBezTo>
                    <a:pt x="174125" y="669937"/>
                    <a:pt x="151265" y="631837"/>
                    <a:pt x="120785" y="556907"/>
                  </a:cubicBezTo>
                  <a:cubicBezTo>
                    <a:pt x="73795" y="440067"/>
                    <a:pt x="-3675" y="169557"/>
                    <a:pt x="135" y="88277"/>
                  </a:cubicBezTo>
                  <a:cubicBezTo>
                    <a:pt x="135" y="60337"/>
                    <a:pt x="6485" y="45097"/>
                    <a:pt x="19185" y="31127"/>
                  </a:cubicBezTo>
                  <a:cubicBezTo>
                    <a:pt x="30615" y="15887"/>
                    <a:pt x="52205" y="4457"/>
                    <a:pt x="71255" y="647"/>
                  </a:cubicBezTo>
                  <a:cubicBezTo>
                    <a:pt x="90305" y="-1893"/>
                    <a:pt x="114435" y="3187"/>
                    <a:pt x="130945" y="13347"/>
                  </a:cubicBezTo>
                  <a:cubicBezTo>
                    <a:pt x="146185" y="23507"/>
                    <a:pt x="166505" y="61607"/>
                    <a:pt x="166505" y="61607"/>
                  </a:cubicBezTo>
                </a:path>
              </a:pathLst>
            </a:custGeom>
            <a:solidFill>
              <a:srgbClr val="94AAB8"/>
            </a:solidFill>
            <a:ln cap="sq">
              <a:noFill/>
              <a:prstDash val="solid"/>
              <a:miter/>
            </a:ln>
          </p:spPr>
        </p:sp>
      </p:grpSp>
      <p:grpSp>
        <p:nvGrpSpPr>
          <p:cNvPr id="20" name="Group 20"/>
          <p:cNvGrpSpPr/>
          <p:nvPr/>
        </p:nvGrpSpPr>
        <p:grpSpPr>
          <a:xfrm>
            <a:off x="9654540" y="9873615"/>
            <a:ext cx="199072" cy="194310"/>
            <a:chOff x="0" y="0"/>
            <a:chExt cx="265430" cy="259080"/>
          </a:xfrm>
        </p:grpSpPr>
        <p:sp>
          <p:nvSpPr>
            <p:cNvPr id="21" name="Freeform 21"/>
            <p:cNvSpPr/>
            <p:nvPr/>
          </p:nvSpPr>
          <p:spPr>
            <a:xfrm>
              <a:off x="50637" y="50752"/>
              <a:ext cx="161453" cy="161862"/>
            </a:xfrm>
            <a:custGeom>
              <a:avLst/>
              <a:gdLst/>
              <a:ahLst/>
              <a:cxnLst/>
              <a:rect l="l" t="t" r="r" b="b"/>
              <a:pathLst>
                <a:path w="161453" h="161862">
                  <a:moveTo>
                    <a:pt x="161453" y="57198"/>
                  </a:moveTo>
                  <a:cubicBezTo>
                    <a:pt x="157643" y="115618"/>
                    <a:pt x="137323" y="147368"/>
                    <a:pt x="115733" y="157528"/>
                  </a:cubicBezTo>
                  <a:cubicBezTo>
                    <a:pt x="95413" y="166418"/>
                    <a:pt x="57313" y="160068"/>
                    <a:pt x="39533" y="152448"/>
                  </a:cubicBezTo>
                  <a:cubicBezTo>
                    <a:pt x="26833" y="146098"/>
                    <a:pt x="17943" y="135938"/>
                    <a:pt x="11593" y="124508"/>
                  </a:cubicBezTo>
                  <a:cubicBezTo>
                    <a:pt x="5243" y="113078"/>
                    <a:pt x="-1107" y="101648"/>
                    <a:pt x="163" y="86408"/>
                  </a:cubicBezTo>
                  <a:cubicBezTo>
                    <a:pt x="1433" y="67358"/>
                    <a:pt x="16673" y="30528"/>
                    <a:pt x="31913" y="16558"/>
                  </a:cubicBezTo>
                  <a:cubicBezTo>
                    <a:pt x="40803" y="6398"/>
                    <a:pt x="53503" y="1318"/>
                    <a:pt x="67473" y="48"/>
                  </a:cubicBezTo>
                  <a:cubicBezTo>
                    <a:pt x="87793" y="-1222"/>
                    <a:pt x="141133" y="22908"/>
                    <a:pt x="141133" y="22908"/>
                  </a:cubicBezTo>
                </a:path>
              </a:pathLst>
            </a:custGeom>
            <a:solidFill>
              <a:srgbClr val="94AAB8"/>
            </a:solidFill>
            <a:ln cap="sq">
              <a:noFill/>
              <a:prstDash val="solid"/>
              <a:miter/>
            </a:ln>
          </p:spPr>
        </p:sp>
      </p:grpSp>
      <p:grpSp>
        <p:nvGrpSpPr>
          <p:cNvPr id="22" name="Group 22"/>
          <p:cNvGrpSpPr/>
          <p:nvPr/>
        </p:nvGrpSpPr>
        <p:grpSpPr>
          <a:xfrm>
            <a:off x="6782753" y="6224588"/>
            <a:ext cx="1232535" cy="718185"/>
            <a:chOff x="0" y="0"/>
            <a:chExt cx="1643380" cy="957580"/>
          </a:xfrm>
        </p:grpSpPr>
        <p:sp>
          <p:nvSpPr>
            <p:cNvPr id="23" name="Freeform 23"/>
            <p:cNvSpPr/>
            <p:nvPr/>
          </p:nvSpPr>
          <p:spPr>
            <a:xfrm>
              <a:off x="46185" y="50800"/>
              <a:ext cx="1547198" cy="855980"/>
            </a:xfrm>
            <a:custGeom>
              <a:avLst/>
              <a:gdLst/>
              <a:ahLst/>
              <a:cxnLst/>
              <a:rect l="l" t="t" r="r" b="b"/>
              <a:pathLst>
                <a:path w="1547198" h="855980">
                  <a:moveTo>
                    <a:pt x="121455" y="8890"/>
                  </a:moveTo>
                  <a:cubicBezTo>
                    <a:pt x="276395" y="78740"/>
                    <a:pt x="503725" y="128270"/>
                    <a:pt x="610405" y="167640"/>
                  </a:cubicBezTo>
                  <a:cubicBezTo>
                    <a:pt x="678985" y="194310"/>
                    <a:pt x="708195" y="218440"/>
                    <a:pt x="775505" y="247650"/>
                  </a:cubicBezTo>
                  <a:cubicBezTo>
                    <a:pt x="875835" y="290830"/>
                    <a:pt x="1081575" y="353060"/>
                    <a:pt x="1160315" y="392430"/>
                  </a:cubicBezTo>
                  <a:cubicBezTo>
                    <a:pt x="1198415" y="411480"/>
                    <a:pt x="1206035" y="417830"/>
                    <a:pt x="1239055" y="444500"/>
                  </a:cubicBezTo>
                  <a:cubicBezTo>
                    <a:pt x="1308905" y="497840"/>
                    <a:pt x="1504485" y="656590"/>
                    <a:pt x="1537505" y="718820"/>
                  </a:cubicBezTo>
                  <a:cubicBezTo>
                    <a:pt x="1550205" y="744220"/>
                    <a:pt x="1547665" y="763270"/>
                    <a:pt x="1545125" y="779780"/>
                  </a:cubicBezTo>
                  <a:cubicBezTo>
                    <a:pt x="1543855" y="791210"/>
                    <a:pt x="1541315" y="798830"/>
                    <a:pt x="1534965" y="807720"/>
                  </a:cubicBezTo>
                  <a:cubicBezTo>
                    <a:pt x="1524805" y="821690"/>
                    <a:pt x="1504485" y="840740"/>
                    <a:pt x="1489245" y="848360"/>
                  </a:cubicBezTo>
                  <a:cubicBezTo>
                    <a:pt x="1479085" y="853440"/>
                    <a:pt x="1470195" y="854710"/>
                    <a:pt x="1460035" y="855980"/>
                  </a:cubicBezTo>
                  <a:cubicBezTo>
                    <a:pt x="1449875" y="855980"/>
                    <a:pt x="1439715" y="855980"/>
                    <a:pt x="1429555" y="853440"/>
                  </a:cubicBezTo>
                  <a:cubicBezTo>
                    <a:pt x="1414315" y="847090"/>
                    <a:pt x="1390185" y="835660"/>
                    <a:pt x="1378755" y="820420"/>
                  </a:cubicBezTo>
                  <a:cubicBezTo>
                    <a:pt x="1366055" y="805180"/>
                    <a:pt x="1358435" y="782320"/>
                    <a:pt x="1358435" y="763270"/>
                  </a:cubicBezTo>
                  <a:cubicBezTo>
                    <a:pt x="1357165" y="744220"/>
                    <a:pt x="1367325" y="720090"/>
                    <a:pt x="1376215" y="706120"/>
                  </a:cubicBezTo>
                  <a:cubicBezTo>
                    <a:pt x="1381295" y="695960"/>
                    <a:pt x="1387645" y="689610"/>
                    <a:pt x="1397805" y="684530"/>
                  </a:cubicBezTo>
                  <a:cubicBezTo>
                    <a:pt x="1411775" y="675640"/>
                    <a:pt x="1435905" y="665480"/>
                    <a:pt x="1454955" y="666750"/>
                  </a:cubicBezTo>
                  <a:cubicBezTo>
                    <a:pt x="1474005" y="666750"/>
                    <a:pt x="1496865" y="675640"/>
                    <a:pt x="1512105" y="687070"/>
                  </a:cubicBezTo>
                  <a:cubicBezTo>
                    <a:pt x="1527345" y="699770"/>
                    <a:pt x="1540045" y="720090"/>
                    <a:pt x="1543855" y="739140"/>
                  </a:cubicBezTo>
                  <a:cubicBezTo>
                    <a:pt x="1548935" y="756920"/>
                    <a:pt x="1543855" y="783590"/>
                    <a:pt x="1538775" y="798830"/>
                  </a:cubicBezTo>
                  <a:cubicBezTo>
                    <a:pt x="1534965" y="810260"/>
                    <a:pt x="1531155" y="816610"/>
                    <a:pt x="1522265" y="824230"/>
                  </a:cubicBezTo>
                  <a:cubicBezTo>
                    <a:pt x="1510835" y="835660"/>
                    <a:pt x="1489245" y="850900"/>
                    <a:pt x="1470195" y="854710"/>
                  </a:cubicBezTo>
                  <a:cubicBezTo>
                    <a:pt x="1451145" y="857250"/>
                    <a:pt x="1432095" y="855980"/>
                    <a:pt x="1410505" y="845820"/>
                  </a:cubicBezTo>
                  <a:cubicBezTo>
                    <a:pt x="1374945" y="830580"/>
                    <a:pt x="1320335" y="778510"/>
                    <a:pt x="1286045" y="744220"/>
                  </a:cubicBezTo>
                  <a:cubicBezTo>
                    <a:pt x="1256835" y="715010"/>
                    <a:pt x="1244135" y="684530"/>
                    <a:pt x="1213655" y="656590"/>
                  </a:cubicBezTo>
                  <a:cubicBezTo>
                    <a:pt x="1175555" y="622300"/>
                    <a:pt x="1139995" y="594360"/>
                    <a:pt x="1073955" y="556260"/>
                  </a:cubicBezTo>
                  <a:cubicBezTo>
                    <a:pt x="940605" y="481330"/>
                    <a:pt x="577385" y="328930"/>
                    <a:pt x="432605" y="281940"/>
                  </a:cubicBezTo>
                  <a:cubicBezTo>
                    <a:pt x="361485" y="260350"/>
                    <a:pt x="325925" y="265430"/>
                    <a:pt x="268775" y="247650"/>
                  </a:cubicBezTo>
                  <a:cubicBezTo>
                    <a:pt x="198925" y="227330"/>
                    <a:pt x="88435" y="189230"/>
                    <a:pt x="46525" y="160020"/>
                  </a:cubicBezTo>
                  <a:cubicBezTo>
                    <a:pt x="24935" y="146050"/>
                    <a:pt x="12235" y="133350"/>
                    <a:pt x="5885" y="116840"/>
                  </a:cubicBezTo>
                  <a:cubicBezTo>
                    <a:pt x="-1735" y="99060"/>
                    <a:pt x="-1735" y="73660"/>
                    <a:pt x="4615" y="57150"/>
                  </a:cubicBezTo>
                  <a:cubicBezTo>
                    <a:pt x="10965" y="39370"/>
                    <a:pt x="28745" y="20320"/>
                    <a:pt x="42715" y="11430"/>
                  </a:cubicBezTo>
                  <a:cubicBezTo>
                    <a:pt x="55415" y="3810"/>
                    <a:pt x="69385" y="1270"/>
                    <a:pt x="82085" y="0"/>
                  </a:cubicBezTo>
                  <a:cubicBezTo>
                    <a:pt x="94785" y="0"/>
                    <a:pt x="121455" y="8890"/>
                    <a:pt x="121455" y="8890"/>
                  </a:cubicBezTo>
                </a:path>
              </a:pathLst>
            </a:custGeom>
            <a:solidFill>
              <a:srgbClr val="94AAB8"/>
            </a:solidFill>
            <a:ln cap="sq">
              <a:noFill/>
              <a:prstDash val="solid"/>
              <a:miter/>
            </a:ln>
          </p:spPr>
        </p:sp>
      </p:grpSp>
      <p:grpSp>
        <p:nvGrpSpPr>
          <p:cNvPr id="24" name="Group 24"/>
          <p:cNvGrpSpPr/>
          <p:nvPr/>
        </p:nvGrpSpPr>
        <p:grpSpPr>
          <a:xfrm>
            <a:off x="5384482" y="9655493"/>
            <a:ext cx="1075373" cy="485775"/>
            <a:chOff x="0" y="0"/>
            <a:chExt cx="1433830" cy="647700"/>
          </a:xfrm>
        </p:grpSpPr>
        <p:sp>
          <p:nvSpPr>
            <p:cNvPr id="25" name="Freeform 25"/>
            <p:cNvSpPr/>
            <p:nvPr/>
          </p:nvSpPr>
          <p:spPr>
            <a:xfrm>
              <a:off x="50476" y="49118"/>
              <a:ext cx="1335898" cy="546992"/>
            </a:xfrm>
            <a:custGeom>
              <a:avLst/>
              <a:gdLst/>
              <a:ahLst/>
              <a:cxnLst/>
              <a:rect l="l" t="t" r="r" b="b"/>
              <a:pathLst>
                <a:path w="1335898" h="546992">
                  <a:moveTo>
                    <a:pt x="1289374" y="160432"/>
                  </a:moveTo>
                  <a:cubicBezTo>
                    <a:pt x="980764" y="291242"/>
                    <a:pt x="932504" y="287432"/>
                    <a:pt x="855034" y="309022"/>
                  </a:cubicBezTo>
                  <a:cubicBezTo>
                    <a:pt x="730574" y="343312"/>
                    <a:pt x="518484" y="438562"/>
                    <a:pt x="380054" y="480472"/>
                  </a:cubicBezTo>
                  <a:cubicBezTo>
                    <a:pt x="277184" y="512222"/>
                    <a:pt x="160344" y="546512"/>
                    <a:pt x="101924" y="546512"/>
                  </a:cubicBezTo>
                  <a:cubicBezTo>
                    <a:pt x="76524" y="547782"/>
                    <a:pt x="60014" y="543972"/>
                    <a:pt x="44774" y="533812"/>
                  </a:cubicBezTo>
                  <a:cubicBezTo>
                    <a:pt x="28264" y="524922"/>
                    <a:pt x="13024" y="503332"/>
                    <a:pt x="6674" y="489362"/>
                  </a:cubicBezTo>
                  <a:cubicBezTo>
                    <a:pt x="1594" y="479202"/>
                    <a:pt x="-946" y="471582"/>
                    <a:pt x="324" y="460152"/>
                  </a:cubicBezTo>
                  <a:cubicBezTo>
                    <a:pt x="324" y="443642"/>
                    <a:pt x="5404" y="418242"/>
                    <a:pt x="15564" y="403002"/>
                  </a:cubicBezTo>
                  <a:cubicBezTo>
                    <a:pt x="25724" y="386492"/>
                    <a:pt x="44774" y="372522"/>
                    <a:pt x="62554" y="366172"/>
                  </a:cubicBezTo>
                  <a:cubicBezTo>
                    <a:pt x="80334" y="361092"/>
                    <a:pt x="107004" y="362362"/>
                    <a:pt x="122244" y="366172"/>
                  </a:cubicBezTo>
                  <a:cubicBezTo>
                    <a:pt x="133674" y="369982"/>
                    <a:pt x="140024" y="373792"/>
                    <a:pt x="148914" y="381412"/>
                  </a:cubicBezTo>
                  <a:cubicBezTo>
                    <a:pt x="160344" y="391572"/>
                    <a:pt x="176854" y="411892"/>
                    <a:pt x="181934" y="429672"/>
                  </a:cubicBezTo>
                  <a:cubicBezTo>
                    <a:pt x="187014" y="448722"/>
                    <a:pt x="183204" y="474122"/>
                    <a:pt x="179394" y="489362"/>
                  </a:cubicBezTo>
                  <a:cubicBezTo>
                    <a:pt x="175584" y="499522"/>
                    <a:pt x="171774" y="507142"/>
                    <a:pt x="162884" y="514762"/>
                  </a:cubicBezTo>
                  <a:cubicBezTo>
                    <a:pt x="151454" y="526192"/>
                    <a:pt x="131134" y="541432"/>
                    <a:pt x="112084" y="545242"/>
                  </a:cubicBezTo>
                  <a:cubicBezTo>
                    <a:pt x="94304" y="549052"/>
                    <a:pt x="70174" y="546512"/>
                    <a:pt x="53664" y="538892"/>
                  </a:cubicBezTo>
                  <a:cubicBezTo>
                    <a:pt x="35884" y="531272"/>
                    <a:pt x="19374" y="510952"/>
                    <a:pt x="10484" y="498252"/>
                  </a:cubicBezTo>
                  <a:cubicBezTo>
                    <a:pt x="4134" y="488092"/>
                    <a:pt x="1594" y="480472"/>
                    <a:pt x="324" y="469042"/>
                  </a:cubicBezTo>
                  <a:cubicBezTo>
                    <a:pt x="-946" y="453802"/>
                    <a:pt x="1594" y="427132"/>
                    <a:pt x="10484" y="410622"/>
                  </a:cubicBezTo>
                  <a:cubicBezTo>
                    <a:pt x="19374" y="394112"/>
                    <a:pt x="32074" y="381412"/>
                    <a:pt x="53664" y="369982"/>
                  </a:cubicBezTo>
                  <a:cubicBezTo>
                    <a:pt x="95574" y="348392"/>
                    <a:pt x="174314" y="350932"/>
                    <a:pt x="258134" y="328072"/>
                  </a:cubicBezTo>
                  <a:cubicBezTo>
                    <a:pt x="399104" y="289972"/>
                    <a:pt x="670884" y="174402"/>
                    <a:pt x="816934" y="135032"/>
                  </a:cubicBezTo>
                  <a:cubicBezTo>
                    <a:pt x="908374" y="110902"/>
                    <a:pt x="974414" y="115982"/>
                    <a:pt x="1045534" y="91852"/>
                  </a:cubicBezTo>
                  <a:cubicBezTo>
                    <a:pt x="1112844" y="70262"/>
                    <a:pt x="1186504" y="9302"/>
                    <a:pt x="1233494" y="1682"/>
                  </a:cubicBezTo>
                  <a:cubicBezTo>
                    <a:pt x="1257624" y="-2128"/>
                    <a:pt x="1276674" y="412"/>
                    <a:pt x="1293184" y="10572"/>
                  </a:cubicBezTo>
                  <a:cubicBezTo>
                    <a:pt x="1309694" y="19462"/>
                    <a:pt x="1324934" y="38512"/>
                    <a:pt x="1331284" y="56292"/>
                  </a:cubicBezTo>
                  <a:cubicBezTo>
                    <a:pt x="1337634" y="74072"/>
                    <a:pt x="1337634" y="98202"/>
                    <a:pt x="1330014" y="115982"/>
                  </a:cubicBezTo>
                  <a:cubicBezTo>
                    <a:pt x="1323664" y="133762"/>
                    <a:pt x="1289374" y="160432"/>
                    <a:pt x="1289374" y="160432"/>
                  </a:cubicBezTo>
                </a:path>
              </a:pathLst>
            </a:custGeom>
            <a:solidFill>
              <a:srgbClr val="94AAB8"/>
            </a:solidFill>
            <a:ln cap="sq">
              <a:noFill/>
              <a:prstDash val="solid"/>
              <a:miter/>
            </a:ln>
          </p:spPr>
        </p:sp>
      </p:grpSp>
      <p:sp>
        <p:nvSpPr>
          <p:cNvPr id="26" name="Freeform 26"/>
          <p:cNvSpPr/>
          <p:nvPr/>
        </p:nvSpPr>
        <p:spPr>
          <a:xfrm>
            <a:off x="2078702" y="1699991"/>
            <a:ext cx="12559751" cy="8367934"/>
          </a:xfrm>
          <a:custGeom>
            <a:avLst/>
            <a:gdLst/>
            <a:ahLst/>
            <a:cxnLst/>
            <a:rect l="l" t="t" r="r" b="b"/>
            <a:pathLst>
              <a:path w="12559751" h="8367934">
                <a:moveTo>
                  <a:pt x="0" y="0"/>
                </a:moveTo>
                <a:lnTo>
                  <a:pt x="12559750" y="0"/>
                </a:lnTo>
                <a:lnTo>
                  <a:pt x="12559750" y="8367934"/>
                </a:lnTo>
                <a:lnTo>
                  <a:pt x="0" y="8367934"/>
                </a:lnTo>
                <a:lnTo>
                  <a:pt x="0" y="0"/>
                </a:lnTo>
                <a:close/>
              </a:path>
            </a:pathLst>
          </a:custGeom>
          <a:blipFill>
            <a:blip r:embed="rId6"/>
            <a:stretch>
              <a:fillRect/>
            </a:stretch>
          </a:blipFill>
        </p:spPr>
      </p:sp>
      <p:sp>
        <p:nvSpPr>
          <p:cNvPr id="27" name="TextBox 27"/>
          <p:cNvSpPr txBox="1"/>
          <p:nvPr/>
        </p:nvSpPr>
        <p:spPr>
          <a:xfrm>
            <a:off x="2269400" y="317598"/>
            <a:ext cx="12245887" cy="1277618"/>
          </a:xfrm>
          <a:prstGeom prst="rect">
            <a:avLst/>
          </a:prstGeom>
        </p:spPr>
        <p:txBody>
          <a:bodyPr lIns="0" tIns="0" rIns="0" bIns="0" rtlCol="0" anchor="t">
            <a:spAutoFit/>
          </a:bodyPr>
          <a:lstStyle/>
          <a:p>
            <a:pPr marL="0" lvl="0" indent="0" algn="just">
              <a:lnSpc>
                <a:spcPts val="5180"/>
              </a:lnSpc>
              <a:spcBef>
                <a:spcPct val="0"/>
              </a:spcBef>
            </a:pPr>
            <a:r>
              <a:rPr lang="en-US" sz="3700">
                <a:solidFill>
                  <a:srgbClr val="3B365F"/>
                </a:solidFill>
                <a:latin typeface="TAN Headline"/>
                <a:ea typeface="TAN Headline"/>
                <a:cs typeface="TAN Headline"/>
                <a:sym typeface="TAN Headline"/>
              </a:rPr>
              <a:t>Essas foram as a</a:t>
            </a:r>
            <a:r>
              <a:rPr lang="en-US" sz="3700" u="none" strike="noStrike">
                <a:solidFill>
                  <a:srgbClr val="3B365F"/>
                </a:solidFill>
                <a:latin typeface="TAN Headline"/>
                <a:ea typeface="TAN Headline"/>
                <a:cs typeface="TAN Headline"/>
                <a:sym typeface="TAN Headline"/>
              </a:rPr>
              <a:t>tividades voluntárias registradas na base de dados do projeto.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grpSp>
        <p:nvGrpSpPr>
          <p:cNvPr id="3" name="Group 3"/>
          <p:cNvGrpSpPr/>
          <p:nvPr/>
        </p:nvGrpSpPr>
        <p:grpSpPr>
          <a:xfrm>
            <a:off x="1999298" y="4514850"/>
            <a:ext cx="197167" cy="197167"/>
            <a:chOff x="0" y="0"/>
            <a:chExt cx="262890" cy="262890"/>
          </a:xfrm>
        </p:grpSpPr>
        <p:sp>
          <p:nvSpPr>
            <p:cNvPr id="4" name="Freeform 4"/>
            <p:cNvSpPr/>
            <p:nvPr/>
          </p:nvSpPr>
          <p:spPr>
            <a:xfrm>
              <a:off x="50562" y="49409"/>
              <a:ext cx="160258" cy="163357"/>
            </a:xfrm>
            <a:custGeom>
              <a:avLst/>
              <a:gdLst/>
              <a:ahLst/>
              <a:cxnLst/>
              <a:rect l="l" t="t" r="r" b="b"/>
              <a:pathLst>
                <a:path w="160258" h="163357">
                  <a:moveTo>
                    <a:pt x="160258" y="54731"/>
                  </a:moveTo>
                  <a:cubicBezTo>
                    <a:pt x="139938" y="143631"/>
                    <a:pt x="127238" y="149981"/>
                    <a:pt x="115808" y="155061"/>
                  </a:cubicBezTo>
                  <a:cubicBezTo>
                    <a:pt x="104378" y="160141"/>
                    <a:pt x="91678" y="165221"/>
                    <a:pt x="76438" y="162681"/>
                  </a:cubicBezTo>
                  <a:cubicBezTo>
                    <a:pt x="57388" y="158871"/>
                    <a:pt x="23098" y="138551"/>
                    <a:pt x="11668" y="122041"/>
                  </a:cubicBezTo>
                  <a:cubicBezTo>
                    <a:pt x="2778" y="111881"/>
                    <a:pt x="-1032" y="99181"/>
                    <a:pt x="238" y="85211"/>
                  </a:cubicBezTo>
                  <a:cubicBezTo>
                    <a:pt x="238" y="64891"/>
                    <a:pt x="12938" y="29331"/>
                    <a:pt x="30718" y="15361"/>
                  </a:cubicBezTo>
                  <a:cubicBezTo>
                    <a:pt x="48498" y="1391"/>
                    <a:pt x="86598" y="-2419"/>
                    <a:pt x="106918" y="1391"/>
                  </a:cubicBezTo>
                  <a:cubicBezTo>
                    <a:pt x="120888" y="3931"/>
                    <a:pt x="139938" y="21711"/>
                    <a:pt x="139938" y="21711"/>
                  </a:cubicBezTo>
                </a:path>
              </a:pathLst>
            </a:custGeom>
            <a:solidFill>
              <a:srgbClr val="94AAB8"/>
            </a:solidFill>
            <a:ln cap="sq">
              <a:noFill/>
              <a:prstDash val="solid"/>
              <a:miter/>
            </a:ln>
          </p:spPr>
        </p:sp>
      </p:grpSp>
      <p:grpSp>
        <p:nvGrpSpPr>
          <p:cNvPr id="5" name="Group 5"/>
          <p:cNvGrpSpPr/>
          <p:nvPr/>
        </p:nvGrpSpPr>
        <p:grpSpPr>
          <a:xfrm>
            <a:off x="3779520" y="9743122"/>
            <a:ext cx="194310" cy="192405"/>
            <a:chOff x="0" y="0"/>
            <a:chExt cx="259080" cy="256540"/>
          </a:xfrm>
        </p:grpSpPr>
        <p:sp>
          <p:nvSpPr>
            <p:cNvPr id="6" name="Freeform 6"/>
            <p:cNvSpPr/>
            <p:nvPr/>
          </p:nvSpPr>
          <p:spPr>
            <a:xfrm>
              <a:off x="47201" y="49802"/>
              <a:ext cx="157269" cy="159379"/>
            </a:xfrm>
            <a:custGeom>
              <a:avLst/>
              <a:gdLst/>
              <a:ahLst/>
              <a:cxnLst/>
              <a:rect l="l" t="t" r="r" b="b"/>
              <a:pathLst>
                <a:path w="157269" h="159379">
                  <a:moveTo>
                    <a:pt x="157269" y="55608"/>
                  </a:moveTo>
                  <a:cubicBezTo>
                    <a:pt x="153459" y="114028"/>
                    <a:pt x="133139" y="145778"/>
                    <a:pt x="112819" y="154668"/>
                  </a:cubicBezTo>
                  <a:cubicBezTo>
                    <a:pt x="91229" y="163558"/>
                    <a:pt x="54399" y="158478"/>
                    <a:pt x="35349" y="150858"/>
                  </a:cubicBezTo>
                  <a:cubicBezTo>
                    <a:pt x="22649" y="144508"/>
                    <a:pt x="13759" y="135618"/>
                    <a:pt x="7409" y="122918"/>
                  </a:cubicBezTo>
                  <a:cubicBezTo>
                    <a:pt x="-211" y="103868"/>
                    <a:pt x="-2751" y="64498"/>
                    <a:pt x="3599" y="45448"/>
                  </a:cubicBezTo>
                  <a:cubicBezTo>
                    <a:pt x="7409" y="31478"/>
                    <a:pt x="15029" y="22588"/>
                    <a:pt x="27729" y="14968"/>
                  </a:cubicBezTo>
                  <a:cubicBezTo>
                    <a:pt x="44239" y="4808"/>
                    <a:pt x="83609" y="-2812"/>
                    <a:pt x="102659" y="998"/>
                  </a:cubicBezTo>
                  <a:cubicBezTo>
                    <a:pt x="116629" y="3538"/>
                    <a:pt x="136949" y="21318"/>
                    <a:pt x="136949" y="21318"/>
                  </a:cubicBezTo>
                </a:path>
              </a:pathLst>
            </a:custGeom>
            <a:solidFill>
              <a:srgbClr val="94AAB8"/>
            </a:solidFill>
            <a:ln cap="sq">
              <a:noFill/>
              <a:prstDash val="solid"/>
              <a:miter/>
            </a:ln>
          </p:spPr>
        </p:sp>
      </p:grpSp>
      <p:sp>
        <p:nvSpPr>
          <p:cNvPr id="7" name="Freeform 7">
            <a:hlinkClick r:id="rId2" tooltip="https://github.com/deveveryday/data-bricks-health-voluntary/blob/main/VoluntariosDashboard%20data%20bricks%20project%20arquitetura%20de%20dados.drawio.png"/>
          </p:cNvPr>
          <p:cNvSpPr/>
          <p:nvPr/>
        </p:nvSpPr>
        <p:spPr>
          <a:xfrm>
            <a:off x="3061860" y="1028700"/>
            <a:ext cx="13156786" cy="9094628"/>
          </a:xfrm>
          <a:custGeom>
            <a:avLst/>
            <a:gdLst/>
            <a:ahLst/>
            <a:cxnLst/>
            <a:rect l="l" t="t" r="r" b="b"/>
            <a:pathLst>
              <a:path w="13156786" h="9094628">
                <a:moveTo>
                  <a:pt x="0" y="0"/>
                </a:moveTo>
                <a:lnTo>
                  <a:pt x="13156785" y="0"/>
                </a:lnTo>
                <a:lnTo>
                  <a:pt x="13156785" y="9094628"/>
                </a:lnTo>
                <a:lnTo>
                  <a:pt x="0" y="9094628"/>
                </a:lnTo>
                <a:lnTo>
                  <a:pt x="0" y="0"/>
                </a:lnTo>
                <a:close/>
              </a:path>
            </a:pathLst>
          </a:custGeom>
          <a:blipFill>
            <a:blip r:embed="rId3"/>
            <a:stretch>
              <a:fillRect/>
            </a:stretch>
          </a:blipFill>
        </p:spPr>
      </p:sp>
      <p:sp>
        <p:nvSpPr>
          <p:cNvPr id="8" name="TextBox 8"/>
          <p:cNvSpPr txBox="1"/>
          <p:nvPr/>
        </p:nvSpPr>
        <p:spPr>
          <a:xfrm>
            <a:off x="2021205" y="82331"/>
            <a:ext cx="15238095" cy="946150"/>
          </a:xfrm>
          <a:prstGeom prst="rect">
            <a:avLst/>
          </a:prstGeom>
        </p:spPr>
        <p:txBody>
          <a:bodyPr lIns="0" tIns="0" rIns="0" bIns="0" rtlCol="0" anchor="t">
            <a:spAutoFit/>
          </a:bodyPr>
          <a:lstStyle/>
          <a:p>
            <a:pPr algn="r">
              <a:lnSpc>
                <a:spcPts val="7700"/>
              </a:lnSpc>
            </a:pPr>
            <a:r>
              <a:rPr lang="en-US" sz="5500" dirty="0">
                <a:solidFill>
                  <a:srgbClr val="3B365F"/>
                </a:solidFill>
                <a:latin typeface="TAN Headline"/>
                <a:ea typeface="TAN Headline"/>
                <a:cs typeface="TAN Headline"/>
                <a:sym typeface="TAN Headline"/>
              </a:rPr>
              <a:t> </a:t>
            </a:r>
            <a:r>
              <a:rPr lang="en-US" sz="5500" dirty="0" err="1">
                <a:solidFill>
                  <a:srgbClr val="3B365F"/>
                </a:solidFill>
                <a:latin typeface="TAN Headline"/>
                <a:ea typeface="TAN Headline"/>
                <a:cs typeface="TAN Headline"/>
                <a:sym typeface="TAN Headline"/>
              </a:rPr>
              <a:t>Diagrama</a:t>
            </a:r>
            <a:r>
              <a:rPr lang="en-US" sz="5500" dirty="0">
                <a:solidFill>
                  <a:srgbClr val="3B365F"/>
                </a:solidFill>
                <a:latin typeface="TAN Headline"/>
                <a:ea typeface="TAN Headline"/>
                <a:cs typeface="TAN Headline"/>
                <a:sym typeface="TAN Headline"/>
              </a:rPr>
              <a:t> Estrela </a:t>
            </a:r>
            <a:r>
              <a:rPr lang="en-US" sz="5500" dirty="0" err="1">
                <a:solidFill>
                  <a:srgbClr val="3B365F"/>
                </a:solidFill>
                <a:latin typeface="TAN Headline"/>
                <a:ea typeface="TAN Headline"/>
                <a:cs typeface="TAN Headline"/>
                <a:sym typeface="TAN Headline"/>
              </a:rPr>
              <a:t>Criado</a:t>
            </a:r>
            <a:r>
              <a:rPr lang="en-US" sz="5500" dirty="0">
                <a:solidFill>
                  <a:srgbClr val="3B365F"/>
                </a:solidFill>
                <a:latin typeface="TAN Headline"/>
                <a:ea typeface="TAN Headline"/>
                <a:cs typeface="TAN Headline"/>
                <a:sym typeface="TAN Headline"/>
              </a:rPr>
              <a:t> no Draw.io</a:t>
            </a:r>
          </a:p>
        </p:txBody>
      </p:sp>
      <p:sp>
        <p:nvSpPr>
          <p:cNvPr id="9" name="TextBox 9"/>
          <p:cNvSpPr txBox="1"/>
          <p:nvPr/>
        </p:nvSpPr>
        <p:spPr>
          <a:xfrm>
            <a:off x="248483" y="9737204"/>
            <a:ext cx="1243342" cy="349022"/>
          </a:xfrm>
          <a:prstGeom prst="rect">
            <a:avLst/>
          </a:prstGeom>
        </p:spPr>
        <p:txBody>
          <a:bodyPr lIns="0" tIns="0" rIns="0" bIns="0" rtlCol="0" anchor="t">
            <a:spAutoFit/>
          </a:bodyPr>
          <a:lstStyle/>
          <a:p>
            <a:pPr algn="l">
              <a:lnSpc>
                <a:spcPts val="2812"/>
              </a:lnSpc>
            </a:pPr>
            <a:r>
              <a:rPr lang="en-US" sz="2008" u="sng" dirty="0" err="1">
                <a:solidFill>
                  <a:srgbClr val="3B365F"/>
                </a:solidFill>
                <a:latin typeface="Arimo"/>
                <a:ea typeface="Arimo"/>
                <a:cs typeface="Arimo"/>
                <a:sym typeface="Arimo"/>
                <a:hlinkClick r:id="rId4" tooltip="https://drive.google.com/file/d/1W1AsXpAr7aGaBnfDqOmAHaAbY40Kni7R/view?usp=drive_link"/>
              </a:rPr>
              <a:t>Diagrama</a:t>
            </a:r>
            <a:endParaRPr lang="en-US" sz="2008" u="sng" dirty="0">
              <a:solidFill>
                <a:srgbClr val="3B365F"/>
              </a:solidFill>
              <a:latin typeface="Arimo"/>
              <a:ea typeface="Arimo"/>
              <a:cs typeface="Arimo"/>
              <a:sym typeface="Arimo"/>
              <a:hlinkClick r:id="rId4" tooltip="https://drive.google.com/file/d/1W1AsXpAr7aGaBnfDqOmAHaAbY40Kni7R/view?usp=drive_lin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5" name="Freeform 5"/>
          <p:cNvSpPr/>
          <p:nvPr/>
        </p:nvSpPr>
        <p:spPr>
          <a:xfrm rot="-4012862" flipH="1">
            <a:off x="13537046" y="-341561"/>
            <a:ext cx="3778768" cy="3807323"/>
          </a:xfrm>
          <a:custGeom>
            <a:avLst/>
            <a:gdLst/>
            <a:ahLst/>
            <a:cxnLst/>
            <a:rect l="l" t="t" r="r" b="b"/>
            <a:pathLst>
              <a:path w="3778768" h="3807323">
                <a:moveTo>
                  <a:pt x="3778768" y="0"/>
                </a:moveTo>
                <a:lnTo>
                  <a:pt x="0" y="0"/>
                </a:lnTo>
                <a:lnTo>
                  <a:pt x="0" y="3807322"/>
                </a:lnTo>
                <a:lnTo>
                  <a:pt x="3778768" y="3807322"/>
                </a:lnTo>
                <a:lnTo>
                  <a:pt x="377876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8802704" y="8558415"/>
            <a:ext cx="1828678" cy="1399770"/>
          </a:xfrm>
          <a:custGeom>
            <a:avLst/>
            <a:gdLst/>
            <a:ahLst/>
            <a:cxnLst/>
            <a:rect l="l" t="t" r="r" b="b"/>
            <a:pathLst>
              <a:path w="1828678" h="1399770">
                <a:moveTo>
                  <a:pt x="0" y="0"/>
                </a:moveTo>
                <a:lnTo>
                  <a:pt x="1828677" y="0"/>
                </a:lnTo>
                <a:lnTo>
                  <a:pt x="1828677" y="1399770"/>
                </a:lnTo>
                <a:lnTo>
                  <a:pt x="0" y="13997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1443034" y="3113926"/>
            <a:ext cx="4339499" cy="5076793"/>
          </a:xfrm>
          <a:custGeom>
            <a:avLst/>
            <a:gdLst/>
            <a:ahLst/>
            <a:cxnLst/>
            <a:rect l="l" t="t" r="r" b="b"/>
            <a:pathLst>
              <a:path w="4339499" h="5076793">
                <a:moveTo>
                  <a:pt x="0" y="0"/>
                </a:moveTo>
                <a:lnTo>
                  <a:pt x="4339499" y="0"/>
                </a:lnTo>
                <a:lnTo>
                  <a:pt x="4339499" y="5076792"/>
                </a:lnTo>
                <a:lnTo>
                  <a:pt x="0" y="5076792"/>
                </a:lnTo>
                <a:lnTo>
                  <a:pt x="0" y="0"/>
                </a:lnTo>
                <a:close/>
              </a:path>
            </a:pathLst>
          </a:custGeom>
          <a:blipFill>
            <a:blip r:embed="rId6"/>
            <a:stretch>
              <a:fillRect/>
            </a:stretch>
          </a:blipFill>
        </p:spPr>
      </p:sp>
      <p:sp>
        <p:nvSpPr>
          <p:cNvPr id="8" name="TextBox 8"/>
          <p:cNvSpPr txBox="1"/>
          <p:nvPr/>
        </p:nvSpPr>
        <p:spPr>
          <a:xfrm>
            <a:off x="879619" y="457200"/>
            <a:ext cx="12225629" cy="946149"/>
          </a:xfrm>
          <a:prstGeom prst="rect">
            <a:avLst/>
          </a:prstGeom>
        </p:spPr>
        <p:txBody>
          <a:bodyPr lIns="0" tIns="0" rIns="0" bIns="0" rtlCol="0" anchor="t">
            <a:spAutoFit/>
          </a:bodyPr>
          <a:lstStyle/>
          <a:p>
            <a:pPr algn="l">
              <a:lnSpc>
                <a:spcPts val="7700"/>
              </a:lnSpc>
            </a:pPr>
            <a:r>
              <a:rPr lang="en-US" sz="5500">
                <a:solidFill>
                  <a:srgbClr val="3B365F"/>
                </a:solidFill>
                <a:latin typeface="TAN Headline"/>
                <a:ea typeface="TAN Headline"/>
                <a:cs typeface="TAN Headline"/>
                <a:sym typeface="TAN Headline"/>
              </a:rPr>
              <a:t>Granularidade da Tabela Fato</a:t>
            </a:r>
          </a:p>
        </p:txBody>
      </p:sp>
      <p:sp>
        <p:nvSpPr>
          <p:cNvPr id="9" name="TextBox 9"/>
          <p:cNvSpPr txBox="1"/>
          <p:nvPr/>
        </p:nvSpPr>
        <p:spPr>
          <a:xfrm>
            <a:off x="917794" y="2207488"/>
            <a:ext cx="7220589" cy="6250877"/>
          </a:xfrm>
          <a:prstGeom prst="rect">
            <a:avLst/>
          </a:prstGeom>
        </p:spPr>
        <p:txBody>
          <a:bodyPr lIns="0" tIns="0" rIns="0" bIns="0" rtlCol="0" anchor="t">
            <a:spAutoFit/>
          </a:bodyPr>
          <a:lstStyle/>
          <a:p>
            <a:pPr marL="0" lvl="0" indent="0" algn="l">
              <a:lnSpc>
                <a:spcPts val="4063"/>
              </a:lnSpc>
              <a:spcBef>
                <a:spcPct val="0"/>
              </a:spcBef>
            </a:pPr>
            <a:r>
              <a:rPr lang="en-US" sz="2902" dirty="0" err="1">
                <a:solidFill>
                  <a:srgbClr val="3B365F"/>
                </a:solidFill>
                <a:latin typeface="Coco Gothic"/>
                <a:ea typeface="Coco Gothic"/>
                <a:cs typeface="Coco Gothic"/>
                <a:sym typeface="Coco Gothic"/>
              </a:rPr>
              <a:t>Granularidade</a:t>
            </a:r>
            <a:r>
              <a:rPr lang="en-US" sz="2902" dirty="0">
                <a:solidFill>
                  <a:srgbClr val="3B365F"/>
                </a:solidFill>
                <a:latin typeface="Coco Gothic"/>
                <a:ea typeface="Coco Gothic"/>
                <a:cs typeface="Coco Gothic"/>
                <a:sym typeface="Coco Gothic"/>
              </a:rPr>
              <a:t> </a:t>
            </a:r>
            <a:r>
              <a:rPr lang="en-US" sz="2902" dirty="0" err="1">
                <a:solidFill>
                  <a:srgbClr val="3B365F"/>
                </a:solidFill>
                <a:latin typeface="Coco Gothic"/>
                <a:ea typeface="Coco Gothic"/>
                <a:cs typeface="Coco Gothic"/>
                <a:sym typeface="Coco Gothic"/>
              </a:rPr>
              <a:t>representa</a:t>
            </a:r>
            <a:r>
              <a:rPr lang="en-US" sz="2902" dirty="0">
                <a:solidFill>
                  <a:srgbClr val="3B365F"/>
                </a:solidFill>
                <a:latin typeface="Coco Gothic"/>
                <a:ea typeface="Coco Gothic"/>
                <a:cs typeface="Coco Gothic"/>
                <a:sym typeface="Coco Gothic"/>
              </a:rPr>
              <a:t> o </a:t>
            </a:r>
            <a:r>
              <a:rPr lang="en-US" sz="2902" dirty="0" err="1">
                <a:solidFill>
                  <a:srgbClr val="3B365F"/>
                </a:solidFill>
                <a:latin typeface="Coco Gothic"/>
                <a:ea typeface="Coco Gothic"/>
                <a:cs typeface="Coco Gothic"/>
                <a:sym typeface="Coco Gothic"/>
              </a:rPr>
              <a:t>nível</a:t>
            </a:r>
            <a:r>
              <a:rPr lang="en-US" sz="2902" dirty="0">
                <a:solidFill>
                  <a:srgbClr val="3B365F"/>
                </a:solidFill>
                <a:latin typeface="Coco Gothic"/>
                <a:ea typeface="Coco Gothic"/>
                <a:cs typeface="Coco Gothic"/>
                <a:sym typeface="Coco Gothic"/>
              </a:rPr>
              <a:t> de </a:t>
            </a:r>
            <a:r>
              <a:rPr lang="en-US" sz="2902" dirty="0" err="1">
                <a:solidFill>
                  <a:srgbClr val="3B365F"/>
                </a:solidFill>
                <a:latin typeface="Coco Gothic"/>
                <a:ea typeface="Coco Gothic"/>
                <a:cs typeface="Coco Gothic"/>
                <a:sym typeface="Coco Gothic"/>
              </a:rPr>
              <a:t>detalhe</a:t>
            </a:r>
            <a:r>
              <a:rPr lang="en-US" sz="2902" dirty="0">
                <a:solidFill>
                  <a:srgbClr val="3B365F"/>
                </a:solidFill>
                <a:latin typeface="Coco Gothic"/>
                <a:ea typeface="Coco Gothic"/>
                <a:cs typeface="Coco Gothic"/>
                <a:sym typeface="Coco Gothic"/>
              </a:rPr>
              <a:t> </a:t>
            </a:r>
            <a:r>
              <a:rPr lang="en-US" sz="2902" dirty="0" err="1">
                <a:solidFill>
                  <a:srgbClr val="3B365F"/>
                </a:solidFill>
                <a:latin typeface="Coco Gothic"/>
                <a:ea typeface="Coco Gothic"/>
                <a:cs typeface="Coco Gothic"/>
                <a:sym typeface="Coco Gothic"/>
              </a:rPr>
              <a:t>armazenado</a:t>
            </a:r>
            <a:r>
              <a:rPr lang="en-US" sz="2902" dirty="0">
                <a:solidFill>
                  <a:srgbClr val="3B365F"/>
                </a:solidFill>
                <a:latin typeface="Coco Gothic"/>
                <a:ea typeface="Coco Gothic"/>
                <a:cs typeface="Coco Gothic"/>
                <a:sym typeface="Coco Gothic"/>
              </a:rPr>
              <a:t> </a:t>
            </a:r>
            <a:r>
              <a:rPr lang="en-US" sz="2902" dirty="0" err="1">
                <a:solidFill>
                  <a:srgbClr val="3B365F"/>
                </a:solidFill>
                <a:latin typeface="Coco Gothic"/>
                <a:ea typeface="Coco Gothic"/>
                <a:cs typeface="Coco Gothic"/>
                <a:sym typeface="Coco Gothic"/>
              </a:rPr>
              <a:t>na</a:t>
            </a:r>
            <a:r>
              <a:rPr lang="en-US" sz="2902" dirty="0">
                <a:solidFill>
                  <a:srgbClr val="3B365F"/>
                </a:solidFill>
                <a:latin typeface="Coco Gothic"/>
                <a:ea typeface="Coco Gothic"/>
                <a:cs typeface="Coco Gothic"/>
                <a:sym typeface="Coco Gothic"/>
              </a:rPr>
              <a:t> </a:t>
            </a:r>
            <a:r>
              <a:rPr lang="en-US" sz="2902" dirty="0" err="1">
                <a:solidFill>
                  <a:srgbClr val="3B365F"/>
                </a:solidFill>
                <a:latin typeface="Coco Gothic"/>
                <a:ea typeface="Coco Gothic"/>
                <a:cs typeface="Coco Gothic"/>
                <a:sym typeface="Coco Gothic"/>
              </a:rPr>
              <a:t>tabela</a:t>
            </a:r>
            <a:r>
              <a:rPr lang="en-US" sz="2902" dirty="0">
                <a:solidFill>
                  <a:srgbClr val="3B365F"/>
                </a:solidFill>
                <a:latin typeface="Coco Gothic"/>
                <a:ea typeface="Coco Gothic"/>
                <a:cs typeface="Coco Gothic"/>
                <a:sym typeface="Coco Gothic"/>
              </a:rPr>
              <a:t> </a:t>
            </a:r>
            <a:r>
              <a:rPr lang="en-US" sz="2902" dirty="0" err="1">
                <a:solidFill>
                  <a:srgbClr val="3B365F"/>
                </a:solidFill>
                <a:latin typeface="Coco Gothic"/>
                <a:ea typeface="Coco Gothic"/>
                <a:cs typeface="Coco Gothic"/>
                <a:sym typeface="Coco Gothic"/>
              </a:rPr>
              <a:t>fato</a:t>
            </a:r>
            <a:r>
              <a:rPr lang="en-US" sz="2902" dirty="0">
                <a:solidFill>
                  <a:srgbClr val="3B365F"/>
                </a:solidFill>
                <a:latin typeface="Coco Gothic"/>
                <a:ea typeface="Coco Gothic"/>
                <a:cs typeface="Coco Gothic"/>
                <a:sym typeface="Coco Gothic"/>
              </a:rPr>
              <a:t>. Ela define </a:t>
            </a:r>
            <a:r>
              <a:rPr lang="en-US" sz="2902" dirty="0" err="1">
                <a:solidFill>
                  <a:srgbClr val="3B365F"/>
                </a:solidFill>
                <a:latin typeface="Coco Gothic"/>
                <a:ea typeface="Coco Gothic"/>
                <a:cs typeface="Coco Gothic"/>
                <a:sym typeface="Coco Gothic"/>
              </a:rPr>
              <a:t>exatamente</a:t>
            </a:r>
            <a:r>
              <a:rPr lang="en-US" sz="2902" dirty="0">
                <a:solidFill>
                  <a:srgbClr val="3B365F"/>
                </a:solidFill>
                <a:latin typeface="Coco Gothic"/>
                <a:ea typeface="Coco Gothic"/>
                <a:cs typeface="Coco Gothic"/>
                <a:sym typeface="Coco Gothic"/>
              </a:rPr>
              <a:t> o que </a:t>
            </a:r>
            <a:r>
              <a:rPr lang="en-US" sz="2902" dirty="0" err="1">
                <a:solidFill>
                  <a:srgbClr val="3B365F"/>
                </a:solidFill>
                <a:latin typeface="Coco Gothic"/>
                <a:ea typeface="Coco Gothic"/>
                <a:cs typeface="Coco Gothic"/>
                <a:sym typeface="Coco Gothic"/>
              </a:rPr>
              <a:t>cada</a:t>
            </a:r>
            <a:r>
              <a:rPr lang="en-US" sz="2902" dirty="0">
                <a:solidFill>
                  <a:srgbClr val="3B365F"/>
                </a:solidFill>
                <a:latin typeface="Coco Gothic"/>
                <a:ea typeface="Coco Gothic"/>
                <a:cs typeface="Coco Gothic"/>
                <a:sym typeface="Coco Gothic"/>
              </a:rPr>
              <a:t> </a:t>
            </a:r>
            <a:r>
              <a:rPr lang="en-US" sz="2902" dirty="0" err="1">
                <a:solidFill>
                  <a:srgbClr val="3B365F"/>
                </a:solidFill>
                <a:latin typeface="Coco Gothic"/>
                <a:ea typeface="Coco Gothic"/>
                <a:cs typeface="Coco Gothic"/>
                <a:sym typeface="Coco Gothic"/>
              </a:rPr>
              <a:t>linha</a:t>
            </a:r>
            <a:r>
              <a:rPr lang="en-US" sz="2902" dirty="0">
                <a:solidFill>
                  <a:srgbClr val="3B365F"/>
                </a:solidFill>
                <a:latin typeface="Coco Gothic"/>
                <a:ea typeface="Coco Gothic"/>
                <a:cs typeface="Coco Gothic"/>
                <a:sym typeface="Coco Gothic"/>
              </a:rPr>
              <a:t> da </a:t>
            </a:r>
            <a:r>
              <a:rPr lang="en-US" sz="2902" dirty="0" err="1">
                <a:solidFill>
                  <a:srgbClr val="3B365F"/>
                </a:solidFill>
                <a:latin typeface="Coco Gothic"/>
                <a:ea typeface="Coco Gothic"/>
                <a:cs typeface="Coco Gothic"/>
                <a:sym typeface="Coco Gothic"/>
              </a:rPr>
              <a:t>t</a:t>
            </a:r>
            <a:r>
              <a:rPr lang="en-US" sz="2902" u="none" strike="noStrike" dirty="0" err="1">
                <a:solidFill>
                  <a:srgbClr val="3B365F"/>
                </a:solidFill>
                <a:latin typeface="Coco Gothic"/>
                <a:ea typeface="Coco Gothic"/>
                <a:cs typeface="Coco Gothic"/>
                <a:sym typeface="Coco Gothic"/>
              </a:rPr>
              <a:t>abela</a:t>
            </a:r>
            <a:r>
              <a:rPr lang="en-US" sz="2902" u="none" strike="noStrike" dirty="0">
                <a:solidFill>
                  <a:srgbClr val="3B365F"/>
                </a:solidFill>
                <a:latin typeface="Coco Gothic"/>
                <a:ea typeface="Coco Gothic"/>
                <a:cs typeface="Coco Gothic"/>
                <a:sym typeface="Coco Gothic"/>
              </a:rPr>
              <a:t> </a:t>
            </a:r>
            <a:r>
              <a:rPr lang="en-US" sz="2902" u="none" strike="noStrike" dirty="0" err="1">
                <a:solidFill>
                  <a:srgbClr val="3B365F"/>
                </a:solidFill>
                <a:latin typeface="Coco Gothic"/>
                <a:ea typeface="Coco Gothic"/>
                <a:cs typeface="Coco Gothic"/>
                <a:sym typeface="Coco Gothic"/>
              </a:rPr>
              <a:t>representa</a:t>
            </a:r>
            <a:r>
              <a:rPr lang="en-US" sz="2902" u="none" strike="noStrike" dirty="0">
                <a:solidFill>
                  <a:srgbClr val="3B365F"/>
                </a:solidFill>
                <a:latin typeface="Coco Gothic"/>
                <a:ea typeface="Coco Gothic"/>
                <a:cs typeface="Coco Gothic"/>
                <a:sym typeface="Coco Gothic"/>
              </a:rPr>
              <a:t>.</a:t>
            </a:r>
          </a:p>
          <a:p>
            <a:pPr marL="0" lvl="0" indent="0" algn="l">
              <a:lnSpc>
                <a:spcPts val="4063"/>
              </a:lnSpc>
              <a:spcBef>
                <a:spcPct val="0"/>
              </a:spcBef>
            </a:pPr>
            <a:r>
              <a:rPr lang="en-US" sz="2902" u="none" strike="noStrike" dirty="0">
                <a:solidFill>
                  <a:srgbClr val="3B365F"/>
                </a:solidFill>
                <a:latin typeface="Coco Gothic"/>
                <a:ea typeface="Coco Gothic"/>
                <a:cs typeface="Coco Gothic"/>
                <a:sym typeface="Coco Gothic"/>
              </a:rPr>
              <a:t>No </a:t>
            </a:r>
            <a:r>
              <a:rPr lang="en-US" sz="2902" u="none" strike="noStrike" dirty="0" err="1">
                <a:solidFill>
                  <a:srgbClr val="3B365F"/>
                </a:solidFill>
                <a:latin typeface="Coco Gothic"/>
                <a:ea typeface="Coco Gothic"/>
                <a:cs typeface="Coco Gothic"/>
                <a:sym typeface="Coco Gothic"/>
              </a:rPr>
              <a:t>projeto</a:t>
            </a:r>
            <a:r>
              <a:rPr lang="en-US" sz="2902" u="none" strike="noStrike" dirty="0">
                <a:solidFill>
                  <a:srgbClr val="3B365F"/>
                </a:solidFill>
                <a:latin typeface="Coco Gothic"/>
                <a:ea typeface="Coco Gothic"/>
                <a:cs typeface="Coco Gothic"/>
                <a:sym typeface="Coco Gothic"/>
              </a:rPr>
              <a:t>, a </a:t>
            </a:r>
            <a:r>
              <a:rPr lang="en-US" sz="2902" u="none" strike="noStrike" dirty="0" err="1">
                <a:solidFill>
                  <a:srgbClr val="3B365F"/>
                </a:solidFill>
                <a:latin typeface="Coco Gothic"/>
                <a:ea typeface="Coco Gothic"/>
                <a:cs typeface="Coco Gothic"/>
                <a:sym typeface="Coco Gothic"/>
              </a:rPr>
              <a:t>granularidade</a:t>
            </a:r>
            <a:r>
              <a:rPr lang="en-US" sz="2902" u="none" strike="noStrike" dirty="0">
                <a:solidFill>
                  <a:srgbClr val="3B365F"/>
                </a:solidFill>
                <a:latin typeface="Coco Gothic"/>
                <a:ea typeface="Coco Gothic"/>
                <a:cs typeface="Coco Gothic"/>
                <a:sym typeface="Coco Gothic"/>
              </a:rPr>
              <a:t> da </a:t>
            </a:r>
            <a:r>
              <a:rPr lang="en-US" sz="2902" u="none" strike="noStrike" dirty="0" err="1">
                <a:solidFill>
                  <a:srgbClr val="3B365F"/>
                </a:solidFill>
                <a:latin typeface="Coco Gothic"/>
                <a:ea typeface="Coco Gothic"/>
                <a:cs typeface="Coco Gothic"/>
                <a:sym typeface="Coco Gothic"/>
              </a:rPr>
              <a:t>tabela</a:t>
            </a:r>
            <a:r>
              <a:rPr lang="en-US" sz="2902" u="none" strike="noStrike" dirty="0">
                <a:solidFill>
                  <a:srgbClr val="3B365F"/>
                </a:solidFill>
                <a:latin typeface="Coco Gothic"/>
                <a:ea typeface="Coco Gothic"/>
                <a:cs typeface="Coco Gothic"/>
                <a:sym typeface="Coco Gothic"/>
              </a:rPr>
              <a:t> </a:t>
            </a:r>
            <a:r>
              <a:rPr lang="en-US" sz="2902" u="none" strike="noStrike" dirty="0" err="1">
                <a:solidFill>
                  <a:srgbClr val="3B365F"/>
                </a:solidFill>
                <a:latin typeface="Coco Gothic"/>
                <a:ea typeface="Coco Gothic"/>
                <a:cs typeface="Coco Gothic"/>
                <a:sym typeface="Coco Gothic"/>
              </a:rPr>
              <a:t>fato_atendimento</a:t>
            </a:r>
            <a:r>
              <a:rPr lang="en-US" sz="2902" u="none" strike="noStrike" dirty="0">
                <a:solidFill>
                  <a:srgbClr val="3B365F"/>
                </a:solidFill>
                <a:latin typeface="Coco Gothic"/>
                <a:ea typeface="Coco Gothic"/>
                <a:cs typeface="Coco Gothic"/>
                <a:sym typeface="Coco Gothic"/>
              </a:rPr>
              <a:t> </a:t>
            </a:r>
            <a:r>
              <a:rPr lang="en-US" sz="2902" u="none" strike="noStrike" dirty="0" err="1">
                <a:solidFill>
                  <a:srgbClr val="3B365F"/>
                </a:solidFill>
                <a:latin typeface="Coco Gothic"/>
                <a:ea typeface="Coco Gothic"/>
                <a:cs typeface="Coco Gothic"/>
                <a:sym typeface="Coco Gothic"/>
              </a:rPr>
              <a:t>foi</a:t>
            </a:r>
            <a:r>
              <a:rPr lang="en-US" sz="2902" u="none" strike="noStrike" dirty="0">
                <a:solidFill>
                  <a:srgbClr val="3B365F"/>
                </a:solidFill>
                <a:latin typeface="Coco Gothic"/>
                <a:ea typeface="Coco Gothic"/>
                <a:cs typeface="Coco Gothic"/>
                <a:sym typeface="Coco Gothic"/>
              </a:rPr>
              <a:t> </a:t>
            </a:r>
            <a:r>
              <a:rPr lang="en-US" sz="2902" u="none" strike="noStrike" dirty="0" err="1">
                <a:solidFill>
                  <a:srgbClr val="3B365F"/>
                </a:solidFill>
                <a:latin typeface="Coco Gothic"/>
                <a:ea typeface="Coco Gothic"/>
                <a:cs typeface="Coco Gothic"/>
                <a:sym typeface="Coco Gothic"/>
              </a:rPr>
              <a:t>definida</a:t>
            </a:r>
            <a:r>
              <a:rPr lang="en-US" sz="2902" u="none" strike="noStrike" dirty="0">
                <a:solidFill>
                  <a:srgbClr val="3B365F"/>
                </a:solidFill>
                <a:latin typeface="Coco Gothic"/>
                <a:ea typeface="Coco Gothic"/>
                <a:cs typeface="Coco Gothic"/>
                <a:sym typeface="Coco Gothic"/>
              </a:rPr>
              <a:t> </a:t>
            </a:r>
            <a:r>
              <a:rPr lang="en-US" sz="2902" u="none" strike="noStrike" dirty="0" err="1">
                <a:solidFill>
                  <a:srgbClr val="3B365F"/>
                </a:solidFill>
                <a:latin typeface="Coco Gothic"/>
                <a:ea typeface="Coco Gothic"/>
                <a:cs typeface="Coco Gothic"/>
                <a:sym typeface="Coco Gothic"/>
              </a:rPr>
              <a:t>como</a:t>
            </a:r>
            <a:r>
              <a:rPr lang="en-US" sz="2902" u="none" strike="noStrike" dirty="0">
                <a:solidFill>
                  <a:srgbClr val="3B365F"/>
                </a:solidFill>
                <a:latin typeface="Coco Gothic"/>
                <a:ea typeface="Coco Gothic"/>
                <a:cs typeface="Coco Gothic"/>
                <a:sym typeface="Coco Gothic"/>
              </a:rPr>
              <a:t>:</a:t>
            </a:r>
          </a:p>
          <a:p>
            <a:pPr marL="0" lvl="0" indent="0" algn="l">
              <a:lnSpc>
                <a:spcPts val="4063"/>
              </a:lnSpc>
              <a:spcBef>
                <a:spcPct val="0"/>
              </a:spcBef>
            </a:pPr>
            <a:endParaRPr lang="en-US" sz="2902" u="none" strike="noStrike" dirty="0">
              <a:solidFill>
                <a:srgbClr val="3B365F"/>
              </a:solidFill>
              <a:latin typeface="Coco Gothic"/>
              <a:ea typeface="Coco Gothic"/>
              <a:cs typeface="Coco Gothic"/>
              <a:sym typeface="Coco Gothic"/>
            </a:endParaRPr>
          </a:p>
          <a:p>
            <a:pPr marL="0" lvl="0" indent="0" algn="l">
              <a:lnSpc>
                <a:spcPts val="4203"/>
              </a:lnSpc>
              <a:spcBef>
                <a:spcPct val="0"/>
              </a:spcBef>
            </a:pPr>
            <a:r>
              <a:rPr lang="en-US" sz="3002" u="none" strike="noStrike" dirty="0">
                <a:solidFill>
                  <a:srgbClr val="3B365F"/>
                </a:solidFill>
                <a:latin typeface="Coco Gothic"/>
                <a:ea typeface="Coco Gothic"/>
                <a:cs typeface="Coco Gothic"/>
                <a:sym typeface="Coco Gothic"/>
              </a:rPr>
              <a:t>“</a:t>
            </a:r>
            <a:r>
              <a:rPr lang="en-US" sz="3002" b="1" u="none" strike="noStrike" dirty="0" err="1">
                <a:solidFill>
                  <a:srgbClr val="3B365F"/>
                </a:solidFill>
                <a:latin typeface="Coco Gothic Bold"/>
                <a:ea typeface="Coco Gothic Bold"/>
                <a:cs typeface="Coco Gothic Bold"/>
                <a:sym typeface="Coco Gothic Bold"/>
              </a:rPr>
              <a:t>Cada</a:t>
            </a:r>
            <a:r>
              <a:rPr lang="en-US" sz="3002" b="1" u="none" strike="noStrike" dirty="0">
                <a:solidFill>
                  <a:srgbClr val="3B365F"/>
                </a:solidFill>
                <a:latin typeface="Coco Gothic Bold"/>
                <a:ea typeface="Coco Gothic Bold"/>
                <a:cs typeface="Coco Gothic Bold"/>
                <a:sym typeface="Coco Gothic Bold"/>
              </a:rPr>
              <a:t> </a:t>
            </a:r>
            <a:r>
              <a:rPr lang="en-US" sz="3002" b="1" u="none" strike="noStrike" dirty="0" err="1">
                <a:solidFill>
                  <a:srgbClr val="3B365F"/>
                </a:solidFill>
                <a:latin typeface="Coco Gothic Bold"/>
                <a:ea typeface="Coco Gothic Bold"/>
                <a:cs typeface="Coco Gothic Bold"/>
                <a:sym typeface="Coco Gothic Bold"/>
              </a:rPr>
              <a:t>linha</a:t>
            </a:r>
            <a:r>
              <a:rPr lang="en-US" sz="3002" b="1" u="none" strike="noStrike" dirty="0">
                <a:solidFill>
                  <a:srgbClr val="3B365F"/>
                </a:solidFill>
                <a:latin typeface="Coco Gothic Bold"/>
                <a:ea typeface="Coco Gothic Bold"/>
                <a:cs typeface="Coco Gothic Bold"/>
                <a:sym typeface="Coco Gothic Bold"/>
              </a:rPr>
              <a:t> </a:t>
            </a:r>
            <a:r>
              <a:rPr lang="en-US" sz="3002" b="1" u="none" strike="noStrike" dirty="0" err="1">
                <a:solidFill>
                  <a:srgbClr val="3B365F"/>
                </a:solidFill>
                <a:latin typeface="Coco Gothic Bold"/>
                <a:ea typeface="Coco Gothic Bold"/>
                <a:cs typeface="Coco Gothic Bold"/>
                <a:sym typeface="Coco Gothic Bold"/>
              </a:rPr>
              <a:t>representa</a:t>
            </a:r>
            <a:r>
              <a:rPr lang="en-US" sz="3002" u="none" strike="noStrike" dirty="0">
                <a:solidFill>
                  <a:srgbClr val="3B365F"/>
                </a:solidFill>
                <a:latin typeface="Coco Gothic"/>
                <a:ea typeface="Coco Gothic"/>
                <a:cs typeface="Coco Gothic"/>
                <a:sym typeface="Coco Gothic"/>
              </a:rPr>
              <a:t> um </a:t>
            </a:r>
            <a:r>
              <a:rPr lang="en-US" sz="3002" u="none" strike="noStrike" dirty="0" err="1">
                <a:solidFill>
                  <a:srgbClr val="3B365F"/>
                </a:solidFill>
                <a:latin typeface="Coco Gothic"/>
                <a:ea typeface="Coco Gothic"/>
                <a:cs typeface="Coco Gothic"/>
                <a:sym typeface="Coco Gothic"/>
              </a:rPr>
              <a:t>atendimento</a:t>
            </a:r>
            <a:r>
              <a:rPr lang="en-US" sz="3002" u="none" strike="noStrike" dirty="0">
                <a:solidFill>
                  <a:srgbClr val="3B365F"/>
                </a:solidFill>
                <a:latin typeface="Coco Gothic"/>
                <a:ea typeface="Coco Gothic"/>
                <a:cs typeface="Coco Gothic"/>
                <a:sym typeface="Coco Gothic"/>
              </a:rPr>
              <a:t> </a:t>
            </a:r>
            <a:r>
              <a:rPr lang="en-US" sz="3002" u="none" strike="noStrike" dirty="0" err="1">
                <a:solidFill>
                  <a:srgbClr val="3B365F"/>
                </a:solidFill>
                <a:latin typeface="Coco Gothic"/>
                <a:ea typeface="Coco Gothic"/>
                <a:cs typeface="Coco Gothic"/>
                <a:sym typeface="Coco Gothic"/>
              </a:rPr>
              <a:t>voluntário</a:t>
            </a:r>
            <a:r>
              <a:rPr lang="en-US" sz="3002" u="none" strike="noStrike" dirty="0">
                <a:solidFill>
                  <a:srgbClr val="3B365F"/>
                </a:solidFill>
                <a:latin typeface="Coco Gothic"/>
                <a:ea typeface="Coco Gothic"/>
                <a:cs typeface="Coco Gothic"/>
                <a:sym typeface="Coco Gothic"/>
              </a:rPr>
              <a:t> </a:t>
            </a:r>
            <a:r>
              <a:rPr lang="en-US" sz="3002" u="none" strike="noStrike" dirty="0" err="1">
                <a:solidFill>
                  <a:srgbClr val="3B365F"/>
                </a:solidFill>
                <a:latin typeface="Coco Gothic"/>
                <a:ea typeface="Coco Gothic"/>
                <a:cs typeface="Coco Gothic"/>
                <a:sym typeface="Coco Gothic"/>
              </a:rPr>
              <a:t>realizado</a:t>
            </a:r>
            <a:r>
              <a:rPr lang="en-US" sz="3002" u="none" strike="noStrike" dirty="0">
                <a:solidFill>
                  <a:srgbClr val="3B365F"/>
                </a:solidFill>
                <a:latin typeface="Coco Gothic"/>
                <a:ea typeface="Coco Gothic"/>
                <a:cs typeface="Coco Gothic"/>
                <a:sym typeface="Coco Gothic"/>
              </a:rPr>
              <a:t> </a:t>
            </a:r>
            <a:r>
              <a:rPr lang="en-US" sz="3002" u="none" strike="noStrike" dirty="0" err="1">
                <a:solidFill>
                  <a:srgbClr val="3B365F"/>
                </a:solidFill>
                <a:latin typeface="Coco Gothic"/>
                <a:ea typeface="Coco Gothic"/>
                <a:cs typeface="Coco Gothic"/>
                <a:sym typeface="Coco Gothic"/>
              </a:rPr>
              <a:t>em</a:t>
            </a:r>
            <a:r>
              <a:rPr lang="en-US" sz="3002" u="none" strike="noStrike" dirty="0">
                <a:solidFill>
                  <a:srgbClr val="3B365F"/>
                </a:solidFill>
                <a:latin typeface="Coco Gothic"/>
                <a:ea typeface="Coco Gothic"/>
                <a:cs typeface="Coco Gothic"/>
                <a:sym typeface="Coco Gothic"/>
              </a:rPr>
              <a:t> um hospital, </a:t>
            </a:r>
            <a:r>
              <a:rPr lang="en-US" sz="3002" u="none" strike="noStrike" dirty="0" err="1">
                <a:solidFill>
                  <a:srgbClr val="3B365F"/>
                </a:solidFill>
                <a:latin typeface="Coco Gothic"/>
                <a:ea typeface="Coco Gothic"/>
                <a:cs typeface="Coco Gothic"/>
                <a:sym typeface="Coco Gothic"/>
              </a:rPr>
              <a:t>associado</a:t>
            </a:r>
            <a:r>
              <a:rPr lang="en-US" sz="3002" u="none" strike="noStrike" dirty="0">
                <a:solidFill>
                  <a:srgbClr val="3B365F"/>
                </a:solidFill>
                <a:latin typeface="Coco Gothic"/>
                <a:ea typeface="Coco Gothic"/>
                <a:cs typeface="Coco Gothic"/>
                <a:sym typeface="Coco Gothic"/>
              </a:rPr>
              <a:t> a um </a:t>
            </a:r>
            <a:r>
              <a:rPr lang="en-US" sz="3002" u="none" strike="noStrike" dirty="0" err="1">
                <a:solidFill>
                  <a:srgbClr val="3B365F"/>
                </a:solidFill>
                <a:latin typeface="Coco Gothic"/>
                <a:ea typeface="Coco Gothic"/>
                <a:cs typeface="Coco Gothic"/>
                <a:sym typeface="Coco Gothic"/>
              </a:rPr>
              <a:t>voluntário</a:t>
            </a:r>
            <a:r>
              <a:rPr lang="en-US" sz="3002" u="none" strike="noStrike" dirty="0">
                <a:solidFill>
                  <a:srgbClr val="3B365F"/>
                </a:solidFill>
                <a:latin typeface="Coco Gothic"/>
                <a:ea typeface="Coco Gothic"/>
                <a:cs typeface="Coco Gothic"/>
                <a:sym typeface="Coco Gothic"/>
              </a:rPr>
              <a:t>, </a:t>
            </a:r>
            <a:r>
              <a:rPr lang="en-US" sz="3002" u="none" strike="noStrike" dirty="0" err="1">
                <a:solidFill>
                  <a:srgbClr val="3B365F"/>
                </a:solidFill>
                <a:latin typeface="Coco Gothic"/>
                <a:ea typeface="Coco Gothic"/>
                <a:cs typeface="Coco Gothic"/>
                <a:sym typeface="Coco Gothic"/>
              </a:rPr>
              <a:t>atividade</a:t>
            </a:r>
            <a:r>
              <a:rPr lang="en-US" sz="3002" u="none" strike="noStrike" dirty="0">
                <a:solidFill>
                  <a:srgbClr val="3B365F"/>
                </a:solidFill>
                <a:latin typeface="Coco Gothic"/>
                <a:ea typeface="Coco Gothic"/>
                <a:cs typeface="Coco Gothic"/>
                <a:sym typeface="Coco Gothic"/>
              </a:rPr>
              <a:t>, data, local e </a:t>
            </a:r>
            <a:r>
              <a:rPr lang="en-US" sz="3002" u="none" strike="noStrike" dirty="0" err="1">
                <a:solidFill>
                  <a:srgbClr val="3B365F"/>
                </a:solidFill>
                <a:latin typeface="Coco Gothic"/>
                <a:ea typeface="Coco Gothic"/>
                <a:cs typeface="Coco Gothic"/>
                <a:sym typeface="Coco Gothic"/>
              </a:rPr>
              <a:t>período</a:t>
            </a:r>
            <a:r>
              <a:rPr lang="en-US" sz="3002" u="none" strike="noStrike" dirty="0">
                <a:solidFill>
                  <a:srgbClr val="3B365F"/>
                </a:solidFill>
                <a:latin typeface="Coco Gothic"/>
                <a:ea typeface="Coco Gothic"/>
                <a:cs typeface="Coco Gothic"/>
                <a:sym typeface="Coco Gothic"/>
              </a:rPr>
              <a:t> do dia.”</a:t>
            </a:r>
          </a:p>
          <a:p>
            <a:pPr marL="0" lvl="0" indent="0" algn="l">
              <a:lnSpc>
                <a:spcPts val="4063"/>
              </a:lnSpc>
              <a:spcBef>
                <a:spcPct val="0"/>
              </a:spcBef>
            </a:pPr>
            <a:endParaRPr lang="en-US" sz="3002" u="none" strike="noStrike" dirty="0">
              <a:solidFill>
                <a:srgbClr val="3B365F"/>
              </a:solidFill>
              <a:latin typeface="Coco Gothic"/>
              <a:ea typeface="Coco Gothic"/>
              <a:cs typeface="Coco Gothic"/>
              <a:sym typeface="Coco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a:off x="1028700" y="4539805"/>
            <a:ext cx="6134324" cy="3308600"/>
          </a:xfrm>
          <a:custGeom>
            <a:avLst/>
            <a:gdLst/>
            <a:ahLst/>
            <a:cxnLst/>
            <a:rect l="l" t="t" r="r" b="b"/>
            <a:pathLst>
              <a:path w="6134324" h="3308600">
                <a:moveTo>
                  <a:pt x="0" y="0"/>
                </a:moveTo>
                <a:lnTo>
                  <a:pt x="6134324" y="0"/>
                </a:lnTo>
                <a:lnTo>
                  <a:pt x="6134324" y="3308600"/>
                </a:lnTo>
                <a:lnTo>
                  <a:pt x="0" y="3308600"/>
                </a:lnTo>
                <a:lnTo>
                  <a:pt x="0" y="0"/>
                </a:lnTo>
                <a:close/>
              </a:path>
            </a:pathLst>
          </a:custGeom>
          <a:blipFill>
            <a:blip r:embed="rId2"/>
            <a:stretch>
              <a:fillRect/>
            </a:stretch>
          </a:blipFill>
        </p:spPr>
      </p:sp>
      <p:sp>
        <p:nvSpPr>
          <p:cNvPr id="3" name="TextBox 3"/>
          <p:cNvSpPr txBox="1"/>
          <p:nvPr/>
        </p:nvSpPr>
        <p:spPr>
          <a:xfrm>
            <a:off x="2855505" y="415409"/>
            <a:ext cx="12576991" cy="946149"/>
          </a:xfrm>
          <a:prstGeom prst="rect">
            <a:avLst/>
          </a:prstGeom>
        </p:spPr>
        <p:txBody>
          <a:bodyPr lIns="0" tIns="0" rIns="0" bIns="0" rtlCol="0" anchor="t">
            <a:spAutoFit/>
          </a:bodyPr>
          <a:lstStyle/>
          <a:p>
            <a:pPr algn="ctr">
              <a:lnSpc>
                <a:spcPts val="7700"/>
              </a:lnSpc>
            </a:pPr>
            <a:r>
              <a:rPr lang="en-US" sz="5500">
                <a:solidFill>
                  <a:srgbClr val="3B365F"/>
                </a:solidFill>
                <a:latin typeface="TAN Headline"/>
                <a:ea typeface="TAN Headline"/>
                <a:cs typeface="TAN Headline"/>
                <a:sym typeface="TAN Headline"/>
              </a:rPr>
              <a:t>Uso de Delta Tables</a:t>
            </a:r>
          </a:p>
        </p:txBody>
      </p:sp>
      <p:sp>
        <p:nvSpPr>
          <p:cNvPr id="4" name="TextBox 4"/>
          <p:cNvSpPr txBox="1"/>
          <p:nvPr/>
        </p:nvSpPr>
        <p:spPr>
          <a:xfrm>
            <a:off x="1028700" y="2337606"/>
            <a:ext cx="7504144" cy="1508938"/>
          </a:xfrm>
          <a:prstGeom prst="rect">
            <a:avLst/>
          </a:prstGeom>
        </p:spPr>
        <p:txBody>
          <a:bodyPr lIns="0" tIns="0" rIns="0" bIns="0" rtlCol="0" anchor="t">
            <a:spAutoFit/>
          </a:bodyPr>
          <a:lstStyle/>
          <a:p>
            <a:pPr marL="0" lvl="0" indent="0" algn="l">
              <a:lnSpc>
                <a:spcPts val="3980"/>
              </a:lnSpc>
              <a:spcBef>
                <a:spcPct val="0"/>
              </a:spcBef>
            </a:pPr>
            <a:r>
              <a:rPr lang="en-US" sz="2842">
                <a:solidFill>
                  <a:srgbClr val="3B365F"/>
                </a:solidFill>
                <a:latin typeface="Coco Gothic"/>
                <a:ea typeface="Coco Gothic"/>
                <a:cs typeface="Coco Gothic"/>
                <a:sym typeface="Coco Gothic"/>
              </a:rPr>
              <a:t>As tabelas foram criadas no formato Delta para seguir o padrão de armazenamento analítico utilizado no Databricks.</a:t>
            </a:r>
          </a:p>
        </p:txBody>
      </p:sp>
      <p:sp>
        <p:nvSpPr>
          <p:cNvPr id="5" name="TextBox 5"/>
          <p:cNvSpPr txBox="1"/>
          <p:nvPr/>
        </p:nvSpPr>
        <p:spPr>
          <a:xfrm>
            <a:off x="11000974" y="2347131"/>
            <a:ext cx="5823133" cy="448202"/>
          </a:xfrm>
          <a:prstGeom prst="rect">
            <a:avLst/>
          </a:prstGeom>
        </p:spPr>
        <p:txBody>
          <a:bodyPr lIns="0" tIns="0" rIns="0" bIns="0" rtlCol="0" anchor="t">
            <a:spAutoFit/>
          </a:bodyPr>
          <a:lstStyle/>
          <a:p>
            <a:pPr algn="ctr">
              <a:lnSpc>
                <a:spcPts val="3645"/>
              </a:lnSpc>
            </a:pPr>
            <a:r>
              <a:rPr lang="en-US" sz="2604" b="1">
                <a:solidFill>
                  <a:srgbClr val="3B365F"/>
                </a:solidFill>
                <a:latin typeface="Open Sans Bold"/>
                <a:ea typeface="Open Sans Bold"/>
                <a:cs typeface="Open Sans Bold"/>
                <a:sym typeface="Open Sans Bold"/>
              </a:rPr>
              <a:t>Tabelas Criadas:</a:t>
            </a:r>
          </a:p>
        </p:txBody>
      </p:sp>
      <p:sp>
        <p:nvSpPr>
          <p:cNvPr id="6" name="TextBox 6"/>
          <p:cNvSpPr txBox="1"/>
          <p:nvPr/>
        </p:nvSpPr>
        <p:spPr>
          <a:xfrm>
            <a:off x="12255020" y="3020057"/>
            <a:ext cx="4163617" cy="3752393"/>
          </a:xfrm>
          <a:prstGeom prst="rect">
            <a:avLst/>
          </a:prstGeom>
        </p:spPr>
        <p:txBody>
          <a:bodyPr lIns="0" tIns="0" rIns="0" bIns="0" rtlCol="0" anchor="t">
            <a:spAutoFit/>
          </a:bodyPr>
          <a:lstStyle/>
          <a:p>
            <a:pPr marL="570619" lvl="1" indent="-285309" algn="l">
              <a:lnSpc>
                <a:spcPts val="3700"/>
              </a:lnSpc>
              <a:buFont typeface="Arial"/>
              <a:buChar char="•"/>
            </a:pPr>
            <a:r>
              <a:rPr lang="en-US" sz="2642">
                <a:solidFill>
                  <a:srgbClr val="3B365F"/>
                </a:solidFill>
                <a:latin typeface="Coco Gothic"/>
                <a:ea typeface="Coco Gothic"/>
                <a:cs typeface="Coco Gothic"/>
                <a:sym typeface="Coco Gothic"/>
              </a:rPr>
              <a:t>dim_voluntario</a:t>
            </a:r>
          </a:p>
          <a:p>
            <a:pPr marL="570619" lvl="1" indent="-285309" algn="l">
              <a:lnSpc>
                <a:spcPts val="3700"/>
              </a:lnSpc>
              <a:buFont typeface="Arial"/>
              <a:buChar char="•"/>
            </a:pPr>
            <a:r>
              <a:rPr lang="en-US" sz="2642">
                <a:solidFill>
                  <a:srgbClr val="3B365F"/>
                </a:solidFill>
                <a:latin typeface="Coco Gothic"/>
                <a:ea typeface="Coco Gothic"/>
                <a:cs typeface="Coco Gothic"/>
                <a:sym typeface="Coco Gothic"/>
              </a:rPr>
              <a:t>dim_atividade</a:t>
            </a:r>
          </a:p>
          <a:p>
            <a:pPr marL="570619" lvl="1" indent="-285309" algn="l">
              <a:lnSpc>
                <a:spcPts val="3700"/>
              </a:lnSpc>
              <a:buFont typeface="Arial"/>
              <a:buChar char="•"/>
            </a:pPr>
            <a:r>
              <a:rPr lang="en-US" sz="2642">
                <a:solidFill>
                  <a:srgbClr val="3B365F"/>
                </a:solidFill>
                <a:latin typeface="Coco Gothic"/>
                <a:ea typeface="Coco Gothic"/>
                <a:cs typeface="Coco Gothic"/>
                <a:sym typeface="Coco Gothic"/>
              </a:rPr>
              <a:t>dim_hospital</a:t>
            </a:r>
          </a:p>
          <a:p>
            <a:pPr marL="570619" lvl="1" indent="-285309" algn="l">
              <a:lnSpc>
                <a:spcPts val="3700"/>
              </a:lnSpc>
              <a:buFont typeface="Arial"/>
              <a:buChar char="•"/>
            </a:pPr>
            <a:r>
              <a:rPr lang="en-US" sz="2642">
                <a:solidFill>
                  <a:srgbClr val="3B365F"/>
                </a:solidFill>
                <a:latin typeface="Coco Gothic"/>
                <a:ea typeface="Coco Gothic"/>
                <a:cs typeface="Coco Gothic"/>
                <a:sym typeface="Coco Gothic"/>
              </a:rPr>
              <a:t>dim_local</a:t>
            </a:r>
          </a:p>
          <a:p>
            <a:pPr marL="570619" lvl="1" indent="-285309" algn="l">
              <a:lnSpc>
                <a:spcPts val="3700"/>
              </a:lnSpc>
              <a:buFont typeface="Arial"/>
              <a:buChar char="•"/>
            </a:pPr>
            <a:r>
              <a:rPr lang="en-US" sz="2642">
                <a:solidFill>
                  <a:srgbClr val="3B365F"/>
                </a:solidFill>
                <a:latin typeface="Coco Gothic"/>
                <a:ea typeface="Coco Gothic"/>
                <a:cs typeface="Coco Gothic"/>
                <a:sym typeface="Coco Gothic"/>
              </a:rPr>
              <a:t>dim_data_atendimento</a:t>
            </a:r>
          </a:p>
          <a:p>
            <a:pPr marL="570619" lvl="1" indent="-285309" algn="l">
              <a:lnSpc>
                <a:spcPts val="3700"/>
              </a:lnSpc>
              <a:buFont typeface="Arial"/>
              <a:buChar char="•"/>
            </a:pPr>
            <a:r>
              <a:rPr lang="en-US" sz="2642">
                <a:solidFill>
                  <a:srgbClr val="3B365F"/>
                </a:solidFill>
                <a:latin typeface="Coco Gothic"/>
                <a:ea typeface="Coco Gothic"/>
                <a:cs typeface="Coco Gothic"/>
                <a:sym typeface="Coco Gothic"/>
              </a:rPr>
              <a:t>dim_periodo_horario</a:t>
            </a:r>
          </a:p>
          <a:p>
            <a:pPr marL="570619" lvl="1" indent="-285309" algn="l">
              <a:lnSpc>
                <a:spcPts val="3700"/>
              </a:lnSpc>
              <a:buFont typeface="Arial"/>
              <a:buChar char="•"/>
            </a:pPr>
            <a:r>
              <a:rPr lang="en-US" sz="2642">
                <a:solidFill>
                  <a:srgbClr val="3B365F"/>
                </a:solidFill>
                <a:latin typeface="Coco Gothic"/>
                <a:ea typeface="Coco Gothic"/>
                <a:cs typeface="Coco Gothic"/>
                <a:sym typeface="Coco Gothic"/>
              </a:rPr>
              <a:t>fato_atendimento</a:t>
            </a:r>
          </a:p>
          <a:p>
            <a:pPr marL="0" lvl="0" indent="0" algn="l">
              <a:lnSpc>
                <a:spcPts val="3700"/>
              </a:lnSpc>
              <a:spcBef>
                <a:spcPct val="0"/>
              </a:spcBef>
            </a:pPr>
            <a:endParaRPr lang="en-US" sz="2642">
              <a:solidFill>
                <a:srgbClr val="3B365F"/>
              </a:solidFill>
              <a:latin typeface="Coco Gothic"/>
              <a:ea typeface="Coco Gothic"/>
              <a:cs typeface="Coco Gothic"/>
              <a:sym typeface="Coco Gothic"/>
            </a:endParaRPr>
          </a:p>
        </p:txBody>
      </p:sp>
      <p:sp>
        <p:nvSpPr>
          <p:cNvPr id="7" name="TextBox 7"/>
          <p:cNvSpPr txBox="1"/>
          <p:nvPr/>
        </p:nvSpPr>
        <p:spPr>
          <a:xfrm>
            <a:off x="12465648" y="6879765"/>
            <a:ext cx="3276565" cy="459922"/>
          </a:xfrm>
          <a:prstGeom prst="rect">
            <a:avLst/>
          </a:prstGeom>
        </p:spPr>
        <p:txBody>
          <a:bodyPr lIns="0" tIns="0" rIns="0" bIns="0" rtlCol="0" anchor="t">
            <a:spAutoFit/>
          </a:bodyPr>
          <a:lstStyle/>
          <a:p>
            <a:pPr algn="ctr">
              <a:lnSpc>
                <a:spcPts val="3755"/>
              </a:lnSpc>
            </a:pPr>
            <a:r>
              <a:rPr lang="en-US" sz="2682" b="1">
                <a:solidFill>
                  <a:srgbClr val="3B365F"/>
                </a:solidFill>
                <a:latin typeface="Open Sans Bold"/>
                <a:ea typeface="Open Sans Bold"/>
                <a:cs typeface="Open Sans Bold"/>
                <a:sym typeface="Open Sans Bold"/>
              </a:rPr>
              <a:t>✔ USING DELTA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grpSp>
        <p:nvGrpSpPr>
          <p:cNvPr id="2" name="Group 2"/>
          <p:cNvGrpSpPr/>
          <p:nvPr/>
        </p:nvGrpSpPr>
        <p:grpSpPr>
          <a:xfrm>
            <a:off x="8237820" y="2187098"/>
            <a:ext cx="3438881" cy="2454929"/>
            <a:chOff x="0" y="0"/>
            <a:chExt cx="4585175" cy="3273239"/>
          </a:xfrm>
        </p:grpSpPr>
        <p:grpSp>
          <p:nvGrpSpPr>
            <p:cNvPr id="3" name="Group 3"/>
            <p:cNvGrpSpPr/>
            <p:nvPr/>
          </p:nvGrpSpPr>
          <p:grpSpPr>
            <a:xfrm>
              <a:off x="0" y="0"/>
              <a:ext cx="4585175" cy="3273239"/>
              <a:chOff x="0" y="0"/>
              <a:chExt cx="1065676" cy="760759"/>
            </a:xfrm>
          </p:grpSpPr>
          <p:sp>
            <p:nvSpPr>
              <p:cNvPr id="4" name="Freeform 4"/>
              <p:cNvSpPr/>
              <p:nvPr/>
            </p:nvSpPr>
            <p:spPr>
              <a:xfrm>
                <a:off x="0" y="0"/>
                <a:ext cx="1065676" cy="760759"/>
              </a:xfrm>
              <a:custGeom>
                <a:avLst/>
                <a:gdLst/>
                <a:ahLst/>
                <a:cxnLst/>
                <a:rect l="l" t="t" r="r" b="b"/>
                <a:pathLst>
                  <a:path w="1065676" h="760759">
                    <a:moveTo>
                      <a:pt x="56827" y="0"/>
                    </a:moveTo>
                    <a:lnTo>
                      <a:pt x="1008849" y="0"/>
                    </a:lnTo>
                    <a:cubicBezTo>
                      <a:pt x="1023920" y="0"/>
                      <a:pt x="1038374" y="5987"/>
                      <a:pt x="1049031" y="16644"/>
                    </a:cubicBezTo>
                    <a:cubicBezTo>
                      <a:pt x="1059688" y="27301"/>
                      <a:pt x="1065676" y="41755"/>
                      <a:pt x="1065676" y="56827"/>
                    </a:cubicBezTo>
                    <a:lnTo>
                      <a:pt x="1065676" y="703932"/>
                    </a:lnTo>
                    <a:cubicBezTo>
                      <a:pt x="1065676" y="719003"/>
                      <a:pt x="1059688" y="733457"/>
                      <a:pt x="1049031" y="744114"/>
                    </a:cubicBezTo>
                    <a:cubicBezTo>
                      <a:pt x="1038374" y="754772"/>
                      <a:pt x="1023920" y="760759"/>
                      <a:pt x="1008849" y="760759"/>
                    </a:cubicBezTo>
                    <a:lnTo>
                      <a:pt x="56827" y="760759"/>
                    </a:lnTo>
                    <a:cubicBezTo>
                      <a:pt x="41755" y="760759"/>
                      <a:pt x="27301" y="754772"/>
                      <a:pt x="16644" y="744114"/>
                    </a:cubicBezTo>
                    <a:cubicBezTo>
                      <a:pt x="5987" y="733457"/>
                      <a:pt x="0" y="719003"/>
                      <a:pt x="0" y="703932"/>
                    </a:cubicBezTo>
                    <a:lnTo>
                      <a:pt x="0" y="56827"/>
                    </a:lnTo>
                    <a:cubicBezTo>
                      <a:pt x="0" y="41755"/>
                      <a:pt x="5987" y="27301"/>
                      <a:pt x="16644" y="16644"/>
                    </a:cubicBezTo>
                    <a:cubicBezTo>
                      <a:pt x="27301" y="5987"/>
                      <a:pt x="41755" y="0"/>
                      <a:pt x="56827" y="0"/>
                    </a:cubicBezTo>
                    <a:close/>
                  </a:path>
                </a:pathLst>
              </a:custGeom>
              <a:solidFill>
                <a:srgbClr val="3A9BDC"/>
              </a:solidFill>
            </p:spPr>
          </p:sp>
          <p:sp>
            <p:nvSpPr>
              <p:cNvPr id="5" name="TextBox 5"/>
              <p:cNvSpPr txBox="1"/>
              <p:nvPr/>
            </p:nvSpPr>
            <p:spPr>
              <a:xfrm>
                <a:off x="0" y="-28575"/>
                <a:ext cx="1065676" cy="789334"/>
              </a:xfrm>
              <a:prstGeom prst="rect">
                <a:avLst/>
              </a:prstGeom>
            </p:spPr>
            <p:txBody>
              <a:bodyPr lIns="50800" tIns="50800" rIns="50800" bIns="50800" rtlCol="0" anchor="ctr"/>
              <a:lstStyle/>
              <a:p>
                <a:pPr algn="ctr">
                  <a:lnSpc>
                    <a:spcPts val="1959"/>
                  </a:lnSpc>
                </a:pPr>
                <a:endParaRPr/>
              </a:p>
            </p:txBody>
          </p:sp>
        </p:grpSp>
        <p:sp>
          <p:nvSpPr>
            <p:cNvPr id="6" name="TextBox 6"/>
            <p:cNvSpPr txBox="1"/>
            <p:nvPr/>
          </p:nvSpPr>
          <p:spPr>
            <a:xfrm>
              <a:off x="1256266" y="1395842"/>
              <a:ext cx="2072642" cy="1396401"/>
            </a:xfrm>
            <a:prstGeom prst="rect">
              <a:avLst/>
            </a:prstGeom>
          </p:spPr>
          <p:txBody>
            <a:bodyPr lIns="0" tIns="0" rIns="0" bIns="0" rtlCol="0" anchor="t">
              <a:spAutoFit/>
            </a:bodyPr>
            <a:lstStyle/>
            <a:p>
              <a:pPr algn="ctr">
                <a:lnSpc>
                  <a:spcPts val="8834"/>
                </a:lnSpc>
              </a:pPr>
              <a:r>
                <a:rPr lang="en-US" sz="6310" b="1" spc="-201">
                  <a:solidFill>
                    <a:srgbClr val="FFFFFF"/>
                  </a:solidFill>
                  <a:latin typeface="Bricolage Grotesque Medium"/>
                  <a:ea typeface="Bricolage Grotesque Medium"/>
                  <a:cs typeface="Bricolage Grotesque Medium"/>
                  <a:sym typeface="Bricolage Grotesque Medium"/>
                </a:rPr>
                <a:t>44</a:t>
              </a:r>
            </a:p>
          </p:txBody>
        </p:sp>
        <p:sp>
          <p:nvSpPr>
            <p:cNvPr id="7" name="TextBox 7"/>
            <p:cNvSpPr txBox="1"/>
            <p:nvPr/>
          </p:nvSpPr>
          <p:spPr>
            <a:xfrm>
              <a:off x="542223" y="333012"/>
              <a:ext cx="3636102" cy="912094"/>
            </a:xfrm>
            <a:prstGeom prst="rect">
              <a:avLst/>
            </a:prstGeom>
          </p:spPr>
          <p:txBody>
            <a:bodyPr lIns="0" tIns="0" rIns="0" bIns="0" rtlCol="0" anchor="t">
              <a:spAutoFit/>
            </a:bodyPr>
            <a:lstStyle/>
            <a:p>
              <a:pPr algn="ctr">
                <a:lnSpc>
                  <a:spcPts val="2815"/>
                </a:lnSpc>
              </a:pPr>
              <a:r>
                <a:rPr lang="en-US" sz="2010" b="1">
                  <a:solidFill>
                    <a:srgbClr val="FFFFFF"/>
                  </a:solidFill>
                  <a:latin typeface="Bricolage Grotesque Medium"/>
                  <a:ea typeface="Bricolage Grotesque Medium"/>
                  <a:cs typeface="Bricolage Grotesque Medium"/>
                  <a:sym typeface="Bricolage Grotesque Medium"/>
                </a:rPr>
                <a:t>Idade Média dos Voluntários</a:t>
              </a:r>
            </a:p>
          </p:txBody>
        </p:sp>
      </p:grpSp>
      <p:grpSp>
        <p:nvGrpSpPr>
          <p:cNvPr id="8" name="Group 8"/>
          <p:cNvGrpSpPr/>
          <p:nvPr/>
        </p:nvGrpSpPr>
        <p:grpSpPr>
          <a:xfrm>
            <a:off x="8237820" y="6213544"/>
            <a:ext cx="3455611" cy="2466872"/>
            <a:chOff x="0" y="0"/>
            <a:chExt cx="4607481" cy="3289163"/>
          </a:xfrm>
        </p:grpSpPr>
        <p:grpSp>
          <p:nvGrpSpPr>
            <p:cNvPr id="9" name="Group 9"/>
            <p:cNvGrpSpPr/>
            <p:nvPr/>
          </p:nvGrpSpPr>
          <p:grpSpPr>
            <a:xfrm>
              <a:off x="0" y="0"/>
              <a:ext cx="4607481" cy="3289163"/>
              <a:chOff x="0" y="0"/>
              <a:chExt cx="1065676" cy="760759"/>
            </a:xfrm>
          </p:grpSpPr>
          <p:sp>
            <p:nvSpPr>
              <p:cNvPr id="10" name="Freeform 10"/>
              <p:cNvSpPr/>
              <p:nvPr/>
            </p:nvSpPr>
            <p:spPr>
              <a:xfrm>
                <a:off x="0" y="0"/>
                <a:ext cx="1065676" cy="760759"/>
              </a:xfrm>
              <a:custGeom>
                <a:avLst/>
                <a:gdLst/>
                <a:ahLst/>
                <a:cxnLst/>
                <a:rect l="l" t="t" r="r" b="b"/>
                <a:pathLst>
                  <a:path w="1065676" h="760759">
                    <a:moveTo>
                      <a:pt x="56827" y="0"/>
                    </a:moveTo>
                    <a:lnTo>
                      <a:pt x="1008849" y="0"/>
                    </a:lnTo>
                    <a:cubicBezTo>
                      <a:pt x="1023920" y="0"/>
                      <a:pt x="1038374" y="5987"/>
                      <a:pt x="1049031" y="16644"/>
                    </a:cubicBezTo>
                    <a:cubicBezTo>
                      <a:pt x="1059688" y="27301"/>
                      <a:pt x="1065676" y="41755"/>
                      <a:pt x="1065676" y="56827"/>
                    </a:cubicBezTo>
                    <a:lnTo>
                      <a:pt x="1065676" y="703932"/>
                    </a:lnTo>
                    <a:cubicBezTo>
                      <a:pt x="1065676" y="719003"/>
                      <a:pt x="1059688" y="733457"/>
                      <a:pt x="1049031" y="744114"/>
                    </a:cubicBezTo>
                    <a:cubicBezTo>
                      <a:pt x="1038374" y="754772"/>
                      <a:pt x="1023920" y="760759"/>
                      <a:pt x="1008849" y="760759"/>
                    </a:cubicBezTo>
                    <a:lnTo>
                      <a:pt x="56827" y="760759"/>
                    </a:lnTo>
                    <a:cubicBezTo>
                      <a:pt x="41755" y="760759"/>
                      <a:pt x="27301" y="754772"/>
                      <a:pt x="16644" y="744114"/>
                    </a:cubicBezTo>
                    <a:cubicBezTo>
                      <a:pt x="5987" y="733457"/>
                      <a:pt x="0" y="719003"/>
                      <a:pt x="0" y="703932"/>
                    </a:cubicBezTo>
                    <a:lnTo>
                      <a:pt x="0" y="56827"/>
                    </a:lnTo>
                    <a:cubicBezTo>
                      <a:pt x="0" y="41755"/>
                      <a:pt x="5987" y="27301"/>
                      <a:pt x="16644" y="16644"/>
                    </a:cubicBezTo>
                    <a:cubicBezTo>
                      <a:pt x="27301" y="5987"/>
                      <a:pt x="41755" y="0"/>
                      <a:pt x="56827" y="0"/>
                    </a:cubicBezTo>
                    <a:close/>
                  </a:path>
                </a:pathLst>
              </a:custGeom>
              <a:solidFill>
                <a:srgbClr val="3A9BDC"/>
              </a:solidFill>
            </p:spPr>
          </p:sp>
          <p:sp>
            <p:nvSpPr>
              <p:cNvPr id="11" name="TextBox 11"/>
              <p:cNvSpPr txBox="1"/>
              <p:nvPr/>
            </p:nvSpPr>
            <p:spPr>
              <a:xfrm>
                <a:off x="0" y="-28575"/>
                <a:ext cx="1065676" cy="789334"/>
              </a:xfrm>
              <a:prstGeom prst="rect">
                <a:avLst/>
              </a:prstGeom>
            </p:spPr>
            <p:txBody>
              <a:bodyPr lIns="50800" tIns="50800" rIns="50800" bIns="50800" rtlCol="0" anchor="ctr"/>
              <a:lstStyle/>
              <a:p>
                <a:pPr algn="ctr">
                  <a:lnSpc>
                    <a:spcPts val="1959"/>
                  </a:lnSpc>
                </a:pPr>
                <a:endParaRPr/>
              </a:p>
            </p:txBody>
          </p:sp>
        </p:grpSp>
        <p:sp>
          <p:nvSpPr>
            <p:cNvPr id="12" name="TextBox 12"/>
            <p:cNvSpPr txBox="1"/>
            <p:nvPr/>
          </p:nvSpPr>
          <p:spPr>
            <a:xfrm>
              <a:off x="544861" y="1476122"/>
              <a:ext cx="2698217" cy="1402592"/>
            </a:xfrm>
            <a:prstGeom prst="rect">
              <a:avLst/>
            </a:prstGeom>
          </p:spPr>
          <p:txBody>
            <a:bodyPr lIns="0" tIns="0" rIns="0" bIns="0" rtlCol="0" anchor="t">
              <a:spAutoFit/>
            </a:bodyPr>
            <a:lstStyle/>
            <a:p>
              <a:pPr algn="ctr">
                <a:lnSpc>
                  <a:spcPts val="8877"/>
                </a:lnSpc>
              </a:pPr>
              <a:r>
                <a:rPr lang="en-US" sz="6341" b="1" spc="-202">
                  <a:solidFill>
                    <a:srgbClr val="FFFFFF"/>
                  </a:solidFill>
                  <a:latin typeface="Bricolage Grotesque Medium"/>
                  <a:ea typeface="Bricolage Grotesque Medium"/>
                  <a:cs typeface="Bricolage Grotesque Medium"/>
                  <a:sym typeface="Bricolage Grotesque Medium"/>
                </a:rPr>
                <a:t>2,35 </a:t>
              </a:r>
            </a:p>
          </p:txBody>
        </p:sp>
        <p:sp>
          <p:nvSpPr>
            <p:cNvPr id="13" name="TextBox 13"/>
            <p:cNvSpPr txBox="1"/>
            <p:nvPr/>
          </p:nvSpPr>
          <p:spPr>
            <a:xfrm>
              <a:off x="544861" y="334864"/>
              <a:ext cx="3653791" cy="916299"/>
            </a:xfrm>
            <a:prstGeom prst="rect">
              <a:avLst/>
            </a:prstGeom>
          </p:spPr>
          <p:txBody>
            <a:bodyPr lIns="0" tIns="0" rIns="0" bIns="0" rtlCol="0" anchor="t">
              <a:spAutoFit/>
            </a:bodyPr>
            <a:lstStyle/>
            <a:p>
              <a:pPr algn="ctr">
                <a:lnSpc>
                  <a:spcPts val="2829"/>
                </a:lnSpc>
              </a:pPr>
              <a:r>
                <a:rPr lang="en-US" sz="2020" b="1">
                  <a:solidFill>
                    <a:srgbClr val="FFFFFF"/>
                  </a:solidFill>
                  <a:latin typeface="Bricolage Grotesque Medium"/>
                  <a:ea typeface="Bricolage Grotesque Medium"/>
                  <a:cs typeface="Bricolage Grotesque Medium"/>
                  <a:sym typeface="Bricolage Grotesque Medium"/>
                </a:rPr>
                <a:t>Horas Totais de Atendimento</a:t>
              </a:r>
            </a:p>
          </p:txBody>
        </p:sp>
        <p:sp>
          <p:nvSpPr>
            <p:cNvPr id="14" name="TextBox 14"/>
            <p:cNvSpPr txBox="1"/>
            <p:nvPr/>
          </p:nvSpPr>
          <p:spPr>
            <a:xfrm>
              <a:off x="2915650" y="1821176"/>
              <a:ext cx="1283003" cy="769634"/>
            </a:xfrm>
            <a:prstGeom prst="rect">
              <a:avLst/>
            </a:prstGeom>
          </p:spPr>
          <p:txBody>
            <a:bodyPr lIns="0" tIns="0" rIns="0" bIns="0" rtlCol="0" anchor="t">
              <a:spAutoFit/>
            </a:bodyPr>
            <a:lstStyle/>
            <a:p>
              <a:pPr algn="ctr">
                <a:lnSpc>
                  <a:spcPts val="4872"/>
                </a:lnSpc>
              </a:pPr>
              <a:r>
                <a:rPr lang="en-US" sz="3480" b="1" spc="-111">
                  <a:solidFill>
                    <a:srgbClr val="FFFFFF"/>
                  </a:solidFill>
                  <a:latin typeface="Bricolage Grotesque Medium"/>
                  <a:ea typeface="Bricolage Grotesque Medium"/>
                  <a:cs typeface="Bricolage Grotesque Medium"/>
                  <a:sym typeface="Bricolage Grotesque Medium"/>
                </a:rPr>
                <a:t>mi</a:t>
              </a:r>
            </a:p>
          </p:txBody>
        </p:sp>
      </p:grpSp>
      <p:sp>
        <p:nvSpPr>
          <p:cNvPr id="15" name="Freeform 15"/>
          <p:cNvSpPr/>
          <p:nvPr/>
        </p:nvSpPr>
        <p:spPr>
          <a:xfrm>
            <a:off x="12356162" y="2187098"/>
            <a:ext cx="5356621" cy="2085911"/>
          </a:xfrm>
          <a:custGeom>
            <a:avLst/>
            <a:gdLst/>
            <a:ahLst/>
            <a:cxnLst/>
            <a:rect l="l" t="t" r="r" b="b"/>
            <a:pathLst>
              <a:path w="5356621" h="2085911">
                <a:moveTo>
                  <a:pt x="0" y="0"/>
                </a:moveTo>
                <a:lnTo>
                  <a:pt x="5356620" y="0"/>
                </a:lnTo>
                <a:lnTo>
                  <a:pt x="5356620" y="2085911"/>
                </a:lnTo>
                <a:lnTo>
                  <a:pt x="0" y="2085911"/>
                </a:lnTo>
                <a:lnTo>
                  <a:pt x="0" y="0"/>
                </a:lnTo>
                <a:close/>
              </a:path>
            </a:pathLst>
          </a:custGeom>
          <a:blipFill>
            <a:blip r:embed="rId2"/>
            <a:stretch>
              <a:fillRect/>
            </a:stretch>
          </a:blipFill>
        </p:spPr>
      </p:sp>
      <p:sp>
        <p:nvSpPr>
          <p:cNvPr id="16" name="Freeform 16"/>
          <p:cNvSpPr/>
          <p:nvPr/>
        </p:nvSpPr>
        <p:spPr>
          <a:xfrm>
            <a:off x="12039965" y="6557018"/>
            <a:ext cx="5989014" cy="863185"/>
          </a:xfrm>
          <a:custGeom>
            <a:avLst/>
            <a:gdLst/>
            <a:ahLst/>
            <a:cxnLst/>
            <a:rect l="l" t="t" r="r" b="b"/>
            <a:pathLst>
              <a:path w="5989014" h="863185">
                <a:moveTo>
                  <a:pt x="0" y="0"/>
                </a:moveTo>
                <a:lnTo>
                  <a:pt x="5989014" y="0"/>
                </a:lnTo>
                <a:lnTo>
                  <a:pt x="5989014" y="863185"/>
                </a:lnTo>
                <a:lnTo>
                  <a:pt x="0" y="863185"/>
                </a:lnTo>
                <a:lnTo>
                  <a:pt x="0" y="0"/>
                </a:lnTo>
                <a:close/>
              </a:path>
            </a:pathLst>
          </a:custGeom>
          <a:blipFill>
            <a:blip r:embed="rId3"/>
            <a:stretch>
              <a:fillRect/>
            </a:stretch>
          </a:blipFill>
        </p:spPr>
      </p:sp>
      <p:sp>
        <p:nvSpPr>
          <p:cNvPr id="17" name="TextBox 17"/>
          <p:cNvSpPr txBox="1"/>
          <p:nvPr/>
        </p:nvSpPr>
        <p:spPr>
          <a:xfrm>
            <a:off x="4178307" y="274374"/>
            <a:ext cx="11094223" cy="936625"/>
          </a:xfrm>
          <a:prstGeom prst="rect">
            <a:avLst/>
          </a:prstGeom>
        </p:spPr>
        <p:txBody>
          <a:bodyPr lIns="0" tIns="0" rIns="0" bIns="0" rtlCol="0" anchor="t">
            <a:spAutoFit/>
          </a:bodyPr>
          <a:lstStyle/>
          <a:p>
            <a:pPr algn="ctr">
              <a:lnSpc>
                <a:spcPts val="7699"/>
              </a:lnSpc>
            </a:pPr>
            <a:r>
              <a:rPr lang="en-US" sz="5499">
                <a:solidFill>
                  <a:srgbClr val="3B365F"/>
                </a:solidFill>
                <a:latin typeface="TAN Headline"/>
                <a:ea typeface="TAN Headline"/>
                <a:cs typeface="TAN Headline"/>
                <a:sym typeface="TAN Headline"/>
              </a:rPr>
              <a:t>Consultas SQL Utilizadas</a:t>
            </a:r>
          </a:p>
        </p:txBody>
      </p:sp>
      <p:sp>
        <p:nvSpPr>
          <p:cNvPr id="18" name="TextBox 18"/>
          <p:cNvSpPr txBox="1"/>
          <p:nvPr/>
        </p:nvSpPr>
        <p:spPr>
          <a:xfrm>
            <a:off x="1028700" y="2694659"/>
            <a:ext cx="6995322" cy="1004113"/>
          </a:xfrm>
          <a:prstGeom prst="rect">
            <a:avLst/>
          </a:prstGeom>
        </p:spPr>
        <p:txBody>
          <a:bodyPr lIns="0" tIns="0" rIns="0" bIns="0" rtlCol="0" anchor="t">
            <a:spAutoFit/>
          </a:bodyPr>
          <a:lstStyle/>
          <a:p>
            <a:pPr algn="l">
              <a:lnSpc>
                <a:spcPts val="3980"/>
              </a:lnSpc>
            </a:pPr>
            <a:r>
              <a:rPr lang="en-US" sz="2842">
                <a:solidFill>
                  <a:srgbClr val="3B365F"/>
                </a:solidFill>
                <a:latin typeface="Coco Gothic"/>
                <a:ea typeface="Coco Gothic"/>
                <a:cs typeface="Coco Gothic"/>
                <a:sym typeface="Coco Gothic"/>
              </a:rPr>
              <a:t>Os dados indicam maior participação</a:t>
            </a:r>
          </a:p>
          <a:p>
            <a:pPr marL="0" lvl="0" indent="0" algn="l">
              <a:lnSpc>
                <a:spcPts val="3980"/>
              </a:lnSpc>
              <a:spcBef>
                <a:spcPct val="0"/>
              </a:spcBef>
            </a:pPr>
            <a:r>
              <a:rPr lang="en-US" sz="2842">
                <a:solidFill>
                  <a:srgbClr val="3B365F"/>
                </a:solidFill>
                <a:latin typeface="Coco Gothic"/>
                <a:ea typeface="Coco Gothic"/>
                <a:cs typeface="Coco Gothic"/>
                <a:sym typeface="Coco Gothic"/>
              </a:rPr>
              <a:t>de adultos nas ações voluntárias.</a:t>
            </a:r>
          </a:p>
        </p:txBody>
      </p:sp>
      <p:sp>
        <p:nvSpPr>
          <p:cNvPr id="19" name="TextBox 19"/>
          <p:cNvSpPr txBox="1"/>
          <p:nvPr/>
        </p:nvSpPr>
        <p:spPr>
          <a:xfrm>
            <a:off x="1095068" y="6632396"/>
            <a:ext cx="6862586" cy="1508938"/>
          </a:xfrm>
          <a:prstGeom prst="rect">
            <a:avLst/>
          </a:prstGeom>
        </p:spPr>
        <p:txBody>
          <a:bodyPr lIns="0" tIns="0" rIns="0" bIns="0" rtlCol="0" anchor="t">
            <a:spAutoFit/>
          </a:bodyPr>
          <a:lstStyle/>
          <a:p>
            <a:pPr algn="l">
              <a:lnSpc>
                <a:spcPts val="3980"/>
              </a:lnSpc>
            </a:pPr>
            <a:r>
              <a:rPr lang="en-US" sz="2842">
                <a:solidFill>
                  <a:srgbClr val="3B365F"/>
                </a:solidFill>
                <a:latin typeface="Coco Gothic"/>
                <a:ea typeface="Coco Gothic"/>
                <a:cs typeface="Coco Gothic"/>
                <a:sym typeface="Coco Gothic"/>
              </a:rPr>
              <a:t>O volume de horas reforça o impacto</a:t>
            </a:r>
          </a:p>
          <a:p>
            <a:pPr marL="0" lvl="0" indent="0" algn="l">
              <a:lnSpc>
                <a:spcPts val="3980"/>
              </a:lnSpc>
              <a:spcBef>
                <a:spcPct val="0"/>
              </a:spcBef>
            </a:pPr>
            <a:r>
              <a:rPr lang="en-US" sz="2842">
                <a:solidFill>
                  <a:srgbClr val="3B365F"/>
                </a:solidFill>
                <a:latin typeface="Coco Gothic"/>
                <a:ea typeface="Coco Gothic"/>
                <a:cs typeface="Coco Gothic"/>
                <a:sym typeface="Coco Gothic"/>
              </a:rPr>
              <a:t>social das ações voluntárias hospitalares.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a:off x="4365967" y="5453218"/>
            <a:ext cx="7682036" cy="3466081"/>
          </a:xfrm>
          <a:custGeom>
            <a:avLst/>
            <a:gdLst/>
            <a:ahLst/>
            <a:cxnLst/>
            <a:rect l="l" t="t" r="r" b="b"/>
            <a:pathLst>
              <a:path w="7682036" h="3466081">
                <a:moveTo>
                  <a:pt x="0" y="0"/>
                </a:moveTo>
                <a:lnTo>
                  <a:pt x="7682036" y="0"/>
                </a:lnTo>
                <a:lnTo>
                  <a:pt x="7682036" y="3466081"/>
                </a:lnTo>
                <a:lnTo>
                  <a:pt x="0" y="3466081"/>
                </a:lnTo>
                <a:lnTo>
                  <a:pt x="0" y="0"/>
                </a:lnTo>
                <a:close/>
              </a:path>
            </a:pathLst>
          </a:custGeom>
          <a:blipFill>
            <a:blip r:embed="rId2"/>
            <a:stretch>
              <a:fillRect/>
            </a:stretch>
          </a:blipFill>
        </p:spPr>
      </p:sp>
      <p:sp>
        <p:nvSpPr>
          <p:cNvPr id="3" name="TextBox 3"/>
          <p:cNvSpPr txBox="1"/>
          <p:nvPr/>
        </p:nvSpPr>
        <p:spPr>
          <a:xfrm>
            <a:off x="4178307" y="274374"/>
            <a:ext cx="11094223" cy="936625"/>
          </a:xfrm>
          <a:prstGeom prst="rect">
            <a:avLst/>
          </a:prstGeom>
        </p:spPr>
        <p:txBody>
          <a:bodyPr lIns="0" tIns="0" rIns="0" bIns="0" rtlCol="0" anchor="t">
            <a:spAutoFit/>
          </a:bodyPr>
          <a:lstStyle/>
          <a:p>
            <a:pPr algn="ctr">
              <a:lnSpc>
                <a:spcPts val="7699"/>
              </a:lnSpc>
            </a:pPr>
            <a:r>
              <a:rPr lang="en-US" sz="5499">
                <a:solidFill>
                  <a:srgbClr val="3B365F"/>
                </a:solidFill>
                <a:latin typeface="TAN Headline"/>
                <a:ea typeface="TAN Headline"/>
                <a:cs typeface="TAN Headline"/>
                <a:sym typeface="TAN Headline"/>
              </a:rPr>
              <a:t>Consultas SQL Utilizadas</a:t>
            </a:r>
          </a:p>
        </p:txBody>
      </p:sp>
      <p:sp>
        <p:nvSpPr>
          <p:cNvPr id="4" name="TextBox 4"/>
          <p:cNvSpPr txBox="1"/>
          <p:nvPr/>
        </p:nvSpPr>
        <p:spPr>
          <a:xfrm>
            <a:off x="1028700" y="1917839"/>
            <a:ext cx="10817337" cy="2022093"/>
          </a:xfrm>
          <a:prstGeom prst="rect">
            <a:avLst/>
          </a:prstGeom>
        </p:spPr>
        <p:txBody>
          <a:bodyPr lIns="0" tIns="0" rIns="0" bIns="0" rtlCol="0" anchor="t">
            <a:spAutoFit/>
          </a:bodyPr>
          <a:lstStyle/>
          <a:p>
            <a:pPr marL="0" lvl="0" indent="0" algn="l">
              <a:lnSpc>
                <a:spcPts val="3997"/>
              </a:lnSpc>
              <a:spcBef>
                <a:spcPct val="0"/>
              </a:spcBef>
            </a:pPr>
            <a:r>
              <a:rPr lang="en-US" sz="2855">
                <a:solidFill>
                  <a:srgbClr val="3B365F"/>
                </a:solidFill>
                <a:latin typeface="Coco Gothic"/>
                <a:ea typeface="Coco Gothic"/>
                <a:cs typeface="Coco Gothic"/>
                <a:sym typeface="Coco Gothic"/>
              </a:rPr>
              <a:t>A média mensal de atendimentos foi de aproximadamente 343 registros. Esse indicador aponta que as ações voluntárias ocorreram de forma constante ao longo do período analisado, evidenciando continuidade no apoio aos pacientes hospitalares.</a:t>
            </a:r>
          </a:p>
        </p:txBody>
      </p:sp>
      <p:grpSp>
        <p:nvGrpSpPr>
          <p:cNvPr id="5" name="Group 5"/>
          <p:cNvGrpSpPr/>
          <p:nvPr/>
        </p:nvGrpSpPr>
        <p:grpSpPr>
          <a:xfrm>
            <a:off x="12485377" y="1984514"/>
            <a:ext cx="3557789" cy="2391323"/>
            <a:chOff x="0" y="0"/>
            <a:chExt cx="4743719" cy="3188430"/>
          </a:xfrm>
        </p:grpSpPr>
        <p:grpSp>
          <p:nvGrpSpPr>
            <p:cNvPr id="6" name="Group 6"/>
            <p:cNvGrpSpPr/>
            <p:nvPr/>
          </p:nvGrpSpPr>
          <p:grpSpPr>
            <a:xfrm>
              <a:off x="0" y="0"/>
              <a:ext cx="4743719" cy="3188430"/>
              <a:chOff x="0" y="0"/>
              <a:chExt cx="1065676" cy="716280"/>
            </a:xfrm>
          </p:grpSpPr>
          <p:sp>
            <p:nvSpPr>
              <p:cNvPr id="7" name="Freeform 7"/>
              <p:cNvSpPr/>
              <p:nvPr/>
            </p:nvSpPr>
            <p:spPr>
              <a:xfrm>
                <a:off x="0" y="0"/>
                <a:ext cx="1065676" cy="716280"/>
              </a:xfrm>
              <a:custGeom>
                <a:avLst/>
                <a:gdLst/>
                <a:ahLst/>
                <a:cxnLst/>
                <a:rect l="l" t="t" r="r" b="b"/>
                <a:pathLst>
                  <a:path w="1065676" h="716280">
                    <a:moveTo>
                      <a:pt x="56827" y="0"/>
                    </a:moveTo>
                    <a:lnTo>
                      <a:pt x="1008849" y="0"/>
                    </a:lnTo>
                    <a:cubicBezTo>
                      <a:pt x="1023920" y="0"/>
                      <a:pt x="1038374" y="5987"/>
                      <a:pt x="1049031" y="16644"/>
                    </a:cubicBezTo>
                    <a:cubicBezTo>
                      <a:pt x="1059688" y="27301"/>
                      <a:pt x="1065676" y="41755"/>
                      <a:pt x="1065676" y="56827"/>
                    </a:cubicBezTo>
                    <a:lnTo>
                      <a:pt x="1065676" y="659453"/>
                    </a:lnTo>
                    <a:cubicBezTo>
                      <a:pt x="1065676" y="674525"/>
                      <a:pt x="1059688" y="688979"/>
                      <a:pt x="1049031" y="699636"/>
                    </a:cubicBezTo>
                    <a:cubicBezTo>
                      <a:pt x="1038374" y="710293"/>
                      <a:pt x="1023920" y="716280"/>
                      <a:pt x="1008849" y="716280"/>
                    </a:cubicBezTo>
                    <a:lnTo>
                      <a:pt x="56827" y="716280"/>
                    </a:lnTo>
                    <a:cubicBezTo>
                      <a:pt x="41755" y="716280"/>
                      <a:pt x="27301" y="710293"/>
                      <a:pt x="16644" y="699636"/>
                    </a:cubicBezTo>
                    <a:cubicBezTo>
                      <a:pt x="5987" y="688979"/>
                      <a:pt x="0" y="674525"/>
                      <a:pt x="0" y="659453"/>
                    </a:cubicBezTo>
                    <a:lnTo>
                      <a:pt x="0" y="56827"/>
                    </a:lnTo>
                    <a:cubicBezTo>
                      <a:pt x="0" y="41755"/>
                      <a:pt x="5987" y="27301"/>
                      <a:pt x="16644" y="16644"/>
                    </a:cubicBezTo>
                    <a:cubicBezTo>
                      <a:pt x="27301" y="5987"/>
                      <a:pt x="41755" y="0"/>
                      <a:pt x="56827" y="0"/>
                    </a:cubicBezTo>
                    <a:close/>
                  </a:path>
                </a:pathLst>
              </a:custGeom>
              <a:solidFill>
                <a:srgbClr val="3A9BDC"/>
              </a:solidFill>
            </p:spPr>
          </p:sp>
          <p:sp>
            <p:nvSpPr>
              <p:cNvPr id="8" name="TextBox 8"/>
              <p:cNvSpPr txBox="1"/>
              <p:nvPr/>
            </p:nvSpPr>
            <p:spPr>
              <a:xfrm>
                <a:off x="0" y="-28575"/>
                <a:ext cx="1065676" cy="744855"/>
              </a:xfrm>
              <a:prstGeom prst="rect">
                <a:avLst/>
              </a:prstGeom>
            </p:spPr>
            <p:txBody>
              <a:bodyPr lIns="50800" tIns="50800" rIns="50800" bIns="50800" rtlCol="0" anchor="ctr"/>
              <a:lstStyle/>
              <a:p>
                <a:pPr algn="ctr">
                  <a:lnSpc>
                    <a:spcPts val="1960"/>
                  </a:lnSpc>
                </a:pPr>
                <a:endParaRPr/>
              </a:p>
            </p:txBody>
          </p:sp>
        </p:grpSp>
        <p:sp>
          <p:nvSpPr>
            <p:cNvPr id="9" name="TextBox 9"/>
            <p:cNvSpPr txBox="1"/>
            <p:nvPr/>
          </p:nvSpPr>
          <p:spPr>
            <a:xfrm>
              <a:off x="1299705" y="1401632"/>
              <a:ext cx="2144309" cy="1289170"/>
            </a:xfrm>
            <a:prstGeom prst="rect">
              <a:avLst/>
            </a:prstGeom>
          </p:spPr>
          <p:txBody>
            <a:bodyPr lIns="0" tIns="0" rIns="0" bIns="0" rtlCol="0" anchor="t">
              <a:spAutoFit/>
            </a:bodyPr>
            <a:lstStyle/>
            <a:p>
              <a:pPr algn="ctr">
                <a:lnSpc>
                  <a:spcPts val="8143"/>
                </a:lnSpc>
              </a:pPr>
              <a:r>
                <a:rPr lang="en-US" sz="5816" b="1" spc="-186">
                  <a:solidFill>
                    <a:srgbClr val="FFFFFF"/>
                  </a:solidFill>
                  <a:latin typeface="Bricolage Grotesque Medium"/>
                  <a:ea typeface="Bricolage Grotesque Medium"/>
                  <a:cs typeface="Bricolage Grotesque Medium"/>
                  <a:sym typeface="Bricolage Grotesque Medium"/>
                </a:rPr>
                <a:t>343</a:t>
              </a:r>
            </a:p>
          </p:txBody>
        </p:sp>
        <p:sp>
          <p:nvSpPr>
            <p:cNvPr id="10" name="TextBox 10"/>
            <p:cNvSpPr txBox="1"/>
            <p:nvPr/>
          </p:nvSpPr>
          <p:spPr>
            <a:xfrm>
              <a:off x="560972" y="355698"/>
              <a:ext cx="3761830" cy="876179"/>
            </a:xfrm>
            <a:prstGeom prst="rect">
              <a:avLst/>
            </a:prstGeom>
          </p:spPr>
          <p:txBody>
            <a:bodyPr lIns="0" tIns="0" rIns="0" bIns="0" rtlCol="0" anchor="t">
              <a:spAutoFit/>
            </a:bodyPr>
            <a:lstStyle/>
            <a:p>
              <a:pPr algn="ctr">
                <a:lnSpc>
                  <a:spcPts val="2746"/>
                </a:lnSpc>
              </a:pPr>
              <a:r>
                <a:rPr lang="en-US" sz="1961" b="1">
                  <a:solidFill>
                    <a:srgbClr val="FFFFFF"/>
                  </a:solidFill>
                  <a:latin typeface="Bricolage Grotesque Medium"/>
                  <a:ea typeface="Bricolage Grotesque Medium"/>
                  <a:cs typeface="Bricolage Grotesque Medium"/>
                  <a:sym typeface="Bricolage Grotesque Medium"/>
                </a:rPr>
                <a:t>Média de Atendimento por Mês</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a:off x="10021654" y="1877623"/>
            <a:ext cx="6025273" cy="2599074"/>
          </a:xfrm>
          <a:custGeom>
            <a:avLst/>
            <a:gdLst/>
            <a:ahLst/>
            <a:cxnLst/>
            <a:rect l="l" t="t" r="r" b="b"/>
            <a:pathLst>
              <a:path w="6025273" h="2599074">
                <a:moveTo>
                  <a:pt x="0" y="0"/>
                </a:moveTo>
                <a:lnTo>
                  <a:pt x="6025273" y="0"/>
                </a:lnTo>
                <a:lnTo>
                  <a:pt x="6025273" y="2599074"/>
                </a:lnTo>
                <a:lnTo>
                  <a:pt x="0" y="2599074"/>
                </a:lnTo>
                <a:lnTo>
                  <a:pt x="0" y="0"/>
                </a:lnTo>
                <a:close/>
              </a:path>
            </a:pathLst>
          </a:custGeom>
          <a:blipFill>
            <a:blip r:embed="rId2"/>
            <a:stretch>
              <a:fillRect l="-356" r="-356"/>
            </a:stretch>
          </a:blipFill>
        </p:spPr>
      </p:sp>
      <p:sp>
        <p:nvSpPr>
          <p:cNvPr id="3" name="Freeform 3"/>
          <p:cNvSpPr/>
          <p:nvPr/>
        </p:nvSpPr>
        <p:spPr>
          <a:xfrm>
            <a:off x="1670258" y="4476697"/>
            <a:ext cx="12963292" cy="5456683"/>
          </a:xfrm>
          <a:custGeom>
            <a:avLst/>
            <a:gdLst/>
            <a:ahLst/>
            <a:cxnLst/>
            <a:rect l="l" t="t" r="r" b="b"/>
            <a:pathLst>
              <a:path w="12963292" h="5456683">
                <a:moveTo>
                  <a:pt x="0" y="0"/>
                </a:moveTo>
                <a:lnTo>
                  <a:pt x="12963292" y="0"/>
                </a:lnTo>
                <a:lnTo>
                  <a:pt x="12963292" y="5456683"/>
                </a:lnTo>
                <a:lnTo>
                  <a:pt x="0" y="5456683"/>
                </a:lnTo>
                <a:lnTo>
                  <a:pt x="0" y="0"/>
                </a:lnTo>
                <a:close/>
              </a:path>
            </a:pathLst>
          </a:custGeom>
          <a:blipFill>
            <a:blip r:embed="rId3"/>
            <a:stretch>
              <a:fillRect r="-1125"/>
            </a:stretch>
          </a:blipFill>
        </p:spPr>
      </p:sp>
      <p:sp>
        <p:nvSpPr>
          <p:cNvPr id="4" name="TextBox 4"/>
          <p:cNvSpPr txBox="1"/>
          <p:nvPr/>
        </p:nvSpPr>
        <p:spPr>
          <a:xfrm>
            <a:off x="4178307" y="274374"/>
            <a:ext cx="11094223" cy="936625"/>
          </a:xfrm>
          <a:prstGeom prst="rect">
            <a:avLst/>
          </a:prstGeom>
        </p:spPr>
        <p:txBody>
          <a:bodyPr lIns="0" tIns="0" rIns="0" bIns="0" rtlCol="0" anchor="t">
            <a:spAutoFit/>
          </a:bodyPr>
          <a:lstStyle/>
          <a:p>
            <a:pPr algn="ctr">
              <a:lnSpc>
                <a:spcPts val="7699"/>
              </a:lnSpc>
            </a:pPr>
            <a:r>
              <a:rPr lang="en-US" sz="5499">
                <a:solidFill>
                  <a:srgbClr val="3B365F"/>
                </a:solidFill>
                <a:latin typeface="TAN Headline"/>
                <a:ea typeface="TAN Headline"/>
                <a:cs typeface="TAN Headline"/>
                <a:sym typeface="TAN Headline"/>
              </a:rPr>
              <a:t>Consultas SQL Utilizadas</a:t>
            </a:r>
          </a:p>
        </p:txBody>
      </p:sp>
      <p:sp>
        <p:nvSpPr>
          <p:cNvPr id="5" name="TextBox 5"/>
          <p:cNvSpPr txBox="1"/>
          <p:nvPr/>
        </p:nvSpPr>
        <p:spPr>
          <a:xfrm>
            <a:off x="1028700" y="1801423"/>
            <a:ext cx="8703260" cy="2249983"/>
          </a:xfrm>
          <a:prstGeom prst="rect">
            <a:avLst/>
          </a:prstGeom>
        </p:spPr>
        <p:txBody>
          <a:bodyPr lIns="0" tIns="0" rIns="0" bIns="0" rtlCol="0" anchor="t">
            <a:spAutoFit/>
          </a:bodyPr>
          <a:lstStyle/>
          <a:p>
            <a:pPr marL="0" lvl="0" indent="0" algn="l">
              <a:lnSpc>
                <a:spcPts val="3560"/>
              </a:lnSpc>
              <a:spcBef>
                <a:spcPct val="0"/>
              </a:spcBef>
            </a:pPr>
            <a:r>
              <a:rPr lang="en-US" sz="2542">
                <a:solidFill>
                  <a:srgbClr val="3B365F"/>
                </a:solidFill>
                <a:latin typeface="Coco Gothic"/>
                <a:ea typeface="Coco Gothic"/>
                <a:cs typeface="Coco Gothic"/>
                <a:sym typeface="Coco Gothic"/>
              </a:rPr>
              <a:t>Esse gráfico permitiu identificar os hospitais com maior concentração de atendimentos voluntários. O Hospital Infantil Sabará apresentou o maior volume de registros, indicando forte atuação das atividades voluntárias nessa unidade hospitalar.</a:t>
            </a:r>
          </a:p>
        </p:txBody>
      </p:sp>
      <p:sp>
        <p:nvSpPr>
          <p:cNvPr id="6" name="TextBox 6"/>
          <p:cNvSpPr txBox="1"/>
          <p:nvPr/>
        </p:nvSpPr>
        <p:spPr>
          <a:xfrm>
            <a:off x="1930421" y="4680056"/>
            <a:ext cx="5823133" cy="323106"/>
          </a:xfrm>
          <a:prstGeom prst="rect">
            <a:avLst/>
          </a:prstGeom>
        </p:spPr>
        <p:txBody>
          <a:bodyPr lIns="0" tIns="0" rIns="0" bIns="0" rtlCol="0" anchor="t">
            <a:spAutoFit/>
          </a:bodyPr>
          <a:lstStyle/>
          <a:p>
            <a:pPr algn="ctr">
              <a:lnSpc>
                <a:spcPts val="2666"/>
              </a:lnSpc>
            </a:pPr>
            <a:r>
              <a:rPr lang="en-US" sz="1904" b="1">
                <a:solidFill>
                  <a:srgbClr val="3B365F"/>
                </a:solidFill>
                <a:latin typeface="Open Sans Bold"/>
                <a:ea typeface="Open Sans Bold"/>
                <a:cs typeface="Open Sans Bold"/>
                <a:sym typeface="Open Sans Bold"/>
              </a:rPr>
              <a:t>TOP 5 Hospitais com Mais Atendimentos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a:off x="7984267" y="1880376"/>
            <a:ext cx="8852123" cy="3446710"/>
          </a:xfrm>
          <a:custGeom>
            <a:avLst/>
            <a:gdLst/>
            <a:ahLst/>
            <a:cxnLst/>
            <a:rect l="l" t="t" r="r" b="b"/>
            <a:pathLst>
              <a:path w="8852123" h="3446710">
                <a:moveTo>
                  <a:pt x="0" y="0"/>
                </a:moveTo>
                <a:lnTo>
                  <a:pt x="8852124" y="0"/>
                </a:lnTo>
                <a:lnTo>
                  <a:pt x="8852124" y="3446710"/>
                </a:lnTo>
                <a:lnTo>
                  <a:pt x="0" y="3446710"/>
                </a:lnTo>
                <a:lnTo>
                  <a:pt x="0" y="0"/>
                </a:lnTo>
                <a:close/>
              </a:path>
            </a:pathLst>
          </a:custGeom>
          <a:blipFill>
            <a:blip r:embed="rId2"/>
            <a:stretch>
              <a:fillRect/>
            </a:stretch>
          </a:blipFill>
        </p:spPr>
      </p:sp>
      <p:sp>
        <p:nvSpPr>
          <p:cNvPr id="3" name="Freeform 3"/>
          <p:cNvSpPr/>
          <p:nvPr/>
        </p:nvSpPr>
        <p:spPr>
          <a:xfrm>
            <a:off x="1109070" y="5327086"/>
            <a:ext cx="15650497" cy="4538644"/>
          </a:xfrm>
          <a:custGeom>
            <a:avLst/>
            <a:gdLst/>
            <a:ahLst/>
            <a:cxnLst/>
            <a:rect l="l" t="t" r="r" b="b"/>
            <a:pathLst>
              <a:path w="15650497" h="4538644">
                <a:moveTo>
                  <a:pt x="0" y="0"/>
                </a:moveTo>
                <a:lnTo>
                  <a:pt x="15650497" y="0"/>
                </a:lnTo>
                <a:lnTo>
                  <a:pt x="15650497" y="4538644"/>
                </a:lnTo>
                <a:lnTo>
                  <a:pt x="0" y="4538644"/>
                </a:lnTo>
                <a:lnTo>
                  <a:pt x="0" y="0"/>
                </a:lnTo>
                <a:close/>
              </a:path>
            </a:pathLst>
          </a:custGeom>
          <a:blipFill>
            <a:blip r:embed="rId3"/>
            <a:stretch>
              <a:fillRect/>
            </a:stretch>
          </a:blipFill>
        </p:spPr>
      </p:sp>
      <p:sp>
        <p:nvSpPr>
          <p:cNvPr id="4" name="TextBox 4"/>
          <p:cNvSpPr txBox="1"/>
          <p:nvPr/>
        </p:nvSpPr>
        <p:spPr>
          <a:xfrm>
            <a:off x="4225421" y="296497"/>
            <a:ext cx="10630128" cy="936625"/>
          </a:xfrm>
          <a:prstGeom prst="rect">
            <a:avLst/>
          </a:prstGeom>
        </p:spPr>
        <p:txBody>
          <a:bodyPr lIns="0" tIns="0" rIns="0" bIns="0" rtlCol="0" anchor="t">
            <a:spAutoFit/>
          </a:bodyPr>
          <a:lstStyle/>
          <a:p>
            <a:pPr algn="ctr">
              <a:lnSpc>
                <a:spcPts val="7699"/>
              </a:lnSpc>
            </a:pPr>
            <a:r>
              <a:rPr lang="en-US" sz="5499">
                <a:solidFill>
                  <a:srgbClr val="3B365F"/>
                </a:solidFill>
                <a:latin typeface="TAN Headline"/>
                <a:ea typeface="TAN Headline"/>
                <a:cs typeface="TAN Headline"/>
                <a:sym typeface="TAN Headline"/>
              </a:rPr>
              <a:t>Consultas SQL Utilizadas</a:t>
            </a:r>
          </a:p>
        </p:txBody>
      </p:sp>
      <p:sp>
        <p:nvSpPr>
          <p:cNvPr id="5" name="TextBox 5"/>
          <p:cNvSpPr txBox="1"/>
          <p:nvPr/>
        </p:nvSpPr>
        <p:spPr>
          <a:xfrm>
            <a:off x="1028700" y="1801423"/>
            <a:ext cx="6955567" cy="1802308"/>
          </a:xfrm>
          <a:prstGeom prst="rect">
            <a:avLst/>
          </a:prstGeom>
        </p:spPr>
        <p:txBody>
          <a:bodyPr lIns="0" tIns="0" rIns="0" bIns="0" rtlCol="0" anchor="t">
            <a:spAutoFit/>
          </a:bodyPr>
          <a:lstStyle/>
          <a:p>
            <a:pPr marL="0" lvl="0" indent="0" algn="l">
              <a:lnSpc>
                <a:spcPts val="3560"/>
              </a:lnSpc>
              <a:spcBef>
                <a:spcPct val="0"/>
              </a:spcBef>
            </a:pPr>
            <a:r>
              <a:rPr lang="en-US" sz="2542">
                <a:solidFill>
                  <a:srgbClr val="3B365F"/>
                </a:solidFill>
                <a:latin typeface="Coco Gothic"/>
                <a:ea typeface="Coco Gothic"/>
                <a:cs typeface="Coco Gothic"/>
                <a:sym typeface="Coco Gothic"/>
              </a:rPr>
              <a:t>Ana foi a voluntária com maior impacto em atendimentos, destacando-se pela elevada participação nas ações voluntárias hospitalares.</a:t>
            </a:r>
          </a:p>
        </p:txBody>
      </p:sp>
      <p:sp>
        <p:nvSpPr>
          <p:cNvPr id="6" name="TextBox 6"/>
          <p:cNvSpPr txBox="1"/>
          <p:nvPr/>
        </p:nvSpPr>
        <p:spPr>
          <a:xfrm>
            <a:off x="1109070" y="5288986"/>
            <a:ext cx="7305354" cy="323106"/>
          </a:xfrm>
          <a:prstGeom prst="rect">
            <a:avLst/>
          </a:prstGeom>
        </p:spPr>
        <p:txBody>
          <a:bodyPr lIns="0" tIns="0" rIns="0" bIns="0" rtlCol="0" anchor="t">
            <a:spAutoFit/>
          </a:bodyPr>
          <a:lstStyle/>
          <a:p>
            <a:pPr algn="ctr">
              <a:lnSpc>
                <a:spcPts val="2666"/>
              </a:lnSpc>
            </a:pPr>
            <a:r>
              <a:rPr lang="en-US" sz="1904" b="1">
                <a:solidFill>
                  <a:srgbClr val="3B365F"/>
                </a:solidFill>
                <a:latin typeface="Open Sans Bold"/>
                <a:ea typeface="Open Sans Bold"/>
                <a:cs typeface="Open Sans Bold"/>
                <a:sym typeface="Open Sans Bold"/>
              </a:rPr>
              <a:t>TOP 5 Voluntários com Maior Impacto em Atendimentos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a:off x="11526077" y="5495346"/>
            <a:ext cx="1254932" cy="1049206"/>
          </a:xfrm>
          <a:custGeom>
            <a:avLst/>
            <a:gdLst/>
            <a:ahLst/>
            <a:cxnLst/>
            <a:rect l="l" t="t" r="r" b="b"/>
            <a:pathLst>
              <a:path w="1254932" h="1049206">
                <a:moveTo>
                  <a:pt x="0" y="0"/>
                </a:moveTo>
                <a:lnTo>
                  <a:pt x="1254932" y="0"/>
                </a:lnTo>
                <a:lnTo>
                  <a:pt x="1254932" y="1049206"/>
                </a:lnTo>
                <a:lnTo>
                  <a:pt x="0" y="1049206"/>
                </a:lnTo>
                <a:lnTo>
                  <a:pt x="0" y="0"/>
                </a:lnTo>
                <a:close/>
              </a:path>
            </a:pathLst>
          </a:custGeom>
          <a:blipFill>
            <a:blip r:embed="rId2"/>
            <a:stretch>
              <a:fillRect/>
            </a:stretch>
          </a:blipFill>
        </p:spPr>
      </p:sp>
      <p:sp>
        <p:nvSpPr>
          <p:cNvPr id="3" name="Freeform 3"/>
          <p:cNvSpPr/>
          <p:nvPr/>
        </p:nvSpPr>
        <p:spPr>
          <a:xfrm>
            <a:off x="2063407" y="5296242"/>
            <a:ext cx="12486549" cy="4792166"/>
          </a:xfrm>
          <a:custGeom>
            <a:avLst/>
            <a:gdLst/>
            <a:ahLst/>
            <a:cxnLst/>
            <a:rect l="l" t="t" r="r" b="b"/>
            <a:pathLst>
              <a:path w="12486549" h="4792166">
                <a:moveTo>
                  <a:pt x="0" y="0"/>
                </a:moveTo>
                <a:lnTo>
                  <a:pt x="12486549" y="0"/>
                </a:lnTo>
                <a:lnTo>
                  <a:pt x="12486549" y="4792166"/>
                </a:lnTo>
                <a:lnTo>
                  <a:pt x="0" y="4792166"/>
                </a:lnTo>
                <a:lnTo>
                  <a:pt x="0" y="0"/>
                </a:lnTo>
                <a:close/>
              </a:path>
            </a:pathLst>
          </a:custGeom>
          <a:blipFill>
            <a:blip r:embed="rId3"/>
            <a:stretch>
              <a:fillRect r="-10046"/>
            </a:stretch>
          </a:blipFill>
        </p:spPr>
      </p:sp>
      <p:sp>
        <p:nvSpPr>
          <p:cNvPr id="4" name="Freeform 4"/>
          <p:cNvSpPr/>
          <p:nvPr/>
        </p:nvSpPr>
        <p:spPr>
          <a:xfrm>
            <a:off x="10721802" y="2010359"/>
            <a:ext cx="3641874" cy="2878952"/>
          </a:xfrm>
          <a:custGeom>
            <a:avLst/>
            <a:gdLst/>
            <a:ahLst/>
            <a:cxnLst/>
            <a:rect l="l" t="t" r="r" b="b"/>
            <a:pathLst>
              <a:path w="3641874" h="2878952">
                <a:moveTo>
                  <a:pt x="0" y="0"/>
                </a:moveTo>
                <a:lnTo>
                  <a:pt x="3641874" y="0"/>
                </a:lnTo>
                <a:lnTo>
                  <a:pt x="3641874" y="2878952"/>
                </a:lnTo>
                <a:lnTo>
                  <a:pt x="0" y="2878952"/>
                </a:lnTo>
                <a:lnTo>
                  <a:pt x="0" y="0"/>
                </a:lnTo>
                <a:close/>
              </a:path>
            </a:pathLst>
          </a:custGeom>
          <a:blipFill>
            <a:blip r:embed="rId4"/>
            <a:stretch>
              <a:fillRect/>
            </a:stretch>
          </a:blipFill>
        </p:spPr>
      </p:sp>
      <p:sp>
        <p:nvSpPr>
          <p:cNvPr id="5" name="TextBox 5"/>
          <p:cNvSpPr txBox="1"/>
          <p:nvPr/>
        </p:nvSpPr>
        <p:spPr>
          <a:xfrm>
            <a:off x="4225421" y="296497"/>
            <a:ext cx="10630128" cy="936625"/>
          </a:xfrm>
          <a:prstGeom prst="rect">
            <a:avLst/>
          </a:prstGeom>
        </p:spPr>
        <p:txBody>
          <a:bodyPr lIns="0" tIns="0" rIns="0" bIns="0" rtlCol="0" anchor="t">
            <a:spAutoFit/>
          </a:bodyPr>
          <a:lstStyle/>
          <a:p>
            <a:pPr algn="ctr">
              <a:lnSpc>
                <a:spcPts val="7699"/>
              </a:lnSpc>
            </a:pPr>
            <a:r>
              <a:rPr lang="en-US" sz="5499">
                <a:solidFill>
                  <a:srgbClr val="3B365F"/>
                </a:solidFill>
                <a:latin typeface="TAN Headline"/>
                <a:ea typeface="TAN Headline"/>
                <a:cs typeface="TAN Headline"/>
                <a:sym typeface="TAN Headline"/>
              </a:rPr>
              <a:t>Consultas SQL Utilizadas</a:t>
            </a:r>
          </a:p>
        </p:txBody>
      </p:sp>
      <p:sp>
        <p:nvSpPr>
          <p:cNvPr id="6" name="TextBox 6"/>
          <p:cNvSpPr txBox="1"/>
          <p:nvPr/>
        </p:nvSpPr>
        <p:spPr>
          <a:xfrm>
            <a:off x="2196143" y="5457246"/>
            <a:ext cx="5823133" cy="989856"/>
          </a:xfrm>
          <a:prstGeom prst="rect">
            <a:avLst/>
          </a:prstGeom>
        </p:spPr>
        <p:txBody>
          <a:bodyPr lIns="0" tIns="0" rIns="0" bIns="0" rtlCol="0" anchor="t">
            <a:spAutoFit/>
          </a:bodyPr>
          <a:lstStyle/>
          <a:p>
            <a:pPr algn="l">
              <a:lnSpc>
                <a:spcPts val="2666"/>
              </a:lnSpc>
            </a:pPr>
            <a:r>
              <a:rPr lang="en-US" sz="1904" b="1">
                <a:solidFill>
                  <a:srgbClr val="3B365F"/>
                </a:solidFill>
                <a:latin typeface="Open Sans Bold"/>
                <a:ea typeface="Open Sans Bold"/>
                <a:cs typeface="Open Sans Bold"/>
                <a:sym typeface="Open Sans Bold"/>
              </a:rPr>
              <a:t>Distribuição Percentual de  Atendimentos por Gênero</a:t>
            </a:r>
          </a:p>
          <a:p>
            <a:pPr algn="ctr">
              <a:lnSpc>
                <a:spcPts val="2666"/>
              </a:lnSpc>
            </a:pPr>
            <a:endParaRPr lang="en-US" sz="1904" b="1">
              <a:solidFill>
                <a:srgbClr val="3B365F"/>
              </a:solidFill>
              <a:latin typeface="Open Sans Bold"/>
              <a:ea typeface="Open Sans Bold"/>
              <a:cs typeface="Open Sans Bold"/>
              <a:sym typeface="Open Sans Bold"/>
            </a:endParaRPr>
          </a:p>
        </p:txBody>
      </p:sp>
      <p:sp>
        <p:nvSpPr>
          <p:cNvPr id="7" name="TextBox 7"/>
          <p:cNvSpPr txBox="1"/>
          <p:nvPr/>
        </p:nvSpPr>
        <p:spPr>
          <a:xfrm>
            <a:off x="1497190" y="1934159"/>
            <a:ext cx="7928966" cy="2249983"/>
          </a:xfrm>
          <a:prstGeom prst="rect">
            <a:avLst/>
          </a:prstGeom>
        </p:spPr>
        <p:txBody>
          <a:bodyPr lIns="0" tIns="0" rIns="0" bIns="0" rtlCol="0" anchor="t">
            <a:spAutoFit/>
          </a:bodyPr>
          <a:lstStyle/>
          <a:p>
            <a:pPr marL="0" lvl="0" indent="0" algn="l">
              <a:lnSpc>
                <a:spcPts val="3560"/>
              </a:lnSpc>
              <a:spcBef>
                <a:spcPct val="0"/>
              </a:spcBef>
            </a:pPr>
            <a:r>
              <a:rPr lang="en-US" sz="2542">
                <a:solidFill>
                  <a:srgbClr val="3B365F"/>
                </a:solidFill>
                <a:latin typeface="Coco Gothic"/>
                <a:ea typeface="Coco Gothic"/>
                <a:cs typeface="Coco Gothic"/>
                <a:sym typeface="Coco Gothic"/>
              </a:rPr>
              <a:t>O gênero feminino concentrou a maior participação nos atendimentos voluntários, representando 72,45% dos registros analisados. O resultado evidencia forte presença feminina nas ações de acolhimento e apoio hospitalar.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a:off x="1704188" y="4900349"/>
            <a:ext cx="14307951" cy="5043553"/>
          </a:xfrm>
          <a:custGeom>
            <a:avLst/>
            <a:gdLst/>
            <a:ahLst/>
            <a:cxnLst/>
            <a:rect l="l" t="t" r="r" b="b"/>
            <a:pathLst>
              <a:path w="14307951" h="5043553">
                <a:moveTo>
                  <a:pt x="0" y="0"/>
                </a:moveTo>
                <a:lnTo>
                  <a:pt x="14307951" y="0"/>
                </a:lnTo>
                <a:lnTo>
                  <a:pt x="14307951" y="5043553"/>
                </a:lnTo>
                <a:lnTo>
                  <a:pt x="0" y="5043553"/>
                </a:lnTo>
                <a:lnTo>
                  <a:pt x="0" y="0"/>
                </a:lnTo>
                <a:close/>
              </a:path>
            </a:pathLst>
          </a:custGeom>
          <a:blipFill>
            <a:blip r:embed="rId2"/>
            <a:stretch>
              <a:fillRect/>
            </a:stretch>
          </a:blipFill>
        </p:spPr>
      </p:sp>
      <p:sp>
        <p:nvSpPr>
          <p:cNvPr id="3" name="Freeform 3"/>
          <p:cNvSpPr/>
          <p:nvPr/>
        </p:nvSpPr>
        <p:spPr>
          <a:xfrm>
            <a:off x="12047921" y="5370353"/>
            <a:ext cx="1118636" cy="1403380"/>
          </a:xfrm>
          <a:custGeom>
            <a:avLst/>
            <a:gdLst/>
            <a:ahLst/>
            <a:cxnLst/>
            <a:rect l="l" t="t" r="r" b="b"/>
            <a:pathLst>
              <a:path w="1118636" h="1403380">
                <a:moveTo>
                  <a:pt x="0" y="0"/>
                </a:moveTo>
                <a:lnTo>
                  <a:pt x="1118636" y="0"/>
                </a:lnTo>
                <a:lnTo>
                  <a:pt x="1118636" y="1403380"/>
                </a:lnTo>
                <a:lnTo>
                  <a:pt x="0" y="1403380"/>
                </a:lnTo>
                <a:lnTo>
                  <a:pt x="0" y="0"/>
                </a:lnTo>
                <a:close/>
              </a:path>
            </a:pathLst>
          </a:custGeom>
          <a:blipFill>
            <a:blip r:embed="rId3"/>
            <a:stretch>
              <a:fillRect/>
            </a:stretch>
          </a:blipFill>
        </p:spPr>
      </p:sp>
      <p:sp>
        <p:nvSpPr>
          <p:cNvPr id="4" name="Freeform 4"/>
          <p:cNvSpPr/>
          <p:nvPr/>
        </p:nvSpPr>
        <p:spPr>
          <a:xfrm>
            <a:off x="10100620" y="1913390"/>
            <a:ext cx="5474499" cy="3065719"/>
          </a:xfrm>
          <a:custGeom>
            <a:avLst/>
            <a:gdLst/>
            <a:ahLst/>
            <a:cxnLst/>
            <a:rect l="l" t="t" r="r" b="b"/>
            <a:pathLst>
              <a:path w="5474499" h="3065719">
                <a:moveTo>
                  <a:pt x="0" y="0"/>
                </a:moveTo>
                <a:lnTo>
                  <a:pt x="5474499" y="0"/>
                </a:lnTo>
                <a:lnTo>
                  <a:pt x="5474499" y="3065720"/>
                </a:lnTo>
                <a:lnTo>
                  <a:pt x="0" y="3065720"/>
                </a:lnTo>
                <a:lnTo>
                  <a:pt x="0" y="0"/>
                </a:lnTo>
                <a:close/>
              </a:path>
            </a:pathLst>
          </a:custGeom>
          <a:blipFill>
            <a:blip r:embed="rId4"/>
            <a:stretch>
              <a:fillRect/>
            </a:stretch>
          </a:blipFill>
        </p:spPr>
      </p:sp>
      <p:sp>
        <p:nvSpPr>
          <p:cNvPr id="5" name="TextBox 5"/>
          <p:cNvSpPr txBox="1"/>
          <p:nvPr/>
        </p:nvSpPr>
        <p:spPr>
          <a:xfrm>
            <a:off x="4225421" y="296497"/>
            <a:ext cx="10630128" cy="936625"/>
          </a:xfrm>
          <a:prstGeom prst="rect">
            <a:avLst/>
          </a:prstGeom>
        </p:spPr>
        <p:txBody>
          <a:bodyPr lIns="0" tIns="0" rIns="0" bIns="0" rtlCol="0" anchor="t">
            <a:spAutoFit/>
          </a:bodyPr>
          <a:lstStyle/>
          <a:p>
            <a:pPr algn="ctr">
              <a:lnSpc>
                <a:spcPts val="7699"/>
              </a:lnSpc>
            </a:pPr>
            <a:r>
              <a:rPr lang="en-US" sz="5499">
                <a:solidFill>
                  <a:srgbClr val="3B365F"/>
                </a:solidFill>
                <a:latin typeface="TAN Headline"/>
                <a:ea typeface="TAN Headline"/>
                <a:cs typeface="TAN Headline"/>
                <a:sym typeface="TAN Headline"/>
              </a:rPr>
              <a:t>Consultas SQL Utilizadas</a:t>
            </a:r>
          </a:p>
        </p:txBody>
      </p:sp>
      <p:sp>
        <p:nvSpPr>
          <p:cNvPr id="6" name="TextBox 6"/>
          <p:cNvSpPr txBox="1"/>
          <p:nvPr/>
        </p:nvSpPr>
        <p:spPr>
          <a:xfrm>
            <a:off x="2146662" y="5332253"/>
            <a:ext cx="5302678" cy="323215"/>
          </a:xfrm>
          <a:prstGeom prst="rect">
            <a:avLst/>
          </a:prstGeom>
        </p:spPr>
        <p:txBody>
          <a:bodyPr lIns="0" tIns="0" rIns="0" bIns="0" rtlCol="0" anchor="t">
            <a:spAutoFit/>
          </a:bodyPr>
          <a:lstStyle/>
          <a:p>
            <a:pPr algn="l">
              <a:lnSpc>
                <a:spcPts val="2659"/>
              </a:lnSpc>
            </a:pPr>
            <a:r>
              <a:rPr lang="en-US" sz="1899" b="1">
                <a:solidFill>
                  <a:srgbClr val="3B365F"/>
                </a:solidFill>
                <a:latin typeface="Open Sans Bold"/>
                <a:ea typeface="Open Sans Bold"/>
                <a:cs typeface="Open Sans Bold"/>
                <a:sym typeface="Open Sans Bold"/>
              </a:rPr>
              <a:t>Total de Atendimento por Ano</a:t>
            </a:r>
          </a:p>
        </p:txBody>
      </p:sp>
      <p:sp>
        <p:nvSpPr>
          <p:cNvPr id="7" name="TextBox 7"/>
          <p:cNvSpPr txBox="1"/>
          <p:nvPr/>
        </p:nvSpPr>
        <p:spPr>
          <a:xfrm>
            <a:off x="1497190" y="1934159"/>
            <a:ext cx="7928966" cy="2249983"/>
          </a:xfrm>
          <a:prstGeom prst="rect">
            <a:avLst/>
          </a:prstGeom>
        </p:spPr>
        <p:txBody>
          <a:bodyPr lIns="0" tIns="0" rIns="0" bIns="0" rtlCol="0" anchor="t">
            <a:spAutoFit/>
          </a:bodyPr>
          <a:lstStyle/>
          <a:p>
            <a:pPr marL="0" lvl="0" indent="0" algn="l">
              <a:lnSpc>
                <a:spcPts val="3560"/>
              </a:lnSpc>
              <a:spcBef>
                <a:spcPct val="0"/>
              </a:spcBef>
            </a:pPr>
            <a:r>
              <a:rPr lang="en-US" sz="2542">
                <a:solidFill>
                  <a:srgbClr val="3B365F"/>
                </a:solidFill>
                <a:latin typeface="Coco Gothic"/>
                <a:ea typeface="Coco Gothic"/>
                <a:cs typeface="Coco Gothic"/>
                <a:sym typeface="Coco Gothic"/>
              </a:rPr>
              <a:t>Os atendimentos permaneceram relativamente estáveis entre 2023 e 2025, demonstrando continuidade nas ações voluntárias hospitalares. O ano de 2026 apresentou menor volume por representar um período parcial da análise.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a:off x="10640758" y="2010359"/>
            <a:ext cx="4420999" cy="2672900"/>
          </a:xfrm>
          <a:custGeom>
            <a:avLst/>
            <a:gdLst/>
            <a:ahLst/>
            <a:cxnLst/>
            <a:rect l="l" t="t" r="r" b="b"/>
            <a:pathLst>
              <a:path w="4420999" h="2672900">
                <a:moveTo>
                  <a:pt x="0" y="0"/>
                </a:moveTo>
                <a:lnTo>
                  <a:pt x="4420999" y="0"/>
                </a:lnTo>
                <a:lnTo>
                  <a:pt x="4420999" y="2672900"/>
                </a:lnTo>
                <a:lnTo>
                  <a:pt x="0" y="2672900"/>
                </a:lnTo>
                <a:lnTo>
                  <a:pt x="0" y="0"/>
                </a:lnTo>
                <a:close/>
              </a:path>
            </a:pathLst>
          </a:custGeom>
          <a:blipFill>
            <a:blip r:embed="rId2"/>
            <a:stretch>
              <a:fillRect/>
            </a:stretch>
          </a:blipFill>
        </p:spPr>
      </p:sp>
      <p:sp>
        <p:nvSpPr>
          <p:cNvPr id="3" name="Freeform 3"/>
          <p:cNvSpPr/>
          <p:nvPr/>
        </p:nvSpPr>
        <p:spPr>
          <a:xfrm>
            <a:off x="1476889" y="5056588"/>
            <a:ext cx="13792402" cy="4827341"/>
          </a:xfrm>
          <a:custGeom>
            <a:avLst/>
            <a:gdLst/>
            <a:ahLst/>
            <a:cxnLst/>
            <a:rect l="l" t="t" r="r" b="b"/>
            <a:pathLst>
              <a:path w="13792402" h="4827341">
                <a:moveTo>
                  <a:pt x="0" y="0"/>
                </a:moveTo>
                <a:lnTo>
                  <a:pt x="13792402" y="0"/>
                </a:lnTo>
                <a:lnTo>
                  <a:pt x="13792402" y="4827341"/>
                </a:lnTo>
                <a:lnTo>
                  <a:pt x="0" y="4827341"/>
                </a:lnTo>
                <a:lnTo>
                  <a:pt x="0" y="0"/>
                </a:lnTo>
                <a:close/>
              </a:path>
            </a:pathLst>
          </a:custGeom>
          <a:blipFill>
            <a:blip r:embed="rId3"/>
            <a:stretch>
              <a:fillRect/>
            </a:stretch>
          </a:blipFill>
        </p:spPr>
      </p:sp>
      <p:sp>
        <p:nvSpPr>
          <p:cNvPr id="4" name="TextBox 4"/>
          <p:cNvSpPr txBox="1"/>
          <p:nvPr/>
        </p:nvSpPr>
        <p:spPr>
          <a:xfrm>
            <a:off x="4225421" y="296497"/>
            <a:ext cx="10630128" cy="936625"/>
          </a:xfrm>
          <a:prstGeom prst="rect">
            <a:avLst/>
          </a:prstGeom>
        </p:spPr>
        <p:txBody>
          <a:bodyPr lIns="0" tIns="0" rIns="0" bIns="0" rtlCol="0" anchor="t">
            <a:spAutoFit/>
          </a:bodyPr>
          <a:lstStyle/>
          <a:p>
            <a:pPr algn="ctr">
              <a:lnSpc>
                <a:spcPts val="7699"/>
              </a:lnSpc>
            </a:pPr>
            <a:r>
              <a:rPr lang="en-US" sz="5499">
                <a:solidFill>
                  <a:srgbClr val="3B365F"/>
                </a:solidFill>
                <a:latin typeface="TAN Headline"/>
                <a:ea typeface="TAN Headline"/>
                <a:cs typeface="TAN Headline"/>
                <a:sym typeface="TAN Headline"/>
              </a:rPr>
              <a:t>Consultas SQL Utilizadas</a:t>
            </a:r>
          </a:p>
        </p:txBody>
      </p:sp>
      <p:sp>
        <p:nvSpPr>
          <p:cNvPr id="5" name="TextBox 5"/>
          <p:cNvSpPr txBox="1"/>
          <p:nvPr/>
        </p:nvSpPr>
        <p:spPr>
          <a:xfrm>
            <a:off x="1497190" y="1934159"/>
            <a:ext cx="7928966" cy="2249983"/>
          </a:xfrm>
          <a:prstGeom prst="rect">
            <a:avLst/>
          </a:prstGeom>
        </p:spPr>
        <p:txBody>
          <a:bodyPr lIns="0" tIns="0" rIns="0" bIns="0" rtlCol="0" anchor="t">
            <a:spAutoFit/>
          </a:bodyPr>
          <a:lstStyle/>
          <a:p>
            <a:pPr marL="0" lvl="0" indent="0" algn="l">
              <a:lnSpc>
                <a:spcPts val="3560"/>
              </a:lnSpc>
              <a:spcBef>
                <a:spcPct val="0"/>
              </a:spcBef>
            </a:pPr>
            <a:r>
              <a:rPr lang="en-US" sz="2542">
                <a:solidFill>
                  <a:srgbClr val="3B365F"/>
                </a:solidFill>
                <a:latin typeface="Coco Gothic"/>
                <a:ea typeface="Coco Gothic"/>
                <a:cs typeface="Coco Gothic"/>
                <a:sym typeface="Coco Gothic"/>
              </a:rPr>
              <a:t>Entretenimento foi a atividade voluntária mais realizada, demonstrando maior participação em ações voltadas ao acolhimento e ao bem-estar dos pacientes. Música Sacra apresentou o menor volume de registros entre as atividades analisadas.</a:t>
            </a:r>
          </a:p>
        </p:txBody>
      </p:sp>
      <p:sp>
        <p:nvSpPr>
          <p:cNvPr id="6" name="TextBox 6"/>
          <p:cNvSpPr txBox="1"/>
          <p:nvPr/>
        </p:nvSpPr>
        <p:spPr>
          <a:xfrm>
            <a:off x="1780528" y="5105400"/>
            <a:ext cx="5302678" cy="323215"/>
          </a:xfrm>
          <a:prstGeom prst="rect">
            <a:avLst/>
          </a:prstGeom>
        </p:spPr>
        <p:txBody>
          <a:bodyPr lIns="0" tIns="0" rIns="0" bIns="0" rtlCol="0" anchor="t">
            <a:spAutoFit/>
          </a:bodyPr>
          <a:lstStyle/>
          <a:p>
            <a:pPr algn="l">
              <a:lnSpc>
                <a:spcPts val="2659"/>
              </a:lnSpc>
            </a:pPr>
            <a:r>
              <a:rPr lang="en-US" sz="1899" b="1">
                <a:solidFill>
                  <a:srgbClr val="3B365F"/>
                </a:solidFill>
                <a:latin typeface="Open Sans Bold"/>
                <a:ea typeface="Open Sans Bold"/>
                <a:cs typeface="Open Sans Bold"/>
                <a:sym typeface="Open Sans Bold"/>
              </a:rPr>
              <a:t>Atividade Voluntária Mais Realizada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a:off x="1497190" y="4184142"/>
            <a:ext cx="13993190" cy="5789682"/>
          </a:xfrm>
          <a:custGeom>
            <a:avLst/>
            <a:gdLst/>
            <a:ahLst/>
            <a:cxnLst/>
            <a:rect l="l" t="t" r="r" b="b"/>
            <a:pathLst>
              <a:path w="13993190" h="5789682">
                <a:moveTo>
                  <a:pt x="0" y="0"/>
                </a:moveTo>
                <a:lnTo>
                  <a:pt x="13993190" y="0"/>
                </a:lnTo>
                <a:lnTo>
                  <a:pt x="13993190" y="5789682"/>
                </a:lnTo>
                <a:lnTo>
                  <a:pt x="0" y="5789682"/>
                </a:lnTo>
                <a:lnTo>
                  <a:pt x="0" y="0"/>
                </a:lnTo>
                <a:close/>
              </a:path>
            </a:pathLst>
          </a:custGeom>
          <a:blipFill>
            <a:blip r:embed="rId2"/>
            <a:stretch>
              <a:fillRect/>
            </a:stretch>
          </a:blipFill>
        </p:spPr>
      </p:sp>
      <p:sp>
        <p:nvSpPr>
          <p:cNvPr id="3" name="Freeform 3"/>
          <p:cNvSpPr/>
          <p:nvPr/>
        </p:nvSpPr>
        <p:spPr>
          <a:xfrm>
            <a:off x="11640733" y="1789132"/>
            <a:ext cx="3445851" cy="3433886"/>
          </a:xfrm>
          <a:custGeom>
            <a:avLst/>
            <a:gdLst/>
            <a:ahLst/>
            <a:cxnLst/>
            <a:rect l="l" t="t" r="r" b="b"/>
            <a:pathLst>
              <a:path w="3445851" h="3433886">
                <a:moveTo>
                  <a:pt x="0" y="0"/>
                </a:moveTo>
                <a:lnTo>
                  <a:pt x="3445850" y="0"/>
                </a:lnTo>
                <a:lnTo>
                  <a:pt x="3445850" y="3433886"/>
                </a:lnTo>
                <a:lnTo>
                  <a:pt x="0" y="3433886"/>
                </a:lnTo>
                <a:lnTo>
                  <a:pt x="0" y="0"/>
                </a:lnTo>
                <a:close/>
              </a:path>
            </a:pathLst>
          </a:custGeom>
          <a:blipFill>
            <a:blip r:embed="rId3"/>
            <a:stretch>
              <a:fillRect/>
            </a:stretch>
          </a:blipFill>
        </p:spPr>
      </p:sp>
      <p:sp>
        <p:nvSpPr>
          <p:cNvPr id="4" name="TextBox 4"/>
          <p:cNvSpPr txBox="1"/>
          <p:nvPr/>
        </p:nvSpPr>
        <p:spPr>
          <a:xfrm>
            <a:off x="4225421" y="296497"/>
            <a:ext cx="10630128" cy="936625"/>
          </a:xfrm>
          <a:prstGeom prst="rect">
            <a:avLst/>
          </a:prstGeom>
        </p:spPr>
        <p:txBody>
          <a:bodyPr lIns="0" tIns="0" rIns="0" bIns="0" rtlCol="0" anchor="t">
            <a:spAutoFit/>
          </a:bodyPr>
          <a:lstStyle/>
          <a:p>
            <a:pPr algn="ctr">
              <a:lnSpc>
                <a:spcPts val="7699"/>
              </a:lnSpc>
            </a:pPr>
            <a:r>
              <a:rPr lang="en-US" sz="5499">
                <a:solidFill>
                  <a:srgbClr val="3B365F"/>
                </a:solidFill>
                <a:latin typeface="TAN Headline"/>
                <a:ea typeface="TAN Headline"/>
                <a:cs typeface="TAN Headline"/>
                <a:sym typeface="TAN Headline"/>
              </a:rPr>
              <a:t>Consultas SQL Utilizadas</a:t>
            </a:r>
          </a:p>
        </p:txBody>
      </p:sp>
      <p:sp>
        <p:nvSpPr>
          <p:cNvPr id="5" name="TextBox 5"/>
          <p:cNvSpPr txBox="1"/>
          <p:nvPr/>
        </p:nvSpPr>
        <p:spPr>
          <a:xfrm>
            <a:off x="1497190" y="1712932"/>
            <a:ext cx="9079346" cy="1802308"/>
          </a:xfrm>
          <a:prstGeom prst="rect">
            <a:avLst/>
          </a:prstGeom>
        </p:spPr>
        <p:txBody>
          <a:bodyPr lIns="0" tIns="0" rIns="0" bIns="0" rtlCol="0" anchor="t">
            <a:spAutoFit/>
          </a:bodyPr>
          <a:lstStyle/>
          <a:p>
            <a:pPr marL="0" lvl="0" indent="0" algn="l">
              <a:lnSpc>
                <a:spcPts val="3560"/>
              </a:lnSpc>
              <a:spcBef>
                <a:spcPct val="0"/>
              </a:spcBef>
            </a:pPr>
            <a:r>
              <a:rPr lang="en-US" sz="2542">
                <a:solidFill>
                  <a:srgbClr val="3B365F"/>
                </a:solidFill>
                <a:latin typeface="Coco Gothic"/>
                <a:ea typeface="Coco Gothic"/>
                <a:cs typeface="Coco Gothic"/>
                <a:sym typeface="Coco Gothic"/>
              </a:rPr>
              <a:t>Os atendimentos voluntários apresentaram comportamento relativamente estável ao longo dos anos, com pequenas variações mensais e períodos de maior concentração das ações hospitalares.</a:t>
            </a:r>
          </a:p>
        </p:txBody>
      </p:sp>
      <p:sp>
        <p:nvSpPr>
          <p:cNvPr id="6" name="TextBox 6"/>
          <p:cNvSpPr txBox="1"/>
          <p:nvPr/>
        </p:nvSpPr>
        <p:spPr>
          <a:xfrm>
            <a:off x="2023877" y="4454021"/>
            <a:ext cx="5302678" cy="323215"/>
          </a:xfrm>
          <a:prstGeom prst="rect">
            <a:avLst/>
          </a:prstGeom>
        </p:spPr>
        <p:txBody>
          <a:bodyPr lIns="0" tIns="0" rIns="0" bIns="0" rtlCol="0" anchor="t">
            <a:spAutoFit/>
          </a:bodyPr>
          <a:lstStyle/>
          <a:p>
            <a:pPr algn="l">
              <a:lnSpc>
                <a:spcPts val="2659"/>
              </a:lnSpc>
            </a:pPr>
            <a:r>
              <a:rPr lang="en-US" sz="1899" b="1">
                <a:solidFill>
                  <a:srgbClr val="3B365F"/>
                </a:solidFill>
                <a:latin typeface="Open Sans Bold"/>
                <a:ea typeface="Open Sans Bold"/>
                <a:cs typeface="Open Sans Bold"/>
                <a:sym typeface="Open Sans Bold"/>
              </a:rPr>
              <a:t>Atendimentos Mensais por Ano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a:off x="8964165" y="1789132"/>
            <a:ext cx="7876607" cy="2662321"/>
          </a:xfrm>
          <a:custGeom>
            <a:avLst/>
            <a:gdLst/>
            <a:ahLst/>
            <a:cxnLst/>
            <a:rect l="l" t="t" r="r" b="b"/>
            <a:pathLst>
              <a:path w="7876607" h="2662321">
                <a:moveTo>
                  <a:pt x="0" y="0"/>
                </a:moveTo>
                <a:lnTo>
                  <a:pt x="7876607" y="0"/>
                </a:lnTo>
                <a:lnTo>
                  <a:pt x="7876607" y="2662321"/>
                </a:lnTo>
                <a:lnTo>
                  <a:pt x="0" y="2662321"/>
                </a:lnTo>
                <a:lnTo>
                  <a:pt x="0" y="0"/>
                </a:lnTo>
                <a:close/>
              </a:path>
            </a:pathLst>
          </a:custGeom>
          <a:blipFill>
            <a:blip r:embed="rId2"/>
            <a:stretch>
              <a:fillRect/>
            </a:stretch>
          </a:blipFill>
        </p:spPr>
      </p:sp>
      <p:sp>
        <p:nvSpPr>
          <p:cNvPr id="3" name="Freeform 3"/>
          <p:cNvSpPr/>
          <p:nvPr/>
        </p:nvSpPr>
        <p:spPr>
          <a:xfrm>
            <a:off x="1933432" y="4850799"/>
            <a:ext cx="13219548" cy="5199311"/>
          </a:xfrm>
          <a:custGeom>
            <a:avLst/>
            <a:gdLst/>
            <a:ahLst/>
            <a:cxnLst/>
            <a:rect l="l" t="t" r="r" b="b"/>
            <a:pathLst>
              <a:path w="13219548" h="5199311">
                <a:moveTo>
                  <a:pt x="0" y="0"/>
                </a:moveTo>
                <a:lnTo>
                  <a:pt x="13219549" y="0"/>
                </a:lnTo>
                <a:lnTo>
                  <a:pt x="13219549" y="5199311"/>
                </a:lnTo>
                <a:lnTo>
                  <a:pt x="0" y="5199311"/>
                </a:lnTo>
                <a:lnTo>
                  <a:pt x="0" y="0"/>
                </a:lnTo>
                <a:close/>
              </a:path>
            </a:pathLst>
          </a:custGeom>
          <a:blipFill>
            <a:blip r:embed="rId3"/>
            <a:stretch>
              <a:fillRect t="-3300" r="-20219" b="-3300"/>
            </a:stretch>
          </a:blipFill>
        </p:spPr>
      </p:sp>
      <p:sp>
        <p:nvSpPr>
          <p:cNvPr id="4" name="Freeform 4"/>
          <p:cNvSpPr/>
          <p:nvPr/>
        </p:nvSpPr>
        <p:spPr>
          <a:xfrm>
            <a:off x="13137135" y="5452745"/>
            <a:ext cx="1585678" cy="1710045"/>
          </a:xfrm>
          <a:custGeom>
            <a:avLst/>
            <a:gdLst/>
            <a:ahLst/>
            <a:cxnLst/>
            <a:rect l="l" t="t" r="r" b="b"/>
            <a:pathLst>
              <a:path w="1585678" h="1710045">
                <a:moveTo>
                  <a:pt x="0" y="0"/>
                </a:moveTo>
                <a:lnTo>
                  <a:pt x="1585677" y="0"/>
                </a:lnTo>
                <a:lnTo>
                  <a:pt x="1585677" y="1710045"/>
                </a:lnTo>
                <a:lnTo>
                  <a:pt x="0" y="1710045"/>
                </a:lnTo>
                <a:lnTo>
                  <a:pt x="0" y="0"/>
                </a:lnTo>
                <a:close/>
              </a:path>
            </a:pathLst>
          </a:custGeom>
          <a:blipFill>
            <a:blip r:embed="rId4"/>
            <a:stretch>
              <a:fillRect/>
            </a:stretch>
          </a:blipFill>
        </p:spPr>
      </p:sp>
      <p:sp>
        <p:nvSpPr>
          <p:cNvPr id="5" name="TextBox 5"/>
          <p:cNvSpPr txBox="1"/>
          <p:nvPr/>
        </p:nvSpPr>
        <p:spPr>
          <a:xfrm>
            <a:off x="4225421" y="296497"/>
            <a:ext cx="10630128" cy="936625"/>
          </a:xfrm>
          <a:prstGeom prst="rect">
            <a:avLst/>
          </a:prstGeom>
        </p:spPr>
        <p:txBody>
          <a:bodyPr lIns="0" tIns="0" rIns="0" bIns="0" rtlCol="0" anchor="t">
            <a:spAutoFit/>
          </a:bodyPr>
          <a:lstStyle/>
          <a:p>
            <a:pPr algn="ctr">
              <a:lnSpc>
                <a:spcPts val="7699"/>
              </a:lnSpc>
            </a:pPr>
            <a:r>
              <a:rPr lang="en-US" sz="5499">
                <a:solidFill>
                  <a:srgbClr val="3B365F"/>
                </a:solidFill>
                <a:latin typeface="TAN Headline"/>
                <a:ea typeface="TAN Headline"/>
                <a:cs typeface="TAN Headline"/>
                <a:sym typeface="TAN Headline"/>
              </a:rPr>
              <a:t>Consultas SQL Utilizadas</a:t>
            </a:r>
          </a:p>
        </p:txBody>
      </p:sp>
      <p:sp>
        <p:nvSpPr>
          <p:cNvPr id="6" name="TextBox 6"/>
          <p:cNvSpPr txBox="1"/>
          <p:nvPr/>
        </p:nvSpPr>
        <p:spPr>
          <a:xfrm>
            <a:off x="1497190" y="1712932"/>
            <a:ext cx="6911322" cy="2249983"/>
          </a:xfrm>
          <a:prstGeom prst="rect">
            <a:avLst/>
          </a:prstGeom>
        </p:spPr>
        <p:txBody>
          <a:bodyPr lIns="0" tIns="0" rIns="0" bIns="0" rtlCol="0" anchor="t">
            <a:spAutoFit/>
          </a:bodyPr>
          <a:lstStyle/>
          <a:p>
            <a:pPr marL="0" lvl="0" indent="0" algn="l">
              <a:lnSpc>
                <a:spcPts val="3560"/>
              </a:lnSpc>
              <a:spcBef>
                <a:spcPct val="0"/>
              </a:spcBef>
            </a:pPr>
            <a:r>
              <a:rPr lang="en-US" sz="2542">
                <a:solidFill>
                  <a:srgbClr val="3B365F"/>
                </a:solidFill>
                <a:latin typeface="Coco Gothic"/>
                <a:ea typeface="Coco Gothic"/>
                <a:cs typeface="Coco Gothic"/>
                <a:sym typeface="Coco Gothic"/>
              </a:rPr>
              <a:t>O período da tarde concentrou a maior quantidade de atendimentos voluntários, enquanto o período noturno apresentou menor participação nas atividades analisadas.</a:t>
            </a:r>
          </a:p>
        </p:txBody>
      </p:sp>
      <p:sp>
        <p:nvSpPr>
          <p:cNvPr id="7" name="TextBox 7"/>
          <p:cNvSpPr txBox="1"/>
          <p:nvPr/>
        </p:nvSpPr>
        <p:spPr>
          <a:xfrm>
            <a:off x="2012110" y="5105400"/>
            <a:ext cx="6396402" cy="656590"/>
          </a:xfrm>
          <a:prstGeom prst="rect">
            <a:avLst/>
          </a:prstGeom>
        </p:spPr>
        <p:txBody>
          <a:bodyPr lIns="0" tIns="0" rIns="0" bIns="0" rtlCol="0" anchor="t">
            <a:spAutoFit/>
          </a:bodyPr>
          <a:lstStyle/>
          <a:p>
            <a:pPr algn="just">
              <a:lnSpc>
                <a:spcPts val="2659"/>
              </a:lnSpc>
            </a:pPr>
            <a:r>
              <a:rPr lang="en-US" sz="1899" b="1">
                <a:solidFill>
                  <a:srgbClr val="3B365F"/>
                </a:solidFill>
                <a:latin typeface="Open Sans Bold"/>
                <a:ea typeface="Open Sans Bold"/>
                <a:cs typeface="Open Sans Bold"/>
                <a:sym typeface="Open Sans Bold"/>
              </a:rPr>
              <a:t>Distribuição de Atendimentos por Período do Dia</a:t>
            </a:r>
          </a:p>
          <a:p>
            <a:pPr algn="just">
              <a:lnSpc>
                <a:spcPts val="2659"/>
              </a:lnSpc>
            </a:pPr>
            <a:endParaRPr lang="en-US" sz="1899" b="1">
              <a:solidFill>
                <a:srgbClr val="3B365F"/>
              </a:solidFill>
              <a:latin typeface="Open Sans Bold"/>
              <a:ea typeface="Open Sans Bold"/>
              <a:cs typeface="Open Sans Bold"/>
              <a:sym typeface="Open Sans 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rot="-591004">
            <a:off x="9396593" y="1210516"/>
            <a:ext cx="7488222" cy="7841071"/>
          </a:xfrm>
          <a:custGeom>
            <a:avLst/>
            <a:gdLst/>
            <a:ahLst/>
            <a:cxnLst/>
            <a:rect l="l" t="t" r="r" b="b"/>
            <a:pathLst>
              <a:path w="9743832" h="10202966">
                <a:moveTo>
                  <a:pt x="0" y="0"/>
                </a:moveTo>
                <a:lnTo>
                  <a:pt x="9743832" y="0"/>
                </a:lnTo>
                <a:lnTo>
                  <a:pt x="9743832" y="10202966"/>
                </a:lnTo>
                <a:lnTo>
                  <a:pt x="0" y="102029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38390" y="606533"/>
            <a:ext cx="1828678" cy="1399770"/>
          </a:xfrm>
          <a:custGeom>
            <a:avLst/>
            <a:gdLst/>
            <a:ahLst/>
            <a:cxnLst/>
            <a:rect l="l" t="t" r="r" b="b"/>
            <a:pathLst>
              <a:path w="1828678" h="1399770">
                <a:moveTo>
                  <a:pt x="0" y="0"/>
                </a:moveTo>
                <a:lnTo>
                  <a:pt x="1828678" y="0"/>
                </a:lnTo>
                <a:lnTo>
                  <a:pt x="1828678" y="1399770"/>
                </a:lnTo>
                <a:lnTo>
                  <a:pt x="0" y="13997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4460558" y="573066"/>
            <a:ext cx="627698" cy="634365"/>
            <a:chOff x="0" y="0"/>
            <a:chExt cx="836930" cy="845820"/>
          </a:xfrm>
        </p:grpSpPr>
        <p:sp>
          <p:nvSpPr>
            <p:cNvPr id="5" name="Freeform 5"/>
            <p:cNvSpPr/>
            <p:nvPr/>
          </p:nvSpPr>
          <p:spPr>
            <a:xfrm>
              <a:off x="48623" y="49530"/>
              <a:ext cx="741168" cy="745726"/>
            </a:xfrm>
            <a:custGeom>
              <a:avLst/>
              <a:gdLst/>
              <a:ahLst/>
              <a:cxnLst/>
              <a:rect l="l" t="t" r="r" b="b"/>
              <a:pathLst>
                <a:path w="741168" h="745726">
                  <a:moveTo>
                    <a:pt x="538117" y="711200"/>
                  </a:moveTo>
                  <a:cubicBezTo>
                    <a:pt x="14877" y="204470"/>
                    <a:pt x="12337" y="200660"/>
                    <a:pt x="7257" y="185420"/>
                  </a:cubicBezTo>
                  <a:cubicBezTo>
                    <a:pt x="907" y="162560"/>
                    <a:pt x="-2903" y="123190"/>
                    <a:pt x="5987" y="97790"/>
                  </a:cubicBezTo>
                  <a:cubicBezTo>
                    <a:pt x="13607" y="71120"/>
                    <a:pt x="35197" y="43180"/>
                    <a:pt x="56787" y="26670"/>
                  </a:cubicBezTo>
                  <a:cubicBezTo>
                    <a:pt x="79647" y="10160"/>
                    <a:pt x="113937" y="0"/>
                    <a:pt x="140607" y="1270"/>
                  </a:cubicBezTo>
                  <a:cubicBezTo>
                    <a:pt x="168547" y="2540"/>
                    <a:pt x="204107" y="19050"/>
                    <a:pt x="223157" y="31750"/>
                  </a:cubicBezTo>
                  <a:cubicBezTo>
                    <a:pt x="237127" y="41910"/>
                    <a:pt x="244747" y="50800"/>
                    <a:pt x="252367" y="64770"/>
                  </a:cubicBezTo>
                  <a:cubicBezTo>
                    <a:pt x="263797" y="86360"/>
                    <a:pt x="272687" y="127000"/>
                    <a:pt x="272687" y="149860"/>
                  </a:cubicBezTo>
                  <a:cubicBezTo>
                    <a:pt x="272687" y="167640"/>
                    <a:pt x="270147" y="179070"/>
                    <a:pt x="262527" y="193040"/>
                  </a:cubicBezTo>
                  <a:cubicBezTo>
                    <a:pt x="251097" y="214630"/>
                    <a:pt x="226967" y="245110"/>
                    <a:pt x="202837" y="257810"/>
                  </a:cubicBezTo>
                  <a:cubicBezTo>
                    <a:pt x="178707" y="271780"/>
                    <a:pt x="140607" y="275590"/>
                    <a:pt x="117747" y="274320"/>
                  </a:cubicBezTo>
                  <a:cubicBezTo>
                    <a:pt x="99967" y="273050"/>
                    <a:pt x="88537" y="269240"/>
                    <a:pt x="74567" y="260350"/>
                  </a:cubicBezTo>
                  <a:cubicBezTo>
                    <a:pt x="54247" y="248920"/>
                    <a:pt x="25037" y="223520"/>
                    <a:pt x="13607" y="198120"/>
                  </a:cubicBezTo>
                  <a:cubicBezTo>
                    <a:pt x="907" y="173990"/>
                    <a:pt x="-2903" y="138430"/>
                    <a:pt x="2177" y="111760"/>
                  </a:cubicBezTo>
                  <a:cubicBezTo>
                    <a:pt x="7257" y="85090"/>
                    <a:pt x="25037" y="54610"/>
                    <a:pt x="45357" y="35560"/>
                  </a:cubicBezTo>
                  <a:cubicBezTo>
                    <a:pt x="66947" y="17780"/>
                    <a:pt x="102507" y="5080"/>
                    <a:pt x="126637" y="1270"/>
                  </a:cubicBezTo>
                  <a:cubicBezTo>
                    <a:pt x="143147" y="-1270"/>
                    <a:pt x="154577" y="0"/>
                    <a:pt x="171087" y="5080"/>
                  </a:cubicBezTo>
                  <a:cubicBezTo>
                    <a:pt x="192677" y="12700"/>
                    <a:pt x="211727" y="26670"/>
                    <a:pt x="243477" y="53340"/>
                  </a:cubicBezTo>
                  <a:cubicBezTo>
                    <a:pt x="334917" y="128270"/>
                    <a:pt x="642257" y="455930"/>
                    <a:pt x="705757" y="535940"/>
                  </a:cubicBezTo>
                  <a:cubicBezTo>
                    <a:pt x="723537" y="558800"/>
                    <a:pt x="731157" y="565150"/>
                    <a:pt x="736237" y="584200"/>
                  </a:cubicBezTo>
                  <a:cubicBezTo>
                    <a:pt x="742587" y="608330"/>
                    <a:pt x="743857" y="645160"/>
                    <a:pt x="733697" y="670560"/>
                  </a:cubicBezTo>
                  <a:cubicBezTo>
                    <a:pt x="723537" y="694690"/>
                    <a:pt x="695597" y="721360"/>
                    <a:pt x="674007" y="732790"/>
                  </a:cubicBezTo>
                  <a:cubicBezTo>
                    <a:pt x="656227" y="742950"/>
                    <a:pt x="638447" y="746760"/>
                    <a:pt x="618127" y="745490"/>
                  </a:cubicBezTo>
                  <a:cubicBezTo>
                    <a:pt x="592727" y="742950"/>
                    <a:pt x="538117" y="711200"/>
                    <a:pt x="538117" y="711200"/>
                  </a:cubicBezTo>
                </a:path>
              </a:pathLst>
            </a:custGeom>
            <a:solidFill>
              <a:srgbClr val="88A3CE"/>
            </a:solidFill>
            <a:ln cap="sq">
              <a:noFill/>
              <a:prstDash val="solid"/>
              <a:miter/>
            </a:ln>
          </p:spPr>
        </p:sp>
      </p:grpSp>
      <p:grpSp>
        <p:nvGrpSpPr>
          <p:cNvPr id="6" name="Group 6"/>
          <p:cNvGrpSpPr/>
          <p:nvPr/>
        </p:nvGrpSpPr>
        <p:grpSpPr>
          <a:xfrm>
            <a:off x="5068253" y="483531"/>
            <a:ext cx="296228" cy="615315"/>
            <a:chOff x="0" y="0"/>
            <a:chExt cx="394970" cy="820420"/>
          </a:xfrm>
        </p:grpSpPr>
        <p:sp>
          <p:nvSpPr>
            <p:cNvPr id="7" name="Freeform 7"/>
            <p:cNvSpPr/>
            <p:nvPr/>
          </p:nvSpPr>
          <p:spPr>
            <a:xfrm>
              <a:off x="49574" y="50476"/>
              <a:ext cx="297355" cy="719531"/>
            </a:xfrm>
            <a:custGeom>
              <a:avLst/>
              <a:gdLst/>
              <a:ahLst/>
              <a:cxnLst/>
              <a:rect l="l" t="t" r="r" b="b"/>
              <a:pathLst>
                <a:path w="297355" h="719531">
                  <a:moveTo>
                    <a:pt x="64726" y="625164"/>
                  </a:moveTo>
                  <a:cubicBezTo>
                    <a:pt x="1226" y="207334"/>
                    <a:pt x="10116" y="86684"/>
                    <a:pt x="31706" y="47314"/>
                  </a:cubicBezTo>
                  <a:cubicBezTo>
                    <a:pt x="39326" y="30804"/>
                    <a:pt x="48216" y="26994"/>
                    <a:pt x="62186" y="19374"/>
                  </a:cubicBezTo>
                  <a:cubicBezTo>
                    <a:pt x="82506" y="9214"/>
                    <a:pt x="116796" y="-946"/>
                    <a:pt x="142196" y="1594"/>
                  </a:cubicBezTo>
                  <a:cubicBezTo>
                    <a:pt x="167596" y="4134"/>
                    <a:pt x="198076" y="18104"/>
                    <a:pt x="217126" y="35884"/>
                  </a:cubicBezTo>
                  <a:cubicBezTo>
                    <a:pt x="236176" y="52394"/>
                    <a:pt x="251416" y="81604"/>
                    <a:pt x="256496" y="107004"/>
                  </a:cubicBezTo>
                  <a:cubicBezTo>
                    <a:pt x="260306" y="132404"/>
                    <a:pt x="255226" y="165424"/>
                    <a:pt x="243796" y="188284"/>
                  </a:cubicBezTo>
                  <a:cubicBezTo>
                    <a:pt x="231096" y="211144"/>
                    <a:pt x="203156" y="234004"/>
                    <a:pt x="184106" y="245434"/>
                  </a:cubicBezTo>
                  <a:cubicBezTo>
                    <a:pt x="171406" y="253054"/>
                    <a:pt x="159976" y="255594"/>
                    <a:pt x="144736" y="256864"/>
                  </a:cubicBezTo>
                  <a:cubicBezTo>
                    <a:pt x="123146" y="256864"/>
                    <a:pt x="83776" y="249244"/>
                    <a:pt x="64726" y="239084"/>
                  </a:cubicBezTo>
                  <a:cubicBezTo>
                    <a:pt x="50756" y="232734"/>
                    <a:pt x="41866" y="225114"/>
                    <a:pt x="32976" y="213684"/>
                  </a:cubicBezTo>
                  <a:cubicBezTo>
                    <a:pt x="19006" y="195904"/>
                    <a:pt x="5036" y="159074"/>
                    <a:pt x="1226" y="137484"/>
                  </a:cubicBezTo>
                  <a:cubicBezTo>
                    <a:pt x="-1314" y="122244"/>
                    <a:pt x="-44" y="110814"/>
                    <a:pt x="6306" y="95574"/>
                  </a:cubicBezTo>
                  <a:cubicBezTo>
                    <a:pt x="12656" y="75254"/>
                    <a:pt x="30436" y="43504"/>
                    <a:pt x="50756" y="28264"/>
                  </a:cubicBezTo>
                  <a:cubicBezTo>
                    <a:pt x="71076" y="11754"/>
                    <a:pt x="106636" y="2864"/>
                    <a:pt x="128226" y="324"/>
                  </a:cubicBezTo>
                  <a:cubicBezTo>
                    <a:pt x="144736" y="-946"/>
                    <a:pt x="154896" y="1594"/>
                    <a:pt x="170136" y="6674"/>
                  </a:cubicBezTo>
                  <a:cubicBezTo>
                    <a:pt x="190456" y="15564"/>
                    <a:pt x="220936" y="34614"/>
                    <a:pt x="234906" y="56204"/>
                  </a:cubicBezTo>
                  <a:cubicBezTo>
                    <a:pt x="250146" y="77794"/>
                    <a:pt x="259036" y="109544"/>
                    <a:pt x="257766" y="134944"/>
                  </a:cubicBezTo>
                  <a:cubicBezTo>
                    <a:pt x="256496" y="160344"/>
                    <a:pt x="226016" y="209874"/>
                    <a:pt x="228556" y="211144"/>
                  </a:cubicBezTo>
                  <a:cubicBezTo>
                    <a:pt x="229826" y="212414"/>
                    <a:pt x="242526" y="181934"/>
                    <a:pt x="248876" y="184474"/>
                  </a:cubicBezTo>
                  <a:cubicBezTo>
                    <a:pt x="271736" y="190824"/>
                    <a:pt x="309836" y="561664"/>
                    <a:pt x="293326" y="635324"/>
                  </a:cubicBezTo>
                  <a:cubicBezTo>
                    <a:pt x="288246" y="660724"/>
                    <a:pt x="279356" y="669614"/>
                    <a:pt x="265386" y="683584"/>
                  </a:cubicBezTo>
                  <a:cubicBezTo>
                    <a:pt x="247606" y="700094"/>
                    <a:pt x="215856" y="716604"/>
                    <a:pt x="189186" y="719144"/>
                  </a:cubicBezTo>
                  <a:cubicBezTo>
                    <a:pt x="163786" y="721684"/>
                    <a:pt x="130766" y="711524"/>
                    <a:pt x="109176" y="695014"/>
                  </a:cubicBezTo>
                  <a:cubicBezTo>
                    <a:pt x="88856" y="679774"/>
                    <a:pt x="64726" y="625164"/>
                    <a:pt x="64726" y="625164"/>
                  </a:cubicBezTo>
                </a:path>
              </a:pathLst>
            </a:custGeom>
            <a:solidFill>
              <a:srgbClr val="88A3CE"/>
            </a:solidFill>
            <a:ln cap="sq">
              <a:noFill/>
              <a:prstDash val="solid"/>
              <a:miter/>
            </a:ln>
          </p:spPr>
        </p:sp>
      </p:grpSp>
      <p:grpSp>
        <p:nvGrpSpPr>
          <p:cNvPr id="8" name="Group 8"/>
          <p:cNvGrpSpPr/>
          <p:nvPr/>
        </p:nvGrpSpPr>
        <p:grpSpPr>
          <a:xfrm>
            <a:off x="4470082" y="1228386"/>
            <a:ext cx="592455" cy="303847"/>
            <a:chOff x="0" y="0"/>
            <a:chExt cx="789940" cy="405130"/>
          </a:xfrm>
        </p:grpSpPr>
        <p:sp>
          <p:nvSpPr>
            <p:cNvPr id="9" name="Freeform 9"/>
            <p:cNvSpPr/>
            <p:nvPr/>
          </p:nvSpPr>
          <p:spPr>
            <a:xfrm>
              <a:off x="49213" y="50302"/>
              <a:ext cx="690163" cy="305006"/>
            </a:xfrm>
            <a:custGeom>
              <a:avLst/>
              <a:gdLst/>
              <a:ahLst/>
              <a:cxnLst/>
              <a:rect l="l" t="t" r="r" b="b"/>
              <a:pathLst>
                <a:path w="690163" h="305006">
                  <a:moveTo>
                    <a:pt x="552767" y="276088"/>
                  </a:moveTo>
                  <a:cubicBezTo>
                    <a:pt x="350837" y="254498"/>
                    <a:pt x="270827" y="248148"/>
                    <a:pt x="233997" y="260848"/>
                  </a:cubicBezTo>
                  <a:cubicBezTo>
                    <a:pt x="213677" y="268468"/>
                    <a:pt x="209867" y="286248"/>
                    <a:pt x="190817" y="292598"/>
                  </a:cubicBezTo>
                  <a:cubicBezTo>
                    <a:pt x="169227" y="301488"/>
                    <a:pt x="132397" y="307838"/>
                    <a:pt x="105727" y="301488"/>
                  </a:cubicBezTo>
                  <a:cubicBezTo>
                    <a:pt x="79057" y="295138"/>
                    <a:pt x="48577" y="273548"/>
                    <a:pt x="32067" y="257038"/>
                  </a:cubicBezTo>
                  <a:cubicBezTo>
                    <a:pt x="20637" y="244338"/>
                    <a:pt x="15557" y="232908"/>
                    <a:pt x="10477" y="218938"/>
                  </a:cubicBezTo>
                  <a:cubicBezTo>
                    <a:pt x="5397" y="204968"/>
                    <a:pt x="317" y="192268"/>
                    <a:pt x="1587" y="175758"/>
                  </a:cubicBezTo>
                  <a:cubicBezTo>
                    <a:pt x="2857" y="152898"/>
                    <a:pt x="9207" y="116068"/>
                    <a:pt x="25717" y="93208"/>
                  </a:cubicBezTo>
                  <a:cubicBezTo>
                    <a:pt x="40957" y="71618"/>
                    <a:pt x="68897" y="50028"/>
                    <a:pt x="94297" y="42408"/>
                  </a:cubicBezTo>
                  <a:cubicBezTo>
                    <a:pt x="119697" y="33518"/>
                    <a:pt x="157797" y="37328"/>
                    <a:pt x="180657" y="43678"/>
                  </a:cubicBezTo>
                  <a:cubicBezTo>
                    <a:pt x="195897" y="47488"/>
                    <a:pt x="206057" y="52568"/>
                    <a:pt x="218757" y="63998"/>
                  </a:cubicBezTo>
                  <a:cubicBezTo>
                    <a:pt x="235267" y="79238"/>
                    <a:pt x="259397" y="109718"/>
                    <a:pt x="265747" y="135118"/>
                  </a:cubicBezTo>
                  <a:cubicBezTo>
                    <a:pt x="273367" y="161788"/>
                    <a:pt x="270827" y="196078"/>
                    <a:pt x="260667" y="221478"/>
                  </a:cubicBezTo>
                  <a:cubicBezTo>
                    <a:pt x="250507" y="246878"/>
                    <a:pt x="227647" y="272278"/>
                    <a:pt x="204787" y="286248"/>
                  </a:cubicBezTo>
                  <a:cubicBezTo>
                    <a:pt x="180657" y="300218"/>
                    <a:pt x="147637" y="307838"/>
                    <a:pt x="119697" y="304028"/>
                  </a:cubicBezTo>
                  <a:cubicBezTo>
                    <a:pt x="93027" y="301488"/>
                    <a:pt x="62547" y="286248"/>
                    <a:pt x="42227" y="267198"/>
                  </a:cubicBezTo>
                  <a:cubicBezTo>
                    <a:pt x="23177" y="248148"/>
                    <a:pt x="7937" y="213858"/>
                    <a:pt x="2857" y="190998"/>
                  </a:cubicBezTo>
                  <a:cubicBezTo>
                    <a:pt x="-953" y="174488"/>
                    <a:pt x="-953" y="163058"/>
                    <a:pt x="2857" y="146548"/>
                  </a:cubicBezTo>
                  <a:cubicBezTo>
                    <a:pt x="9207" y="124958"/>
                    <a:pt x="28257" y="91938"/>
                    <a:pt x="44767" y="71618"/>
                  </a:cubicBezTo>
                  <a:cubicBezTo>
                    <a:pt x="58737" y="53838"/>
                    <a:pt x="70167" y="41138"/>
                    <a:pt x="93027" y="29708"/>
                  </a:cubicBezTo>
                  <a:cubicBezTo>
                    <a:pt x="131127" y="11928"/>
                    <a:pt x="206057" y="4308"/>
                    <a:pt x="263207" y="498"/>
                  </a:cubicBezTo>
                  <a:cubicBezTo>
                    <a:pt x="321627" y="-2042"/>
                    <a:pt x="382587" y="5578"/>
                    <a:pt x="441007" y="13198"/>
                  </a:cubicBezTo>
                  <a:cubicBezTo>
                    <a:pt x="500697" y="20818"/>
                    <a:pt x="574357" y="25898"/>
                    <a:pt x="616267" y="47488"/>
                  </a:cubicBezTo>
                  <a:cubicBezTo>
                    <a:pt x="644207" y="61458"/>
                    <a:pt x="665797" y="84318"/>
                    <a:pt x="677227" y="104638"/>
                  </a:cubicBezTo>
                  <a:cubicBezTo>
                    <a:pt x="687387" y="122418"/>
                    <a:pt x="691197" y="141468"/>
                    <a:pt x="689927" y="160518"/>
                  </a:cubicBezTo>
                  <a:cubicBezTo>
                    <a:pt x="687387" y="184648"/>
                    <a:pt x="673417" y="220208"/>
                    <a:pt x="656907" y="239258"/>
                  </a:cubicBezTo>
                  <a:cubicBezTo>
                    <a:pt x="644207" y="254498"/>
                    <a:pt x="626427" y="264658"/>
                    <a:pt x="609917" y="271008"/>
                  </a:cubicBezTo>
                  <a:cubicBezTo>
                    <a:pt x="592137" y="276088"/>
                    <a:pt x="552767" y="276088"/>
                    <a:pt x="552767" y="276088"/>
                  </a:cubicBezTo>
                </a:path>
              </a:pathLst>
            </a:custGeom>
            <a:solidFill>
              <a:srgbClr val="88A3CE"/>
            </a:solidFill>
            <a:ln cap="sq">
              <a:noFill/>
              <a:prstDash val="solid"/>
              <a:miter/>
            </a:ln>
          </p:spPr>
        </p:sp>
      </p:grpSp>
      <p:grpSp>
        <p:nvGrpSpPr>
          <p:cNvPr id="10" name="Group 10"/>
          <p:cNvGrpSpPr/>
          <p:nvPr/>
        </p:nvGrpSpPr>
        <p:grpSpPr>
          <a:xfrm rot="-5466542">
            <a:off x="13171488" y="957477"/>
            <a:ext cx="552469" cy="522858"/>
            <a:chOff x="0" y="0"/>
            <a:chExt cx="900430" cy="852170"/>
          </a:xfrm>
        </p:grpSpPr>
        <p:sp>
          <p:nvSpPr>
            <p:cNvPr id="11" name="Freeform 11"/>
            <p:cNvSpPr/>
            <p:nvPr/>
          </p:nvSpPr>
          <p:spPr>
            <a:xfrm>
              <a:off x="48017" y="49847"/>
              <a:ext cx="803368" cy="750720"/>
            </a:xfrm>
            <a:custGeom>
              <a:avLst/>
              <a:gdLst/>
              <a:ahLst/>
              <a:cxnLst/>
              <a:rect l="l" t="t" r="r" b="b"/>
              <a:pathLst>
                <a:path w="803368" h="750720">
                  <a:moveTo>
                    <a:pt x="205983" y="40323"/>
                  </a:moveTo>
                  <a:cubicBezTo>
                    <a:pt x="569203" y="394653"/>
                    <a:pt x="744463" y="493713"/>
                    <a:pt x="783833" y="543243"/>
                  </a:cubicBezTo>
                  <a:cubicBezTo>
                    <a:pt x="796533" y="559753"/>
                    <a:pt x="797803" y="567373"/>
                    <a:pt x="800343" y="583883"/>
                  </a:cubicBezTo>
                  <a:cubicBezTo>
                    <a:pt x="804153" y="606743"/>
                    <a:pt x="802883" y="644843"/>
                    <a:pt x="792723" y="670243"/>
                  </a:cubicBezTo>
                  <a:cubicBezTo>
                    <a:pt x="781293" y="695643"/>
                    <a:pt x="757163" y="721043"/>
                    <a:pt x="733033" y="733743"/>
                  </a:cubicBezTo>
                  <a:cubicBezTo>
                    <a:pt x="708903" y="747713"/>
                    <a:pt x="674613" y="754063"/>
                    <a:pt x="647943" y="748983"/>
                  </a:cubicBezTo>
                  <a:cubicBezTo>
                    <a:pt x="620003" y="745173"/>
                    <a:pt x="589523" y="729933"/>
                    <a:pt x="570473" y="709613"/>
                  </a:cubicBezTo>
                  <a:cubicBezTo>
                    <a:pt x="551423" y="690563"/>
                    <a:pt x="537453" y="653733"/>
                    <a:pt x="532373" y="630873"/>
                  </a:cubicBezTo>
                  <a:cubicBezTo>
                    <a:pt x="529833" y="614363"/>
                    <a:pt x="531103" y="601663"/>
                    <a:pt x="534913" y="587693"/>
                  </a:cubicBezTo>
                  <a:cubicBezTo>
                    <a:pt x="537453" y="572453"/>
                    <a:pt x="541263" y="559753"/>
                    <a:pt x="550153" y="545783"/>
                  </a:cubicBezTo>
                  <a:cubicBezTo>
                    <a:pt x="564123" y="526733"/>
                    <a:pt x="590793" y="500063"/>
                    <a:pt x="616193" y="488633"/>
                  </a:cubicBezTo>
                  <a:cubicBezTo>
                    <a:pt x="641593" y="478473"/>
                    <a:pt x="679693" y="478473"/>
                    <a:pt x="702553" y="483553"/>
                  </a:cubicBezTo>
                  <a:cubicBezTo>
                    <a:pt x="719063" y="486093"/>
                    <a:pt x="729223" y="491173"/>
                    <a:pt x="743193" y="501333"/>
                  </a:cubicBezTo>
                  <a:cubicBezTo>
                    <a:pt x="760973" y="515303"/>
                    <a:pt x="787643" y="543243"/>
                    <a:pt x="796533" y="569913"/>
                  </a:cubicBezTo>
                  <a:cubicBezTo>
                    <a:pt x="805423" y="595313"/>
                    <a:pt x="805423" y="630873"/>
                    <a:pt x="797803" y="656273"/>
                  </a:cubicBezTo>
                  <a:cubicBezTo>
                    <a:pt x="788913" y="682943"/>
                    <a:pt x="768593" y="710883"/>
                    <a:pt x="745733" y="726123"/>
                  </a:cubicBezTo>
                  <a:cubicBezTo>
                    <a:pt x="722873" y="742633"/>
                    <a:pt x="686043" y="750253"/>
                    <a:pt x="661913" y="750253"/>
                  </a:cubicBezTo>
                  <a:cubicBezTo>
                    <a:pt x="645403" y="751523"/>
                    <a:pt x="636513" y="747713"/>
                    <a:pt x="618733" y="741363"/>
                  </a:cubicBezTo>
                  <a:cubicBezTo>
                    <a:pt x="592063" y="731203"/>
                    <a:pt x="550153" y="707073"/>
                    <a:pt x="515863" y="682943"/>
                  </a:cubicBezTo>
                  <a:cubicBezTo>
                    <a:pt x="479033" y="657543"/>
                    <a:pt x="448553" y="633413"/>
                    <a:pt x="405373" y="592773"/>
                  </a:cubicBezTo>
                  <a:cubicBezTo>
                    <a:pt x="332983" y="529273"/>
                    <a:pt x="208523" y="403543"/>
                    <a:pt x="137403" y="324803"/>
                  </a:cubicBezTo>
                  <a:cubicBezTo>
                    <a:pt x="85333" y="268923"/>
                    <a:pt x="30723" y="219393"/>
                    <a:pt x="11673" y="173673"/>
                  </a:cubicBezTo>
                  <a:cubicBezTo>
                    <a:pt x="-1027" y="143193"/>
                    <a:pt x="-2297" y="113983"/>
                    <a:pt x="2783" y="89853"/>
                  </a:cubicBezTo>
                  <a:cubicBezTo>
                    <a:pt x="5323" y="70803"/>
                    <a:pt x="16753" y="53023"/>
                    <a:pt x="28183" y="40323"/>
                  </a:cubicBezTo>
                  <a:cubicBezTo>
                    <a:pt x="40883" y="26353"/>
                    <a:pt x="58663" y="14923"/>
                    <a:pt x="75173" y="8573"/>
                  </a:cubicBezTo>
                  <a:cubicBezTo>
                    <a:pt x="92953" y="953"/>
                    <a:pt x="112003" y="-1587"/>
                    <a:pt x="132323" y="953"/>
                  </a:cubicBezTo>
                  <a:cubicBezTo>
                    <a:pt x="155183" y="6033"/>
                    <a:pt x="205983" y="40323"/>
                    <a:pt x="205983" y="40323"/>
                  </a:cubicBezTo>
                </a:path>
              </a:pathLst>
            </a:custGeom>
            <a:solidFill>
              <a:srgbClr val="88A3CE"/>
            </a:solidFill>
            <a:ln cap="sq">
              <a:noFill/>
              <a:prstDash val="solid"/>
              <a:miter/>
            </a:ln>
          </p:spPr>
        </p:sp>
      </p:grpSp>
      <p:grpSp>
        <p:nvGrpSpPr>
          <p:cNvPr id="12" name="Group 12"/>
          <p:cNvGrpSpPr/>
          <p:nvPr/>
        </p:nvGrpSpPr>
        <p:grpSpPr>
          <a:xfrm rot="-5466542">
            <a:off x="12755985" y="971838"/>
            <a:ext cx="621819" cy="241559"/>
            <a:chOff x="0" y="0"/>
            <a:chExt cx="1013460" cy="393700"/>
          </a:xfrm>
        </p:grpSpPr>
        <p:sp>
          <p:nvSpPr>
            <p:cNvPr id="13" name="Freeform 13"/>
            <p:cNvSpPr/>
            <p:nvPr/>
          </p:nvSpPr>
          <p:spPr>
            <a:xfrm>
              <a:off x="50559" y="48084"/>
              <a:ext cx="913595" cy="300601"/>
            </a:xfrm>
            <a:custGeom>
              <a:avLst/>
              <a:gdLst/>
              <a:ahLst/>
              <a:cxnLst/>
              <a:rect l="l" t="t" r="r" b="b"/>
              <a:pathLst>
                <a:path w="913595" h="300601">
                  <a:moveTo>
                    <a:pt x="123431" y="45896"/>
                  </a:moveTo>
                  <a:cubicBezTo>
                    <a:pt x="710171" y="29386"/>
                    <a:pt x="710171" y="17956"/>
                    <a:pt x="725411" y="12876"/>
                  </a:cubicBezTo>
                  <a:cubicBezTo>
                    <a:pt x="748271" y="5256"/>
                    <a:pt x="785101" y="-1094"/>
                    <a:pt x="811771" y="5256"/>
                  </a:cubicBezTo>
                  <a:cubicBezTo>
                    <a:pt x="838441" y="11606"/>
                    <a:pt x="868921" y="34466"/>
                    <a:pt x="884161" y="50976"/>
                  </a:cubicBezTo>
                  <a:cubicBezTo>
                    <a:pt x="895591" y="62406"/>
                    <a:pt x="901941" y="72566"/>
                    <a:pt x="905751" y="89076"/>
                  </a:cubicBezTo>
                  <a:cubicBezTo>
                    <a:pt x="912101" y="110666"/>
                    <a:pt x="917181" y="148766"/>
                    <a:pt x="908291" y="174166"/>
                  </a:cubicBezTo>
                  <a:cubicBezTo>
                    <a:pt x="900671" y="200836"/>
                    <a:pt x="880351" y="228776"/>
                    <a:pt x="858761" y="245286"/>
                  </a:cubicBezTo>
                  <a:cubicBezTo>
                    <a:pt x="837171" y="260526"/>
                    <a:pt x="800341" y="269416"/>
                    <a:pt x="776211" y="270686"/>
                  </a:cubicBezTo>
                  <a:cubicBezTo>
                    <a:pt x="759701" y="271956"/>
                    <a:pt x="748271" y="269416"/>
                    <a:pt x="734301" y="263066"/>
                  </a:cubicBezTo>
                  <a:cubicBezTo>
                    <a:pt x="712711" y="252906"/>
                    <a:pt x="680961" y="231316"/>
                    <a:pt x="666991" y="208456"/>
                  </a:cubicBezTo>
                  <a:cubicBezTo>
                    <a:pt x="651751" y="185596"/>
                    <a:pt x="642861" y="152576"/>
                    <a:pt x="645401" y="125906"/>
                  </a:cubicBezTo>
                  <a:cubicBezTo>
                    <a:pt x="647941" y="97966"/>
                    <a:pt x="660641" y="66216"/>
                    <a:pt x="678421" y="45896"/>
                  </a:cubicBezTo>
                  <a:cubicBezTo>
                    <a:pt x="697471" y="25576"/>
                    <a:pt x="731761" y="10336"/>
                    <a:pt x="753351" y="3986"/>
                  </a:cubicBezTo>
                  <a:cubicBezTo>
                    <a:pt x="769861" y="-1094"/>
                    <a:pt x="781291" y="-1094"/>
                    <a:pt x="797801" y="2716"/>
                  </a:cubicBezTo>
                  <a:cubicBezTo>
                    <a:pt x="819391" y="6526"/>
                    <a:pt x="856221" y="25576"/>
                    <a:pt x="874001" y="39546"/>
                  </a:cubicBezTo>
                  <a:cubicBezTo>
                    <a:pt x="886701" y="50976"/>
                    <a:pt x="894321" y="59866"/>
                    <a:pt x="900671" y="75106"/>
                  </a:cubicBezTo>
                  <a:cubicBezTo>
                    <a:pt x="908291" y="96696"/>
                    <a:pt x="917181" y="133526"/>
                    <a:pt x="912101" y="160196"/>
                  </a:cubicBezTo>
                  <a:cubicBezTo>
                    <a:pt x="907021" y="186866"/>
                    <a:pt x="895591" y="216076"/>
                    <a:pt x="870191" y="235126"/>
                  </a:cubicBezTo>
                  <a:cubicBezTo>
                    <a:pt x="828281" y="268146"/>
                    <a:pt x="734301" y="283386"/>
                    <a:pt x="650481" y="294816"/>
                  </a:cubicBezTo>
                  <a:cubicBezTo>
                    <a:pt x="543801" y="307516"/>
                    <a:pt x="382511" y="296086"/>
                    <a:pt x="278371" y="291006"/>
                  </a:cubicBezTo>
                  <a:cubicBezTo>
                    <a:pt x="203441" y="288466"/>
                    <a:pt x="131051" y="293546"/>
                    <a:pt x="84061" y="277036"/>
                  </a:cubicBezTo>
                  <a:cubicBezTo>
                    <a:pt x="54851" y="264336"/>
                    <a:pt x="31991" y="245286"/>
                    <a:pt x="18021" y="226236"/>
                  </a:cubicBezTo>
                  <a:cubicBezTo>
                    <a:pt x="6591" y="209726"/>
                    <a:pt x="1511" y="190676"/>
                    <a:pt x="241" y="171626"/>
                  </a:cubicBezTo>
                  <a:cubicBezTo>
                    <a:pt x="-1029" y="153846"/>
                    <a:pt x="2781" y="133526"/>
                    <a:pt x="10401" y="117016"/>
                  </a:cubicBezTo>
                  <a:cubicBezTo>
                    <a:pt x="18021" y="99236"/>
                    <a:pt x="28181" y="82726"/>
                    <a:pt x="44691" y="71296"/>
                  </a:cubicBezTo>
                  <a:cubicBezTo>
                    <a:pt x="63741" y="57326"/>
                    <a:pt x="123431" y="45896"/>
                    <a:pt x="123431" y="45896"/>
                  </a:cubicBezTo>
                </a:path>
              </a:pathLst>
            </a:custGeom>
            <a:solidFill>
              <a:srgbClr val="88A3CE"/>
            </a:solidFill>
            <a:ln cap="sq">
              <a:noFill/>
              <a:prstDash val="solid"/>
              <a:miter/>
            </a:ln>
          </p:spPr>
        </p:sp>
      </p:grpSp>
      <p:grpSp>
        <p:nvGrpSpPr>
          <p:cNvPr id="14" name="Group 14"/>
          <p:cNvGrpSpPr/>
          <p:nvPr/>
        </p:nvGrpSpPr>
        <p:grpSpPr>
          <a:xfrm rot="-5466542">
            <a:off x="13425147" y="1315976"/>
            <a:ext cx="287533" cy="490131"/>
            <a:chOff x="0" y="0"/>
            <a:chExt cx="468630" cy="798830"/>
          </a:xfrm>
        </p:grpSpPr>
        <p:sp>
          <p:nvSpPr>
            <p:cNvPr id="15" name="Freeform 15"/>
            <p:cNvSpPr/>
            <p:nvPr/>
          </p:nvSpPr>
          <p:spPr>
            <a:xfrm>
              <a:off x="49539" y="47400"/>
              <a:ext cx="371182" cy="700630"/>
            </a:xfrm>
            <a:custGeom>
              <a:avLst/>
              <a:gdLst/>
              <a:ahLst/>
              <a:cxnLst/>
              <a:rect l="l" t="t" r="r" b="b"/>
              <a:pathLst>
                <a:path w="371182" h="700630">
                  <a:moveTo>
                    <a:pt x="231131" y="102460"/>
                  </a:moveTo>
                  <a:cubicBezTo>
                    <a:pt x="294631" y="459330"/>
                    <a:pt x="351781" y="489810"/>
                    <a:pt x="364481" y="529180"/>
                  </a:cubicBezTo>
                  <a:cubicBezTo>
                    <a:pt x="374641" y="558390"/>
                    <a:pt x="372101" y="587600"/>
                    <a:pt x="364481" y="613000"/>
                  </a:cubicBezTo>
                  <a:cubicBezTo>
                    <a:pt x="355591" y="637130"/>
                    <a:pt x="334001" y="663800"/>
                    <a:pt x="312411" y="679040"/>
                  </a:cubicBezTo>
                  <a:cubicBezTo>
                    <a:pt x="290821" y="693010"/>
                    <a:pt x="257801" y="701900"/>
                    <a:pt x="231131" y="699360"/>
                  </a:cubicBezTo>
                  <a:cubicBezTo>
                    <a:pt x="205731" y="698090"/>
                    <a:pt x="173981" y="685390"/>
                    <a:pt x="154931" y="667610"/>
                  </a:cubicBezTo>
                  <a:cubicBezTo>
                    <a:pt x="134611" y="651100"/>
                    <a:pt x="116831" y="621890"/>
                    <a:pt x="111751" y="595220"/>
                  </a:cubicBezTo>
                  <a:cubicBezTo>
                    <a:pt x="106671" y="569820"/>
                    <a:pt x="114291" y="534260"/>
                    <a:pt x="121911" y="512670"/>
                  </a:cubicBezTo>
                  <a:cubicBezTo>
                    <a:pt x="128261" y="497430"/>
                    <a:pt x="134611" y="488540"/>
                    <a:pt x="146041" y="478380"/>
                  </a:cubicBezTo>
                  <a:cubicBezTo>
                    <a:pt x="163821" y="463140"/>
                    <a:pt x="198111" y="445360"/>
                    <a:pt x="220971" y="440280"/>
                  </a:cubicBezTo>
                  <a:cubicBezTo>
                    <a:pt x="236211" y="436470"/>
                    <a:pt x="247641" y="436470"/>
                    <a:pt x="262881" y="440280"/>
                  </a:cubicBezTo>
                  <a:cubicBezTo>
                    <a:pt x="284471" y="445360"/>
                    <a:pt x="320031" y="465680"/>
                    <a:pt x="336541" y="480920"/>
                  </a:cubicBezTo>
                  <a:cubicBezTo>
                    <a:pt x="347971" y="491080"/>
                    <a:pt x="354321" y="499970"/>
                    <a:pt x="359401" y="515210"/>
                  </a:cubicBezTo>
                  <a:cubicBezTo>
                    <a:pt x="367021" y="536800"/>
                    <a:pt x="370831" y="576170"/>
                    <a:pt x="368291" y="599030"/>
                  </a:cubicBezTo>
                  <a:cubicBezTo>
                    <a:pt x="365751" y="614270"/>
                    <a:pt x="360671" y="625700"/>
                    <a:pt x="351781" y="638400"/>
                  </a:cubicBezTo>
                  <a:cubicBezTo>
                    <a:pt x="337811" y="656180"/>
                    <a:pt x="307331" y="681580"/>
                    <a:pt x="287011" y="691740"/>
                  </a:cubicBezTo>
                  <a:cubicBezTo>
                    <a:pt x="273041" y="698090"/>
                    <a:pt x="261611" y="700630"/>
                    <a:pt x="246371" y="700630"/>
                  </a:cubicBezTo>
                  <a:cubicBezTo>
                    <a:pt x="223511" y="699360"/>
                    <a:pt x="193031" y="691740"/>
                    <a:pt x="165091" y="676500"/>
                  </a:cubicBezTo>
                  <a:cubicBezTo>
                    <a:pt x="130801" y="658720"/>
                    <a:pt x="85081" y="626970"/>
                    <a:pt x="62221" y="590140"/>
                  </a:cubicBezTo>
                  <a:cubicBezTo>
                    <a:pt x="38091" y="550770"/>
                    <a:pt x="36821" y="503780"/>
                    <a:pt x="26661" y="445360"/>
                  </a:cubicBezTo>
                  <a:cubicBezTo>
                    <a:pt x="13961" y="360270"/>
                    <a:pt x="-5089" y="196440"/>
                    <a:pt x="1261" y="126590"/>
                  </a:cubicBezTo>
                  <a:cubicBezTo>
                    <a:pt x="5071" y="91030"/>
                    <a:pt x="10151" y="66900"/>
                    <a:pt x="22851" y="47850"/>
                  </a:cubicBezTo>
                  <a:cubicBezTo>
                    <a:pt x="33011" y="31340"/>
                    <a:pt x="46981" y="18640"/>
                    <a:pt x="64761" y="11020"/>
                  </a:cubicBezTo>
                  <a:cubicBezTo>
                    <a:pt x="86351" y="2130"/>
                    <a:pt x="120641" y="-4220"/>
                    <a:pt x="146041" y="3400"/>
                  </a:cubicBezTo>
                  <a:cubicBezTo>
                    <a:pt x="170171" y="9750"/>
                    <a:pt x="198111" y="31340"/>
                    <a:pt x="212081" y="50390"/>
                  </a:cubicBezTo>
                  <a:cubicBezTo>
                    <a:pt x="223511" y="65630"/>
                    <a:pt x="231131" y="102460"/>
                    <a:pt x="231131" y="102460"/>
                  </a:cubicBezTo>
                </a:path>
              </a:pathLst>
            </a:custGeom>
            <a:solidFill>
              <a:srgbClr val="88A3CE"/>
            </a:solidFill>
            <a:ln cap="sq">
              <a:noFill/>
              <a:prstDash val="solid"/>
              <a:miter/>
            </a:ln>
          </p:spPr>
        </p:sp>
      </p:grpSp>
      <p:sp>
        <p:nvSpPr>
          <p:cNvPr id="16" name="TextBox 16"/>
          <p:cNvSpPr txBox="1"/>
          <p:nvPr/>
        </p:nvSpPr>
        <p:spPr>
          <a:xfrm>
            <a:off x="3973005" y="690349"/>
            <a:ext cx="9616186" cy="946150"/>
          </a:xfrm>
          <a:prstGeom prst="rect">
            <a:avLst/>
          </a:prstGeom>
        </p:spPr>
        <p:txBody>
          <a:bodyPr lIns="0" tIns="0" rIns="0" bIns="0" rtlCol="0" anchor="t">
            <a:spAutoFit/>
          </a:bodyPr>
          <a:lstStyle/>
          <a:p>
            <a:pPr marL="0" lvl="0" indent="0" algn="ctr">
              <a:lnSpc>
                <a:spcPts val="7700"/>
              </a:lnSpc>
              <a:spcBef>
                <a:spcPct val="0"/>
              </a:spcBef>
            </a:pPr>
            <a:r>
              <a:rPr lang="en-US" sz="5500" u="none" strike="noStrike">
                <a:solidFill>
                  <a:srgbClr val="3B365F"/>
                </a:solidFill>
                <a:latin typeface="TAN Headline"/>
                <a:ea typeface="TAN Headline"/>
                <a:cs typeface="TAN Headline"/>
                <a:sym typeface="TAN Headline"/>
              </a:rPr>
              <a:t>Conclusão</a:t>
            </a:r>
          </a:p>
        </p:txBody>
      </p:sp>
      <p:sp>
        <p:nvSpPr>
          <p:cNvPr id="17" name="TextBox 17"/>
          <p:cNvSpPr txBox="1"/>
          <p:nvPr/>
        </p:nvSpPr>
        <p:spPr>
          <a:xfrm>
            <a:off x="1663887" y="4010787"/>
            <a:ext cx="14960225" cy="2179701"/>
          </a:xfrm>
          <a:prstGeom prst="rect">
            <a:avLst/>
          </a:prstGeom>
        </p:spPr>
        <p:txBody>
          <a:bodyPr lIns="0" tIns="0" rIns="0" bIns="0" rtlCol="0" anchor="t">
            <a:spAutoFit/>
          </a:bodyPr>
          <a:lstStyle/>
          <a:p>
            <a:pPr algn="l">
              <a:lnSpc>
                <a:spcPts val="4284"/>
              </a:lnSpc>
              <a:spcBef>
                <a:spcPct val="0"/>
              </a:spcBef>
            </a:pPr>
            <a:r>
              <a:rPr lang="en-US" sz="3060">
                <a:solidFill>
                  <a:srgbClr val="3B365F"/>
                </a:solidFill>
                <a:latin typeface="Coco Gothic"/>
                <a:ea typeface="Coco Gothic"/>
                <a:cs typeface="Coco Gothic"/>
                <a:sym typeface="Coco Gothic"/>
              </a:rPr>
              <a:t>O projeto demonstrou como técnicas de análise de dados podem auxiliar hospitais na gestão do voluntariado, permitindo identificar padrões de atendimento, apoiar a tomada de decisões e ampliar o impacto social das ações voluntárias no ambiente hospitalar.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2" name="Freeform 2"/>
          <p:cNvSpPr/>
          <p:nvPr/>
        </p:nvSpPr>
        <p:spPr>
          <a:xfrm rot="-591004">
            <a:off x="9420598" y="1183281"/>
            <a:ext cx="7780279" cy="8146889"/>
          </a:xfrm>
          <a:custGeom>
            <a:avLst/>
            <a:gdLst/>
            <a:ahLst/>
            <a:cxnLst/>
            <a:rect l="l" t="t" r="r" b="b"/>
            <a:pathLst>
              <a:path w="9743832" h="10202966">
                <a:moveTo>
                  <a:pt x="0" y="0"/>
                </a:moveTo>
                <a:lnTo>
                  <a:pt x="9743832" y="0"/>
                </a:lnTo>
                <a:lnTo>
                  <a:pt x="9743832" y="10202966"/>
                </a:lnTo>
                <a:lnTo>
                  <a:pt x="0" y="102029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38390" y="606533"/>
            <a:ext cx="1828678" cy="1399770"/>
          </a:xfrm>
          <a:custGeom>
            <a:avLst/>
            <a:gdLst/>
            <a:ahLst/>
            <a:cxnLst/>
            <a:rect l="l" t="t" r="r" b="b"/>
            <a:pathLst>
              <a:path w="1828678" h="1399770">
                <a:moveTo>
                  <a:pt x="0" y="0"/>
                </a:moveTo>
                <a:lnTo>
                  <a:pt x="1828678" y="0"/>
                </a:lnTo>
                <a:lnTo>
                  <a:pt x="1828678" y="1399770"/>
                </a:lnTo>
                <a:lnTo>
                  <a:pt x="0" y="13997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4460558" y="573066"/>
            <a:ext cx="627698" cy="634365"/>
            <a:chOff x="0" y="0"/>
            <a:chExt cx="836930" cy="845820"/>
          </a:xfrm>
        </p:grpSpPr>
        <p:sp>
          <p:nvSpPr>
            <p:cNvPr id="5" name="Freeform 5"/>
            <p:cNvSpPr/>
            <p:nvPr/>
          </p:nvSpPr>
          <p:spPr>
            <a:xfrm>
              <a:off x="48623" y="49530"/>
              <a:ext cx="741168" cy="745726"/>
            </a:xfrm>
            <a:custGeom>
              <a:avLst/>
              <a:gdLst/>
              <a:ahLst/>
              <a:cxnLst/>
              <a:rect l="l" t="t" r="r" b="b"/>
              <a:pathLst>
                <a:path w="741168" h="745726">
                  <a:moveTo>
                    <a:pt x="538117" y="711200"/>
                  </a:moveTo>
                  <a:cubicBezTo>
                    <a:pt x="14877" y="204470"/>
                    <a:pt x="12337" y="200660"/>
                    <a:pt x="7257" y="185420"/>
                  </a:cubicBezTo>
                  <a:cubicBezTo>
                    <a:pt x="907" y="162560"/>
                    <a:pt x="-2903" y="123190"/>
                    <a:pt x="5987" y="97790"/>
                  </a:cubicBezTo>
                  <a:cubicBezTo>
                    <a:pt x="13607" y="71120"/>
                    <a:pt x="35197" y="43180"/>
                    <a:pt x="56787" y="26670"/>
                  </a:cubicBezTo>
                  <a:cubicBezTo>
                    <a:pt x="79647" y="10160"/>
                    <a:pt x="113937" y="0"/>
                    <a:pt x="140607" y="1270"/>
                  </a:cubicBezTo>
                  <a:cubicBezTo>
                    <a:pt x="168547" y="2540"/>
                    <a:pt x="204107" y="19050"/>
                    <a:pt x="223157" y="31750"/>
                  </a:cubicBezTo>
                  <a:cubicBezTo>
                    <a:pt x="237127" y="41910"/>
                    <a:pt x="244747" y="50800"/>
                    <a:pt x="252367" y="64770"/>
                  </a:cubicBezTo>
                  <a:cubicBezTo>
                    <a:pt x="263797" y="86360"/>
                    <a:pt x="272687" y="127000"/>
                    <a:pt x="272687" y="149860"/>
                  </a:cubicBezTo>
                  <a:cubicBezTo>
                    <a:pt x="272687" y="167640"/>
                    <a:pt x="270147" y="179070"/>
                    <a:pt x="262527" y="193040"/>
                  </a:cubicBezTo>
                  <a:cubicBezTo>
                    <a:pt x="251097" y="214630"/>
                    <a:pt x="226967" y="245110"/>
                    <a:pt x="202837" y="257810"/>
                  </a:cubicBezTo>
                  <a:cubicBezTo>
                    <a:pt x="178707" y="271780"/>
                    <a:pt x="140607" y="275590"/>
                    <a:pt x="117747" y="274320"/>
                  </a:cubicBezTo>
                  <a:cubicBezTo>
                    <a:pt x="99967" y="273050"/>
                    <a:pt x="88537" y="269240"/>
                    <a:pt x="74567" y="260350"/>
                  </a:cubicBezTo>
                  <a:cubicBezTo>
                    <a:pt x="54247" y="248920"/>
                    <a:pt x="25037" y="223520"/>
                    <a:pt x="13607" y="198120"/>
                  </a:cubicBezTo>
                  <a:cubicBezTo>
                    <a:pt x="907" y="173990"/>
                    <a:pt x="-2903" y="138430"/>
                    <a:pt x="2177" y="111760"/>
                  </a:cubicBezTo>
                  <a:cubicBezTo>
                    <a:pt x="7257" y="85090"/>
                    <a:pt x="25037" y="54610"/>
                    <a:pt x="45357" y="35560"/>
                  </a:cubicBezTo>
                  <a:cubicBezTo>
                    <a:pt x="66947" y="17780"/>
                    <a:pt x="102507" y="5080"/>
                    <a:pt x="126637" y="1270"/>
                  </a:cubicBezTo>
                  <a:cubicBezTo>
                    <a:pt x="143147" y="-1270"/>
                    <a:pt x="154577" y="0"/>
                    <a:pt x="171087" y="5080"/>
                  </a:cubicBezTo>
                  <a:cubicBezTo>
                    <a:pt x="192677" y="12700"/>
                    <a:pt x="211727" y="26670"/>
                    <a:pt x="243477" y="53340"/>
                  </a:cubicBezTo>
                  <a:cubicBezTo>
                    <a:pt x="334917" y="128270"/>
                    <a:pt x="642257" y="455930"/>
                    <a:pt x="705757" y="535940"/>
                  </a:cubicBezTo>
                  <a:cubicBezTo>
                    <a:pt x="723537" y="558800"/>
                    <a:pt x="731157" y="565150"/>
                    <a:pt x="736237" y="584200"/>
                  </a:cubicBezTo>
                  <a:cubicBezTo>
                    <a:pt x="742587" y="608330"/>
                    <a:pt x="743857" y="645160"/>
                    <a:pt x="733697" y="670560"/>
                  </a:cubicBezTo>
                  <a:cubicBezTo>
                    <a:pt x="723537" y="694690"/>
                    <a:pt x="695597" y="721360"/>
                    <a:pt x="674007" y="732790"/>
                  </a:cubicBezTo>
                  <a:cubicBezTo>
                    <a:pt x="656227" y="742950"/>
                    <a:pt x="638447" y="746760"/>
                    <a:pt x="618127" y="745490"/>
                  </a:cubicBezTo>
                  <a:cubicBezTo>
                    <a:pt x="592727" y="742950"/>
                    <a:pt x="538117" y="711200"/>
                    <a:pt x="538117" y="711200"/>
                  </a:cubicBezTo>
                </a:path>
              </a:pathLst>
            </a:custGeom>
            <a:solidFill>
              <a:srgbClr val="88A3CE"/>
            </a:solidFill>
            <a:ln cap="sq">
              <a:noFill/>
              <a:prstDash val="solid"/>
              <a:miter/>
            </a:ln>
          </p:spPr>
        </p:sp>
      </p:grpSp>
      <p:grpSp>
        <p:nvGrpSpPr>
          <p:cNvPr id="6" name="Group 6"/>
          <p:cNvGrpSpPr/>
          <p:nvPr/>
        </p:nvGrpSpPr>
        <p:grpSpPr>
          <a:xfrm>
            <a:off x="5068253" y="483531"/>
            <a:ext cx="296228" cy="615315"/>
            <a:chOff x="0" y="0"/>
            <a:chExt cx="394970" cy="820420"/>
          </a:xfrm>
        </p:grpSpPr>
        <p:sp>
          <p:nvSpPr>
            <p:cNvPr id="7" name="Freeform 7"/>
            <p:cNvSpPr/>
            <p:nvPr/>
          </p:nvSpPr>
          <p:spPr>
            <a:xfrm>
              <a:off x="49574" y="50476"/>
              <a:ext cx="297355" cy="719531"/>
            </a:xfrm>
            <a:custGeom>
              <a:avLst/>
              <a:gdLst/>
              <a:ahLst/>
              <a:cxnLst/>
              <a:rect l="l" t="t" r="r" b="b"/>
              <a:pathLst>
                <a:path w="297355" h="719531">
                  <a:moveTo>
                    <a:pt x="64726" y="625164"/>
                  </a:moveTo>
                  <a:cubicBezTo>
                    <a:pt x="1226" y="207334"/>
                    <a:pt x="10116" y="86684"/>
                    <a:pt x="31706" y="47314"/>
                  </a:cubicBezTo>
                  <a:cubicBezTo>
                    <a:pt x="39326" y="30804"/>
                    <a:pt x="48216" y="26994"/>
                    <a:pt x="62186" y="19374"/>
                  </a:cubicBezTo>
                  <a:cubicBezTo>
                    <a:pt x="82506" y="9214"/>
                    <a:pt x="116796" y="-946"/>
                    <a:pt x="142196" y="1594"/>
                  </a:cubicBezTo>
                  <a:cubicBezTo>
                    <a:pt x="167596" y="4134"/>
                    <a:pt x="198076" y="18104"/>
                    <a:pt x="217126" y="35884"/>
                  </a:cubicBezTo>
                  <a:cubicBezTo>
                    <a:pt x="236176" y="52394"/>
                    <a:pt x="251416" y="81604"/>
                    <a:pt x="256496" y="107004"/>
                  </a:cubicBezTo>
                  <a:cubicBezTo>
                    <a:pt x="260306" y="132404"/>
                    <a:pt x="255226" y="165424"/>
                    <a:pt x="243796" y="188284"/>
                  </a:cubicBezTo>
                  <a:cubicBezTo>
                    <a:pt x="231096" y="211144"/>
                    <a:pt x="203156" y="234004"/>
                    <a:pt x="184106" y="245434"/>
                  </a:cubicBezTo>
                  <a:cubicBezTo>
                    <a:pt x="171406" y="253054"/>
                    <a:pt x="159976" y="255594"/>
                    <a:pt x="144736" y="256864"/>
                  </a:cubicBezTo>
                  <a:cubicBezTo>
                    <a:pt x="123146" y="256864"/>
                    <a:pt x="83776" y="249244"/>
                    <a:pt x="64726" y="239084"/>
                  </a:cubicBezTo>
                  <a:cubicBezTo>
                    <a:pt x="50756" y="232734"/>
                    <a:pt x="41866" y="225114"/>
                    <a:pt x="32976" y="213684"/>
                  </a:cubicBezTo>
                  <a:cubicBezTo>
                    <a:pt x="19006" y="195904"/>
                    <a:pt x="5036" y="159074"/>
                    <a:pt x="1226" y="137484"/>
                  </a:cubicBezTo>
                  <a:cubicBezTo>
                    <a:pt x="-1314" y="122244"/>
                    <a:pt x="-44" y="110814"/>
                    <a:pt x="6306" y="95574"/>
                  </a:cubicBezTo>
                  <a:cubicBezTo>
                    <a:pt x="12656" y="75254"/>
                    <a:pt x="30436" y="43504"/>
                    <a:pt x="50756" y="28264"/>
                  </a:cubicBezTo>
                  <a:cubicBezTo>
                    <a:pt x="71076" y="11754"/>
                    <a:pt x="106636" y="2864"/>
                    <a:pt x="128226" y="324"/>
                  </a:cubicBezTo>
                  <a:cubicBezTo>
                    <a:pt x="144736" y="-946"/>
                    <a:pt x="154896" y="1594"/>
                    <a:pt x="170136" y="6674"/>
                  </a:cubicBezTo>
                  <a:cubicBezTo>
                    <a:pt x="190456" y="15564"/>
                    <a:pt x="220936" y="34614"/>
                    <a:pt x="234906" y="56204"/>
                  </a:cubicBezTo>
                  <a:cubicBezTo>
                    <a:pt x="250146" y="77794"/>
                    <a:pt x="259036" y="109544"/>
                    <a:pt x="257766" y="134944"/>
                  </a:cubicBezTo>
                  <a:cubicBezTo>
                    <a:pt x="256496" y="160344"/>
                    <a:pt x="226016" y="209874"/>
                    <a:pt x="228556" y="211144"/>
                  </a:cubicBezTo>
                  <a:cubicBezTo>
                    <a:pt x="229826" y="212414"/>
                    <a:pt x="242526" y="181934"/>
                    <a:pt x="248876" y="184474"/>
                  </a:cubicBezTo>
                  <a:cubicBezTo>
                    <a:pt x="271736" y="190824"/>
                    <a:pt x="309836" y="561664"/>
                    <a:pt x="293326" y="635324"/>
                  </a:cubicBezTo>
                  <a:cubicBezTo>
                    <a:pt x="288246" y="660724"/>
                    <a:pt x="279356" y="669614"/>
                    <a:pt x="265386" y="683584"/>
                  </a:cubicBezTo>
                  <a:cubicBezTo>
                    <a:pt x="247606" y="700094"/>
                    <a:pt x="215856" y="716604"/>
                    <a:pt x="189186" y="719144"/>
                  </a:cubicBezTo>
                  <a:cubicBezTo>
                    <a:pt x="163786" y="721684"/>
                    <a:pt x="130766" y="711524"/>
                    <a:pt x="109176" y="695014"/>
                  </a:cubicBezTo>
                  <a:cubicBezTo>
                    <a:pt x="88856" y="679774"/>
                    <a:pt x="64726" y="625164"/>
                    <a:pt x="64726" y="625164"/>
                  </a:cubicBezTo>
                </a:path>
              </a:pathLst>
            </a:custGeom>
            <a:solidFill>
              <a:srgbClr val="88A3CE"/>
            </a:solidFill>
            <a:ln cap="sq">
              <a:noFill/>
              <a:prstDash val="solid"/>
              <a:miter/>
            </a:ln>
          </p:spPr>
        </p:sp>
      </p:grpSp>
      <p:grpSp>
        <p:nvGrpSpPr>
          <p:cNvPr id="8" name="Group 8"/>
          <p:cNvGrpSpPr/>
          <p:nvPr/>
        </p:nvGrpSpPr>
        <p:grpSpPr>
          <a:xfrm>
            <a:off x="4470082" y="1228386"/>
            <a:ext cx="592455" cy="303847"/>
            <a:chOff x="0" y="0"/>
            <a:chExt cx="789940" cy="405130"/>
          </a:xfrm>
        </p:grpSpPr>
        <p:sp>
          <p:nvSpPr>
            <p:cNvPr id="9" name="Freeform 9"/>
            <p:cNvSpPr/>
            <p:nvPr/>
          </p:nvSpPr>
          <p:spPr>
            <a:xfrm>
              <a:off x="49213" y="50302"/>
              <a:ext cx="690163" cy="305006"/>
            </a:xfrm>
            <a:custGeom>
              <a:avLst/>
              <a:gdLst/>
              <a:ahLst/>
              <a:cxnLst/>
              <a:rect l="l" t="t" r="r" b="b"/>
              <a:pathLst>
                <a:path w="690163" h="305006">
                  <a:moveTo>
                    <a:pt x="552767" y="276088"/>
                  </a:moveTo>
                  <a:cubicBezTo>
                    <a:pt x="350837" y="254498"/>
                    <a:pt x="270827" y="248148"/>
                    <a:pt x="233997" y="260848"/>
                  </a:cubicBezTo>
                  <a:cubicBezTo>
                    <a:pt x="213677" y="268468"/>
                    <a:pt x="209867" y="286248"/>
                    <a:pt x="190817" y="292598"/>
                  </a:cubicBezTo>
                  <a:cubicBezTo>
                    <a:pt x="169227" y="301488"/>
                    <a:pt x="132397" y="307838"/>
                    <a:pt x="105727" y="301488"/>
                  </a:cubicBezTo>
                  <a:cubicBezTo>
                    <a:pt x="79057" y="295138"/>
                    <a:pt x="48577" y="273548"/>
                    <a:pt x="32067" y="257038"/>
                  </a:cubicBezTo>
                  <a:cubicBezTo>
                    <a:pt x="20637" y="244338"/>
                    <a:pt x="15557" y="232908"/>
                    <a:pt x="10477" y="218938"/>
                  </a:cubicBezTo>
                  <a:cubicBezTo>
                    <a:pt x="5397" y="204968"/>
                    <a:pt x="317" y="192268"/>
                    <a:pt x="1587" y="175758"/>
                  </a:cubicBezTo>
                  <a:cubicBezTo>
                    <a:pt x="2857" y="152898"/>
                    <a:pt x="9207" y="116068"/>
                    <a:pt x="25717" y="93208"/>
                  </a:cubicBezTo>
                  <a:cubicBezTo>
                    <a:pt x="40957" y="71618"/>
                    <a:pt x="68897" y="50028"/>
                    <a:pt x="94297" y="42408"/>
                  </a:cubicBezTo>
                  <a:cubicBezTo>
                    <a:pt x="119697" y="33518"/>
                    <a:pt x="157797" y="37328"/>
                    <a:pt x="180657" y="43678"/>
                  </a:cubicBezTo>
                  <a:cubicBezTo>
                    <a:pt x="195897" y="47488"/>
                    <a:pt x="206057" y="52568"/>
                    <a:pt x="218757" y="63998"/>
                  </a:cubicBezTo>
                  <a:cubicBezTo>
                    <a:pt x="235267" y="79238"/>
                    <a:pt x="259397" y="109718"/>
                    <a:pt x="265747" y="135118"/>
                  </a:cubicBezTo>
                  <a:cubicBezTo>
                    <a:pt x="273367" y="161788"/>
                    <a:pt x="270827" y="196078"/>
                    <a:pt x="260667" y="221478"/>
                  </a:cubicBezTo>
                  <a:cubicBezTo>
                    <a:pt x="250507" y="246878"/>
                    <a:pt x="227647" y="272278"/>
                    <a:pt x="204787" y="286248"/>
                  </a:cubicBezTo>
                  <a:cubicBezTo>
                    <a:pt x="180657" y="300218"/>
                    <a:pt x="147637" y="307838"/>
                    <a:pt x="119697" y="304028"/>
                  </a:cubicBezTo>
                  <a:cubicBezTo>
                    <a:pt x="93027" y="301488"/>
                    <a:pt x="62547" y="286248"/>
                    <a:pt x="42227" y="267198"/>
                  </a:cubicBezTo>
                  <a:cubicBezTo>
                    <a:pt x="23177" y="248148"/>
                    <a:pt x="7937" y="213858"/>
                    <a:pt x="2857" y="190998"/>
                  </a:cubicBezTo>
                  <a:cubicBezTo>
                    <a:pt x="-953" y="174488"/>
                    <a:pt x="-953" y="163058"/>
                    <a:pt x="2857" y="146548"/>
                  </a:cubicBezTo>
                  <a:cubicBezTo>
                    <a:pt x="9207" y="124958"/>
                    <a:pt x="28257" y="91938"/>
                    <a:pt x="44767" y="71618"/>
                  </a:cubicBezTo>
                  <a:cubicBezTo>
                    <a:pt x="58737" y="53838"/>
                    <a:pt x="70167" y="41138"/>
                    <a:pt x="93027" y="29708"/>
                  </a:cubicBezTo>
                  <a:cubicBezTo>
                    <a:pt x="131127" y="11928"/>
                    <a:pt x="206057" y="4308"/>
                    <a:pt x="263207" y="498"/>
                  </a:cubicBezTo>
                  <a:cubicBezTo>
                    <a:pt x="321627" y="-2042"/>
                    <a:pt x="382587" y="5578"/>
                    <a:pt x="441007" y="13198"/>
                  </a:cubicBezTo>
                  <a:cubicBezTo>
                    <a:pt x="500697" y="20818"/>
                    <a:pt x="574357" y="25898"/>
                    <a:pt x="616267" y="47488"/>
                  </a:cubicBezTo>
                  <a:cubicBezTo>
                    <a:pt x="644207" y="61458"/>
                    <a:pt x="665797" y="84318"/>
                    <a:pt x="677227" y="104638"/>
                  </a:cubicBezTo>
                  <a:cubicBezTo>
                    <a:pt x="687387" y="122418"/>
                    <a:pt x="691197" y="141468"/>
                    <a:pt x="689927" y="160518"/>
                  </a:cubicBezTo>
                  <a:cubicBezTo>
                    <a:pt x="687387" y="184648"/>
                    <a:pt x="673417" y="220208"/>
                    <a:pt x="656907" y="239258"/>
                  </a:cubicBezTo>
                  <a:cubicBezTo>
                    <a:pt x="644207" y="254498"/>
                    <a:pt x="626427" y="264658"/>
                    <a:pt x="609917" y="271008"/>
                  </a:cubicBezTo>
                  <a:cubicBezTo>
                    <a:pt x="592137" y="276088"/>
                    <a:pt x="552767" y="276088"/>
                    <a:pt x="552767" y="276088"/>
                  </a:cubicBezTo>
                </a:path>
              </a:pathLst>
            </a:custGeom>
            <a:solidFill>
              <a:srgbClr val="88A3CE"/>
            </a:solidFill>
            <a:ln cap="sq">
              <a:noFill/>
              <a:prstDash val="solid"/>
              <a:miter/>
            </a:ln>
          </p:spPr>
        </p:sp>
      </p:grpSp>
      <p:grpSp>
        <p:nvGrpSpPr>
          <p:cNvPr id="10" name="Group 10"/>
          <p:cNvGrpSpPr/>
          <p:nvPr/>
        </p:nvGrpSpPr>
        <p:grpSpPr>
          <a:xfrm rot="-5466542">
            <a:off x="13171488" y="957477"/>
            <a:ext cx="552469" cy="522858"/>
            <a:chOff x="0" y="0"/>
            <a:chExt cx="900430" cy="852170"/>
          </a:xfrm>
        </p:grpSpPr>
        <p:sp>
          <p:nvSpPr>
            <p:cNvPr id="11" name="Freeform 11"/>
            <p:cNvSpPr/>
            <p:nvPr/>
          </p:nvSpPr>
          <p:spPr>
            <a:xfrm>
              <a:off x="48017" y="49847"/>
              <a:ext cx="803368" cy="750720"/>
            </a:xfrm>
            <a:custGeom>
              <a:avLst/>
              <a:gdLst/>
              <a:ahLst/>
              <a:cxnLst/>
              <a:rect l="l" t="t" r="r" b="b"/>
              <a:pathLst>
                <a:path w="803368" h="750720">
                  <a:moveTo>
                    <a:pt x="205983" y="40323"/>
                  </a:moveTo>
                  <a:cubicBezTo>
                    <a:pt x="569203" y="394653"/>
                    <a:pt x="744463" y="493713"/>
                    <a:pt x="783833" y="543243"/>
                  </a:cubicBezTo>
                  <a:cubicBezTo>
                    <a:pt x="796533" y="559753"/>
                    <a:pt x="797803" y="567373"/>
                    <a:pt x="800343" y="583883"/>
                  </a:cubicBezTo>
                  <a:cubicBezTo>
                    <a:pt x="804153" y="606743"/>
                    <a:pt x="802883" y="644843"/>
                    <a:pt x="792723" y="670243"/>
                  </a:cubicBezTo>
                  <a:cubicBezTo>
                    <a:pt x="781293" y="695643"/>
                    <a:pt x="757163" y="721043"/>
                    <a:pt x="733033" y="733743"/>
                  </a:cubicBezTo>
                  <a:cubicBezTo>
                    <a:pt x="708903" y="747713"/>
                    <a:pt x="674613" y="754063"/>
                    <a:pt x="647943" y="748983"/>
                  </a:cubicBezTo>
                  <a:cubicBezTo>
                    <a:pt x="620003" y="745173"/>
                    <a:pt x="589523" y="729933"/>
                    <a:pt x="570473" y="709613"/>
                  </a:cubicBezTo>
                  <a:cubicBezTo>
                    <a:pt x="551423" y="690563"/>
                    <a:pt x="537453" y="653733"/>
                    <a:pt x="532373" y="630873"/>
                  </a:cubicBezTo>
                  <a:cubicBezTo>
                    <a:pt x="529833" y="614363"/>
                    <a:pt x="531103" y="601663"/>
                    <a:pt x="534913" y="587693"/>
                  </a:cubicBezTo>
                  <a:cubicBezTo>
                    <a:pt x="537453" y="572453"/>
                    <a:pt x="541263" y="559753"/>
                    <a:pt x="550153" y="545783"/>
                  </a:cubicBezTo>
                  <a:cubicBezTo>
                    <a:pt x="564123" y="526733"/>
                    <a:pt x="590793" y="500063"/>
                    <a:pt x="616193" y="488633"/>
                  </a:cubicBezTo>
                  <a:cubicBezTo>
                    <a:pt x="641593" y="478473"/>
                    <a:pt x="679693" y="478473"/>
                    <a:pt x="702553" y="483553"/>
                  </a:cubicBezTo>
                  <a:cubicBezTo>
                    <a:pt x="719063" y="486093"/>
                    <a:pt x="729223" y="491173"/>
                    <a:pt x="743193" y="501333"/>
                  </a:cubicBezTo>
                  <a:cubicBezTo>
                    <a:pt x="760973" y="515303"/>
                    <a:pt x="787643" y="543243"/>
                    <a:pt x="796533" y="569913"/>
                  </a:cubicBezTo>
                  <a:cubicBezTo>
                    <a:pt x="805423" y="595313"/>
                    <a:pt x="805423" y="630873"/>
                    <a:pt x="797803" y="656273"/>
                  </a:cubicBezTo>
                  <a:cubicBezTo>
                    <a:pt x="788913" y="682943"/>
                    <a:pt x="768593" y="710883"/>
                    <a:pt x="745733" y="726123"/>
                  </a:cubicBezTo>
                  <a:cubicBezTo>
                    <a:pt x="722873" y="742633"/>
                    <a:pt x="686043" y="750253"/>
                    <a:pt x="661913" y="750253"/>
                  </a:cubicBezTo>
                  <a:cubicBezTo>
                    <a:pt x="645403" y="751523"/>
                    <a:pt x="636513" y="747713"/>
                    <a:pt x="618733" y="741363"/>
                  </a:cubicBezTo>
                  <a:cubicBezTo>
                    <a:pt x="592063" y="731203"/>
                    <a:pt x="550153" y="707073"/>
                    <a:pt x="515863" y="682943"/>
                  </a:cubicBezTo>
                  <a:cubicBezTo>
                    <a:pt x="479033" y="657543"/>
                    <a:pt x="448553" y="633413"/>
                    <a:pt x="405373" y="592773"/>
                  </a:cubicBezTo>
                  <a:cubicBezTo>
                    <a:pt x="332983" y="529273"/>
                    <a:pt x="208523" y="403543"/>
                    <a:pt x="137403" y="324803"/>
                  </a:cubicBezTo>
                  <a:cubicBezTo>
                    <a:pt x="85333" y="268923"/>
                    <a:pt x="30723" y="219393"/>
                    <a:pt x="11673" y="173673"/>
                  </a:cubicBezTo>
                  <a:cubicBezTo>
                    <a:pt x="-1027" y="143193"/>
                    <a:pt x="-2297" y="113983"/>
                    <a:pt x="2783" y="89853"/>
                  </a:cubicBezTo>
                  <a:cubicBezTo>
                    <a:pt x="5323" y="70803"/>
                    <a:pt x="16753" y="53023"/>
                    <a:pt x="28183" y="40323"/>
                  </a:cubicBezTo>
                  <a:cubicBezTo>
                    <a:pt x="40883" y="26353"/>
                    <a:pt x="58663" y="14923"/>
                    <a:pt x="75173" y="8573"/>
                  </a:cubicBezTo>
                  <a:cubicBezTo>
                    <a:pt x="92953" y="953"/>
                    <a:pt x="112003" y="-1587"/>
                    <a:pt x="132323" y="953"/>
                  </a:cubicBezTo>
                  <a:cubicBezTo>
                    <a:pt x="155183" y="6033"/>
                    <a:pt x="205983" y="40323"/>
                    <a:pt x="205983" y="40323"/>
                  </a:cubicBezTo>
                </a:path>
              </a:pathLst>
            </a:custGeom>
            <a:solidFill>
              <a:srgbClr val="88A3CE"/>
            </a:solidFill>
            <a:ln cap="sq">
              <a:noFill/>
              <a:prstDash val="solid"/>
              <a:miter/>
            </a:ln>
          </p:spPr>
        </p:sp>
      </p:grpSp>
      <p:grpSp>
        <p:nvGrpSpPr>
          <p:cNvPr id="12" name="Group 12"/>
          <p:cNvGrpSpPr/>
          <p:nvPr/>
        </p:nvGrpSpPr>
        <p:grpSpPr>
          <a:xfrm rot="-5466542">
            <a:off x="12755985" y="971838"/>
            <a:ext cx="621819" cy="241559"/>
            <a:chOff x="0" y="0"/>
            <a:chExt cx="1013460" cy="393700"/>
          </a:xfrm>
        </p:grpSpPr>
        <p:sp>
          <p:nvSpPr>
            <p:cNvPr id="13" name="Freeform 13"/>
            <p:cNvSpPr/>
            <p:nvPr/>
          </p:nvSpPr>
          <p:spPr>
            <a:xfrm>
              <a:off x="50559" y="48084"/>
              <a:ext cx="913595" cy="300601"/>
            </a:xfrm>
            <a:custGeom>
              <a:avLst/>
              <a:gdLst/>
              <a:ahLst/>
              <a:cxnLst/>
              <a:rect l="l" t="t" r="r" b="b"/>
              <a:pathLst>
                <a:path w="913595" h="300601">
                  <a:moveTo>
                    <a:pt x="123431" y="45896"/>
                  </a:moveTo>
                  <a:cubicBezTo>
                    <a:pt x="710171" y="29386"/>
                    <a:pt x="710171" y="17956"/>
                    <a:pt x="725411" y="12876"/>
                  </a:cubicBezTo>
                  <a:cubicBezTo>
                    <a:pt x="748271" y="5256"/>
                    <a:pt x="785101" y="-1094"/>
                    <a:pt x="811771" y="5256"/>
                  </a:cubicBezTo>
                  <a:cubicBezTo>
                    <a:pt x="838441" y="11606"/>
                    <a:pt x="868921" y="34466"/>
                    <a:pt x="884161" y="50976"/>
                  </a:cubicBezTo>
                  <a:cubicBezTo>
                    <a:pt x="895591" y="62406"/>
                    <a:pt x="901941" y="72566"/>
                    <a:pt x="905751" y="89076"/>
                  </a:cubicBezTo>
                  <a:cubicBezTo>
                    <a:pt x="912101" y="110666"/>
                    <a:pt x="917181" y="148766"/>
                    <a:pt x="908291" y="174166"/>
                  </a:cubicBezTo>
                  <a:cubicBezTo>
                    <a:pt x="900671" y="200836"/>
                    <a:pt x="880351" y="228776"/>
                    <a:pt x="858761" y="245286"/>
                  </a:cubicBezTo>
                  <a:cubicBezTo>
                    <a:pt x="837171" y="260526"/>
                    <a:pt x="800341" y="269416"/>
                    <a:pt x="776211" y="270686"/>
                  </a:cubicBezTo>
                  <a:cubicBezTo>
                    <a:pt x="759701" y="271956"/>
                    <a:pt x="748271" y="269416"/>
                    <a:pt x="734301" y="263066"/>
                  </a:cubicBezTo>
                  <a:cubicBezTo>
                    <a:pt x="712711" y="252906"/>
                    <a:pt x="680961" y="231316"/>
                    <a:pt x="666991" y="208456"/>
                  </a:cubicBezTo>
                  <a:cubicBezTo>
                    <a:pt x="651751" y="185596"/>
                    <a:pt x="642861" y="152576"/>
                    <a:pt x="645401" y="125906"/>
                  </a:cubicBezTo>
                  <a:cubicBezTo>
                    <a:pt x="647941" y="97966"/>
                    <a:pt x="660641" y="66216"/>
                    <a:pt x="678421" y="45896"/>
                  </a:cubicBezTo>
                  <a:cubicBezTo>
                    <a:pt x="697471" y="25576"/>
                    <a:pt x="731761" y="10336"/>
                    <a:pt x="753351" y="3986"/>
                  </a:cubicBezTo>
                  <a:cubicBezTo>
                    <a:pt x="769861" y="-1094"/>
                    <a:pt x="781291" y="-1094"/>
                    <a:pt x="797801" y="2716"/>
                  </a:cubicBezTo>
                  <a:cubicBezTo>
                    <a:pt x="819391" y="6526"/>
                    <a:pt x="856221" y="25576"/>
                    <a:pt x="874001" y="39546"/>
                  </a:cubicBezTo>
                  <a:cubicBezTo>
                    <a:pt x="886701" y="50976"/>
                    <a:pt x="894321" y="59866"/>
                    <a:pt x="900671" y="75106"/>
                  </a:cubicBezTo>
                  <a:cubicBezTo>
                    <a:pt x="908291" y="96696"/>
                    <a:pt x="917181" y="133526"/>
                    <a:pt x="912101" y="160196"/>
                  </a:cubicBezTo>
                  <a:cubicBezTo>
                    <a:pt x="907021" y="186866"/>
                    <a:pt x="895591" y="216076"/>
                    <a:pt x="870191" y="235126"/>
                  </a:cubicBezTo>
                  <a:cubicBezTo>
                    <a:pt x="828281" y="268146"/>
                    <a:pt x="734301" y="283386"/>
                    <a:pt x="650481" y="294816"/>
                  </a:cubicBezTo>
                  <a:cubicBezTo>
                    <a:pt x="543801" y="307516"/>
                    <a:pt x="382511" y="296086"/>
                    <a:pt x="278371" y="291006"/>
                  </a:cubicBezTo>
                  <a:cubicBezTo>
                    <a:pt x="203441" y="288466"/>
                    <a:pt x="131051" y="293546"/>
                    <a:pt x="84061" y="277036"/>
                  </a:cubicBezTo>
                  <a:cubicBezTo>
                    <a:pt x="54851" y="264336"/>
                    <a:pt x="31991" y="245286"/>
                    <a:pt x="18021" y="226236"/>
                  </a:cubicBezTo>
                  <a:cubicBezTo>
                    <a:pt x="6591" y="209726"/>
                    <a:pt x="1511" y="190676"/>
                    <a:pt x="241" y="171626"/>
                  </a:cubicBezTo>
                  <a:cubicBezTo>
                    <a:pt x="-1029" y="153846"/>
                    <a:pt x="2781" y="133526"/>
                    <a:pt x="10401" y="117016"/>
                  </a:cubicBezTo>
                  <a:cubicBezTo>
                    <a:pt x="18021" y="99236"/>
                    <a:pt x="28181" y="82726"/>
                    <a:pt x="44691" y="71296"/>
                  </a:cubicBezTo>
                  <a:cubicBezTo>
                    <a:pt x="63741" y="57326"/>
                    <a:pt x="123431" y="45896"/>
                    <a:pt x="123431" y="45896"/>
                  </a:cubicBezTo>
                </a:path>
              </a:pathLst>
            </a:custGeom>
            <a:solidFill>
              <a:srgbClr val="88A3CE"/>
            </a:solidFill>
            <a:ln cap="sq">
              <a:noFill/>
              <a:prstDash val="solid"/>
              <a:miter/>
            </a:ln>
          </p:spPr>
        </p:sp>
      </p:grpSp>
      <p:grpSp>
        <p:nvGrpSpPr>
          <p:cNvPr id="14" name="Group 14"/>
          <p:cNvGrpSpPr/>
          <p:nvPr/>
        </p:nvGrpSpPr>
        <p:grpSpPr>
          <a:xfrm rot="-5466542">
            <a:off x="13425147" y="1315976"/>
            <a:ext cx="287533" cy="490131"/>
            <a:chOff x="0" y="0"/>
            <a:chExt cx="468630" cy="798830"/>
          </a:xfrm>
        </p:grpSpPr>
        <p:sp>
          <p:nvSpPr>
            <p:cNvPr id="15" name="Freeform 15"/>
            <p:cNvSpPr/>
            <p:nvPr/>
          </p:nvSpPr>
          <p:spPr>
            <a:xfrm>
              <a:off x="49539" y="47400"/>
              <a:ext cx="371182" cy="700630"/>
            </a:xfrm>
            <a:custGeom>
              <a:avLst/>
              <a:gdLst/>
              <a:ahLst/>
              <a:cxnLst/>
              <a:rect l="l" t="t" r="r" b="b"/>
              <a:pathLst>
                <a:path w="371182" h="700630">
                  <a:moveTo>
                    <a:pt x="231131" y="102460"/>
                  </a:moveTo>
                  <a:cubicBezTo>
                    <a:pt x="294631" y="459330"/>
                    <a:pt x="351781" y="489810"/>
                    <a:pt x="364481" y="529180"/>
                  </a:cubicBezTo>
                  <a:cubicBezTo>
                    <a:pt x="374641" y="558390"/>
                    <a:pt x="372101" y="587600"/>
                    <a:pt x="364481" y="613000"/>
                  </a:cubicBezTo>
                  <a:cubicBezTo>
                    <a:pt x="355591" y="637130"/>
                    <a:pt x="334001" y="663800"/>
                    <a:pt x="312411" y="679040"/>
                  </a:cubicBezTo>
                  <a:cubicBezTo>
                    <a:pt x="290821" y="693010"/>
                    <a:pt x="257801" y="701900"/>
                    <a:pt x="231131" y="699360"/>
                  </a:cubicBezTo>
                  <a:cubicBezTo>
                    <a:pt x="205731" y="698090"/>
                    <a:pt x="173981" y="685390"/>
                    <a:pt x="154931" y="667610"/>
                  </a:cubicBezTo>
                  <a:cubicBezTo>
                    <a:pt x="134611" y="651100"/>
                    <a:pt x="116831" y="621890"/>
                    <a:pt x="111751" y="595220"/>
                  </a:cubicBezTo>
                  <a:cubicBezTo>
                    <a:pt x="106671" y="569820"/>
                    <a:pt x="114291" y="534260"/>
                    <a:pt x="121911" y="512670"/>
                  </a:cubicBezTo>
                  <a:cubicBezTo>
                    <a:pt x="128261" y="497430"/>
                    <a:pt x="134611" y="488540"/>
                    <a:pt x="146041" y="478380"/>
                  </a:cubicBezTo>
                  <a:cubicBezTo>
                    <a:pt x="163821" y="463140"/>
                    <a:pt x="198111" y="445360"/>
                    <a:pt x="220971" y="440280"/>
                  </a:cubicBezTo>
                  <a:cubicBezTo>
                    <a:pt x="236211" y="436470"/>
                    <a:pt x="247641" y="436470"/>
                    <a:pt x="262881" y="440280"/>
                  </a:cubicBezTo>
                  <a:cubicBezTo>
                    <a:pt x="284471" y="445360"/>
                    <a:pt x="320031" y="465680"/>
                    <a:pt x="336541" y="480920"/>
                  </a:cubicBezTo>
                  <a:cubicBezTo>
                    <a:pt x="347971" y="491080"/>
                    <a:pt x="354321" y="499970"/>
                    <a:pt x="359401" y="515210"/>
                  </a:cubicBezTo>
                  <a:cubicBezTo>
                    <a:pt x="367021" y="536800"/>
                    <a:pt x="370831" y="576170"/>
                    <a:pt x="368291" y="599030"/>
                  </a:cubicBezTo>
                  <a:cubicBezTo>
                    <a:pt x="365751" y="614270"/>
                    <a:pt x="360671" y="625700"/>
                    <a:pt x="351781" y="638400"/>
                  </a:cubicBezTo>
                  <a:cubicBezTo>
                    <a:pt x="337811" y="656180"/>
                    <a:pt x="307331" y="681580"/>
                    <a:pt x="287011" y="691740"/>
                  </a:cubicBezTo>
                  <a:cubicBezTo>
                    <a:pt x="273041" y="698090"/>
                    <a:pt x="261611" y="700630"/>
                    <a:pt x="246371" y="700630"/>
                  </a:cubicBezTo>
                  <a:cubicBezTo>
                    <a:pt x="223511" y="699360"/>
                    <a:pt x="193031" y="691740"/>
                    <a:pt x="165091" y="676500"/>
                  </a:cubicBezTo>
                  <a:cubicBezTo>
                    <a:pt x="130801" y="658720"/>
                    <a:pt x="85081" y="626970"/>
                    <a:pt x="62221" y="590140"/>
                  </a:cubicBezTo>
                  <a:cubicBezTo>
                    <a:pt x="38091" y="550770"/>
                    <a:pt x="36821" y="503780"/>
                    <a:pt x="26661" y="445360"/>
                  </a:cubicBezTo>
                  <a:cubicBezTo>
                    <a:pt x="13961" y="360270"/>
                    <a:pt x="-5089" y="196440"/>
                    <a:pt x="1261" y="126590"/>
                  </a:cubicBezTo>
                  <a:cubicBezTo>
                    <a:pt x="5071" y="91030"/>
                    <a:pt x="10151" y="66900"/>
                    <a:pt x="22851" y="47850"/>
                  </a:cubicBezTo>
                  <a:cubicBezTo>
                    <a:pt x="33011" y="31340"/>
                    <a:pt x="46981" y="18640"/>
                    <a:pt x="64761" y="11020"/>
                  </a:cubicBezTo>
                  <a:cubicBezTo>
                    <a:pt x="86351" y="2130"/>
                    <a:pt x="120641" y="-4220"/>
                    <a:pt x="146041" y="3400"/>
                  </a:cubicBezTo>
                  <a:cubicBezTo>
                    <a:pt x="170171" y="9750"/>
                    <a:pt x="198111" y="31340"/>
                    <a:pt x="212081" y="50390"/>
                  </a:cubicBezTo>
                  <a:cubicBezTo>
                    <a:pt x="223511" y="65630"/>
                    <a:pt x="231131" y="102460"/>
                    <a:pt x="231131" y="102460"/>
                  </a:cubicBezTo>
                </a:path>
              </a:pathLst>
            </a:custGeom>
            <a:solidFill>
              <a:srgbClr val="88A3CE"/>
            </a:solidFill>
            <a:ln cap="sq">
              <a:noFill/>
              <a:prstDash val="solid"/>
              <a:miter/>
            </a:ln>
          </p:spPr>
        </p:sp>
      </p:grpSp>
      <p:sp>
        <p:nvSpPr>
          <p:cNvPr id="16" name="TextBox 16"/>
          <p:cNvSpPr txBox="1"/>
          <p:nvPr/>
        </p:nvSpPr>
        <p:spPr>
          <a:xfrm>
            <a:off x="7643114" y="7192545"/>
            <a:ext cx="9616186" cy="946150"/>
          </a:xfrm>
          <a:prstGeom prst="rect">
            <a:avLst/>
          </a:prstGeom>
        </p:spPr>
        <p:txBody>
          <a:bodyPr lIns="0" tIns="0" rIns="0" bIns="0" rtlCol="0" anchor="t">
            <a:spAutoFit/>
          </a:bodyPr>
          <a:lstStyle/>
          <a:p>
            <a:pPr marL="0" lvl="0" indent="0" algn="ctr">
              <a:lnSpc>
                <a:spcPts val="7700"/>
              </a:lnSpc>
              <a:spcBef>
                <a:spcPct val="0"/>
              </a:spcBef>
            </a:pPr>
            <a:r>
              <a:rPr lang="en-US" sz="5500">
                <a:solidFill>
                  <a:srgbClr val="3B365F"/>
                </a:solidFill>
                <a:latin typeface="TAN Headline"/>
                <a:ea typeface="TAN Headline"/>
                <a:cs typeface="TAN Headline"/>
                <a:sym typeface="TAN Headline"/>
              </a:rPr>
              <a:t>Obrigado!</a:t>
            </a:r>
          </a:p>
        </p:txBody>
      </p:sp>
      <p:sp>
        <p:nvSpPr>
          <p:cNvPr id="17" name="TextBox 17"/>
          <p:cNvSpPr txBox="1"/>
          <p:nvPr/>
        </p:nvSpPr>
        <p:spPr>
          <a:xfrm>
            <a:off x="2501280" y="2420874"/>
            <a:ext cx="13285440" cy="2722626"/>
          </a:xfrm>
          <a:prstGeom prst="rect">
            <a:avLst/>
          </a:prstGeom>
        </p:spPr>
        <p:txBody>
          <a:bodyPr lIns="0" tIns="0" rIns="0" bIns="0" rtlCol="0" anchor="t">
            <a:spAutoFit/>
          </a:bodyPr>
          <a:lstStyle/>
          <a:p>
            <a:pPr algn="l">
              <a:lnSpc>
                <a:spcPts val="4284"/>
              </a:lnSpc>
              <a:spcBef>
                <a:spcPct val="0"/>
              </a:spcBef>
            </a:pPr>
            <a:r>
              <a:rPr lang="en-US" sz="3060" dirty="0">
                <a:solidFill>
                  <a:srgbClr val="3B365F"/>
                </a:solidFill>
                <a:latin typeface="Coco Gothic"/>
                <a:ea typeface="Coco Gothic"/>
                <a:cs typeface="Coco Gothic"/>
                <a:sym typeface="Coco Gothic"/>
              </a:rPr>
              <a:t>“A </a:t>
            </a:r>
            <a:r>
              <a:rPr lang="en-US" sz="3060" dirty="0" err="1">
                <a:solidFill>
                  <a:srgbClr val="3B365F"/>
                </a:solidFill>
                <a:latin typeface="Coco Gothic"/>
                <a:ea typeface="Coco Gothic"/>
                <a:cs typeface="Coco Gothic"/>
                <a:sym typeface="Coco Gothic"/>
              </a:rPr>
              <a:t>pior</a:t>
            </a:r>
            <a:r>
              <a:rPr lang="en-US" sz="3060" dirty="0">
                <a:solidFill>
                  <a:srgbClr val="3B365F"/>
                </a:solidFill>
                <a:latin typeface="Coco Gothic"/>
                <a:ea typeface="Coco Gothic"/>
                <a:cs typeface="Coco Gothic"/>
                <a:sym typeface="Coco Gothic"/>
              </a:rPr>
              <a:t> </a:t>
            </a:r>
            <a:r>
              <a:rPr lang="en-US" sz="3060" dirty="0" err="1">
                <a:solidFill>
                  <a:srgbClr val="3B365F"/>
                </a:solidFill>
                <a:latin typeface="Coco Gothic"/>
                <a:ea typeface="Coco Gothic"/>
                <a:cs typeface="Coco Gothic"/>
                <a:sym typeface="Coco Gothic"/>
              </a:rPr>
              <a:t>enfermidade</a:t>
            </a:r>
            <a:r>
              <a:rPr lang="en-US" sz="3060" dirty="0">
                <a:solidFill>
                  <a:srgbClr val="3B365F"/>
                </a:solidFill>
                <a:latin typeface="Coco Gothic"/>
                <a:ea typeface="Coco Gothic"/>
                <a:cs typeface="Coco Gothic"/>
                <a:sym typeface="Coco Gothic"/>
              </a:rPr>
              <a:t> de </a:t>
            </a:r>
            <a:r>
              <a:rPr lang="en-US" sz="3060" dirty="0" err="1">
                <a:solidFill>
                  <a:srgbClr val="3B365F"/>
                </a:solidFill>
                <a:latin typeface="Coco Gothic"/>
                <a:ea typeface="Coco Gothic"/>
                <a:cs typeface="Coco Gothic"/>
                <a:sym typeface="Coco Gothic"/>
              </a:rPr>
              <a:t>nossos</a:t>
            </a:r>
            <a:r>
              <a:rPr lang="en-US" sz="3060" dirty="0">
                <a:solidFill>
                  <a:srgbClr val="3B365F"/>
                </a:solidFill>
                <a:latin typeface="Coco Gothic"/>
                <a:ea typeface="Coco Gothic"/>
                <a:cs typeface="Coco Gothic"/>
                <a:sym typeface="Coco Gothic"/>
              </a:rPr>
              <a:t> </a:t>
            </a:r>
            <a:r>
              <a:rPr lang="en-US" sz="3060" dirty="0" err="1">
                <a:solidFill>
                  <a:srgbClr val="3B365F"/>
                </a:solidFill>
                <a:latin typeface="Coco Gothic"/>
                <a:ea typeface="Coco Gothic"/>
                <a:cs typeface="Coco Gothic"/>
                <a:sym typeface="Coco Gothic"/>
              </a:rPr>
              <a:t>dias</a:t>
            </a:r>
            <a:r>
              <a:rPr lang="en-US" sz="3060" dirty="0">
                <a:solidFill>
                  <a:srgbClr val="3B365F"/>
                </a:solidFill>
                <a:latin typeface="Coco Gothic"/>
                <a:ea typeface="Coco Gothic"/>
                <a:cs typeface="Coco Gothic"/>
                <a:sym typeface="Coco Gothic"/>
              </a:rPr>
              <a:t> </a:t>
            </a:r>
            <a:r>
              <a:rPr lang="en-US" sz="3060" dirty="0" err="1">
                <a:solidFill>
                  <a:srgbClr val="3B365F"/>
                </a:solidFill>
                <a:latin typeface="Coco Gothic"/>
                <a:ea typeface="Coco Gothic"/>
                <a:cs typeface="Coco Gothic"/>
                <a:sym typeface="Coco Gothic"/>
              </a:rPr>
              <a:t>não</a:t>
            </a:r>
            <a:r>
              <a:rPr lang="en-US" sz="3060" dirty="0">
                <a:solidFill>
                  <a:srgbClr val="3B365F"/>
                </a:solidFill>
                <a:latin typeface="Coco Gothic"/>
                <a:ea typeface="Coco Gothic"/>
                <a:cs typeface="Coco Gothic"/>
                <a:sym typeface="Coco Gothic"/>
              </a:rPr>
              <a:t> é a lepra </a:t>
            </a:r>
            <a:r>
              <a:rPr lang="en-US" sz="3060" dirty="0" err="1">
                <a:solidFill>
                  <a:srgbClr val="3B365F"/>
                </a:solidFill>
                <a:latin typeface="Coco Gothic"/>
                <a:ea typeface="Coco Gothic"/>
                <a:cs typeface="Coco Gothic"/>
                <a:sym typeface="Coco Gothic"/>
              </a:rPr>
              <a:t>ou</a:t>
            </a:r>
            <a:r>
              <a:rPr lang="en-US" sz="3060" dirty="0">
                <a:solidFill>
                  <a:srgbClr val="3B365F"/>
                </a:solidFill>
                <a:latin typeface="Coco Gothic"/>
                <a:ea typeface="Coco Gothic"/>
                <a:cs typeface="Coco Gothic"/>
                <a:sym typeface="Coco Gothic"/>
              </a:rPr>
              <a:t> a </a:t>
            </a:r>
            <a:r>
              <a:rPr lang="en-US" sz="3060" dirty="0" err="1">
                <a:solidFill>
                  <a:srgbClr val="3B365F"/>
                </a:solidFill>
                <a:latin typeface="Coco Gothic"/>
                <a:ea typeface="Coco Gothic"/>
                <a:cs typeface="Coco Gothic"/>
                <a:sym typeface="Coco Gothic"/>
              </a:rPr>
              <a:t>tuberculose</a:t>
            </a:r>
            <a:r>
              <a:rPr lang="en-US" sz="3060" dirty="0">
                <a:solidFill>
                  <a:srgbClr val="3B365F"/>
                </a:solidFill>
                <a:latin typeface="Coco Gothic"/>
                <a:ea typeface="Coco Gothic"/>
                <a:cs typeface="Coco Gothic"/>
                <a:sym typeface="Coco Gothic"/>
              </a:rPr>
              <a:t>, mas a </a:t>
            </a:r>
            <a:r>
              <a:rPr lang="en-US" sz="3060" dirty="0" err="1">
                <a:solidFill>
                  <a:srgbClr val="3B365F"/>
                </a:solidFill>
                <a:latin typeface="Coco Gothic"/>
                <a:ea typeface="Coco Gothic"/>
                <a:cs typeface="Coco Gothic"/>
                <a:sym typeface="Coco Gothic"/>
              </a:rPr>
              <a:t>falta</a:t>
            </a:r>
            <a:r>
              <a:rPr lang="en-US" sz="3060" dirty="0">
                <a:solidFill>
                  <a:srgbClr val="3B365F"/>
                </a:solidFill>
                <a:latin typeface="Coco Gothic"/>
                <a:ea typeface="Coco Gothic"/>
                <a:cs typeface="Coco Gothic"/>
                <a:sym typeface="Coco Gothic"/>
              </a:rPr>
              <a:t> de </a:t>
            </a:r>
            <a:r>
              <a:rPr lang="en-US" sz="3060" dirty="0" err="1">
                <a:solidFill>
                  <a:srgbClr val="3B365F"/>
                </a:solidFill>
                <a:latin typeface="Coco Gothic"/>
                <a:ea typeface="Coco Gothic"/>
                <a:cs typeface="Coco Gothic"/>
                <a:sym typeface="Coco Gothic"/>
              </a:rPr>
              <a:t>afeto</a:t>
            </a:r>
            <a:r>
              <a:rPr lang="en-US" sz="3060" dirty="0">
                <a:solidFill>
                  <a:srgbClr val="3B365F"/>
                </a:solidFill>
                <a:latin typeface="Coco Gothic"/>
                <a:ea typeface="Coco Gothic"/>
                <a:cs typeface="Coco Gothic"/>
                <a:sym typeface="Coco Gothic"/>
              </a:rPr>
              <a:t>, a </a:t>
            </a:r>
            <a:r>
              <a:rPr lang="en-US" sz="3060" dirty="0" err="1">
                <a:solidFill>
                  <a:srgbClr val="3B365F"/>
                </a:solidFill>
                <a:latin typeface="Coco Gothic"/>
                <a:ea typeface="Coco Gothic"/>
                <a:cs typeface="Coco Gothic"/>
                <a:sym typeface="Coco Gothic"/>
              </a:rPr>
              <a:t>sensação</a:t>
            </a:r>
            <a:r>
              <a:rPr lang="en-US" sz="3060" dirty="0">
                <a:solidFill>
                  <a:srgbClr val="3B365F"/>
                </a:solidFill>
                <a:latin typeface="Coco Gothic"/>
                <a:ea typeface="Coco Gothic"/>
                <a:cs typeface="Coco Gothic"/>
                <a:sym typeface="Coco Gothic"/>
              </a:rPr>
              <a:t> de </a:t>
            </a:r>
            <a:r>
              <a:rPr lang="en-US" sz="3060" dirty="0" err="1">
                <a:solidFill>
                  <a:srgbClr val="3B365F"/>
                </a:solidFill>
                <a:latin typeface="Coco Gothic"/>
                <a:ea typeface="Coco Gothic"/>
                <a:cs typeface="Coco Gothic"/>
                <a:sym typeface="Coco Gothic"/>
              </a:rPr>
              <a:t>não</a:t>
            </a:r>
            <a:r>
              <a:rPr lang="en-US" sz="3060" dirty="0">
                <a:solidFill>
                  <a:srgbClr val="3B365F"/>
                </a:solidFill>
                <a:latin typeface="Coco Gothic"/>
                <a:ea typeface="Coco Gothic"/>
                <a:cs typeface="Coco Gothic"/>
                <a:sym typeface="Coco Gothic"/>
              </a:rPr>
              <a:t> ser </a:t>
            </a:r>
            <a:r>
              <a:rPr lang="en-US" sz="3060" dirty="0" err="1">
                <a:solidFill>
                  <a:srgbClr val="3B365F"/>
                </a:solidFill>
                <a:latin typeface="Coco Gothic"/>
                <a:ea typeface="Coco Gothic"/>
                <a:cs typeface="Coco Gothic"/>
                <a:sym typeface="Coco Gothic"/>
              </a:rPr>
              <a:t>querido</a:t>
            </a:r>
            <a:r>
              <a:rPr lang="en-US" sz="3060" dirty="0">
                <a:solidFill>
                  <a:srgbClr val="3B365F"/>
                </a:solidFill>
                <a:latin typeface="Coco Gothic"/>
                <a:ea typeface="Coco Gothic"/>
                <a:cs typeface="Coco Gothic"/>
                <a:sym typeface="Coco Gothic"/>
              </a:rPr>
              <a:t>, de </a:t>
            </a:r>
            <a:r>
              <a:rPr lang="en-US" sz="3060" dirty="0" err="1">
                <a:solidFill>
                  <a:srgbClr val="3B365F"/>
                </a:solidFill>
                <a:latin typeface="Coco Gothic"/>
                <a:ea typeface="Coco Gothic"/>
                <a:cs typeface="Coco Gothic"/>
                <a:sym typeface="Coco Gothic"/>
              </a:rPr>
              <a:t>não</a:t>
            </a:r>
            <a:r>
              <a:rPr lang="en-US" sz="3060" dirty="0">
                <a:solidFill>
                  <a:srgbClr val="3B365F"/>
                </a:solidFill>
                <a:latin typeface="Coco Gothic"/>
                <a:ea typeface="Coco Gothic"/>
                <a:cs typeface="Coco Gothic"/>
                <a:sym typeface="Coco Gothic"/>
              </a:rPr>
              <a:t> ser </a:t>
            </a:r>
            <a:r>
              <a:rPr lang="en-US" sz="3060" dirty="0" err="1">
                <a:solidFill>
                  <a:srgbClr val="3B365F"/>
                </a:solidFill>
                <a:latin typeface="Coco Gothic"/>
                <a:ea typeface="Coco Gothic"/>
                <a:cs typeface="Coco Gothic"/>
                <a:sym typeface="Coco Gothic"/>
              </a:rPr>
              <a:t>amado</a:t>
            </a:r>
            <a:r>
              <a:rPr lang="en-US" sz="3060" dirty="0">
                <a:solidFill>
                  <a:srgbClr val="3B365F"/>
                </a:solidFill>
                <a:latin typeface="Coco Gothic"/>
                <a:ea typeface="Coco Gothic"/>
                <a:cs typeface="Coco Gothic"/>
                <a:sym typeface="Coco Gothic"/>
              </a:rPr>
              <a:t> </a:t>
            </a:r>
            <a:r>
              <a:rPr lang="en-US" sz="3060" dirty="0" err="1">
                <a:solidFill>
                  <a:srgbClr val="3B365F"/>
                </a:solidFill>
                <a:latin typeface="Coco Gothic"/>
                <a:ea typeface="Coco Gothic"/>
                <a:cs typeface="Coco Gothic"/>
                <a:sym typeface="Coco Gothic"/>
              </a:rPr>
              <a:t>pelos</a:t>
            </a:r>
            <a:endParaRPr lang="en-US" sz="3060" dirty="0">
              <a:solidFill>
                <a:srgbClr val="3B365F"/>
              </a:solidFill>
              <a:latin typeface="Coco Gothic"/>
              <a:ea typeface="Coco Gothic"/>
              <a:cs typeface="Coco Gothic"/>
              <a:sym typeface="Coco Gothic"/>
            </a:endParaRPr>
          </a:p>
          <a:p>
            <a:pPr algn="l">
              <a:lnSpc>
                <a:spcPts val="4284"/>
              </a:lnSpc>
              <a:spcBef>
                <a:spcPct val="0"/>
              </a:spcBef>
            </a:pPr>
            <a:r>
              <a:rPr lang="en-US" sz="3060" dirty="0">
                <a:solidFill>
                  <a:srgbClr val="3B365F"/>
                </a:solidFill>
                <a:latin typeface="Coco Gothic"/>
                <a:ea typeface="Coco Gothic"/>
                <a:cs typeface="Coco Gothic"/>
                <a:sym typeface="Coco Gothic"/>
              </a:rPr>
              <a:t>outros. Se </a:t>
            </a:r>
            <a:r>
              <a:rPr lang="en-US" sz="3060" dirty="0" err="1">
                <a:solidFill>
                  <a:srgbClr val="3B365F"/>
                </a:solidFill>
                <a:latin typeface="Coco Gothic"/>
                <a:ea typeface="Coco Gothic"/>
                <a:cs typeface="Coco Gothic"/>
                <a:sym typeface="Coco Gothic"/>
              </a:rPr>
              <a:t>cada</a:t>
            </a:r>
            <a:r>
              <a:rPr lang="en-US" sz="3060" dirty="0">
                <a:solidFill>
                  <a:srgbClr val="3B365F"/>
                </a:solidFill>
                <a:latin typeface="Coco Gothic"/>
                <a:ea typeface="Coco Gothic"/>
                <a:cs typeface="Coco Gothic"/>
                <a:sym typeface="Coco Gothic"/>
              </a:rPr>
              <a:t> </a:t>
            </a:r>
            <a:r>
              <a:rPr lang="en-US" sz="3060" dirty="0" err="1">
                <a:solidFill>
                  <a:srgbClr val="3B365F"/>
                </a:solidFill>
                <a:latin typeface="Coco Gothic"/>
                <a:ea typeface="Coco Gothic"/>
                <a:cs typeface="Coco Gothic"/>
                <a:sym typeface="Coco Gothic"/>
              </a:rPr>
              <a:t>pessoa</a:t>
            </a:r>
            <a:r>
              <a:rPr lang="en-US" sz="3060" dirty="0">
                <a:solidFill>
                  <a:srgbClr val="3B365F"/>
                </a:solidFill>
                <a:latin typeface="Coco Gothic"/>
                <a:ea typeface="Coco Gothic"/>
                <a:cs typeface="Coco Gothic"/>
                <a:sym typeface="Coco Gothic"/>
              </a:rPr>
              <a:t> </a:t>
            </a:r>
            <a:r>
              <a:rPr lang="en-US" sz="3060" dirty="0" err="1">
                <a:solidFill>
                  <a:srgbClr val="3B365F"/>
                </a:solidFill>
                <a:latin typeface="Coco Gothic"/>
                <a:ea typeface="Coco Gothic"/>
                <a:cs typeface="Coco Gothic"/>
                <a:sym typeface="Coco Gothic"/>
              </a:rPr>
              <a:t>humana</a:t>
            </a:r>
            <a:r>
              <a:rPr lang="en-US" sz="3060" dirty="0">
                <a:solidFill>
                  <a:srgbClr val="3B365F"/>
                </a:solidFill>
                <a:latin typeface="Coco Gothic"/>
                <a:ea typeface="Coco Gothic"/>
                <a:cs typeface="Coco Gothic"/>
                <a:sym typeface="Coco Gothic"/>
              </a:rPr>
              <a:t> </a:t>
            </a:r>
            <a:r>
              <a:rPr lang="en-US" sz="3060" dirty="0" err="1">
                <a:solidFill>
                  <a:srgbClr val="3B365F"/>
                </a:solidFill>
                <a:latin typeface="Coco Gothic"/>
                <a:ea typeface="Coco Gothic"/>
                <a:cs typeface="Coco Gothic"/>
                <a:sym typeface="Coco Gothic"/>
              </a:rPr>
              <a:t>começasse</a:t>
            </a:r>
            <a:r>
              <a:rPr lang="en-US" sz="3060" dirty="0">
                <a:solidFill>
                  <a:srgbClr val="3B365F"/>
                </a:solidFill>
                <a:latin typeface="Coco Gothic"/>
                <a:ea typeface="Coco Gothic"/>
                <a:cs typeface="Coco Gothic"/>
                <a:sym typeface="Coco Gothic"/>
              </a:rPr>
              <a:t> a </a:t>
            </a:r>
            <a:r>
              <a:rPr lang="en-US" sz="3060" dirty="0" err="1">
                <a:solidFill>
                  <a:srgbClr val="3B365F"/>
                </a:solidFill>
                <a:latin typeface="Coco Gothic"/>
                <a:ea typeface="Coco Gothic"/>
                <a:cs typeface="Coco Gothic"/>
                <a:sym typeface="Coco Gothic"/>
              </a:rPr>
              <a:t>dar</a:t>
            </a:r>
            <a:r>
              <a:rPr lang="en-US" sz="3060" dirty="0">
                <a:solidFill>
                  <a:srgbClr val="3B365F"/>
                </a:solidFill>
                <a:latin typeface="Coco Gothic"/>
                <a:ea typeface="Coco Gothic"/>
                <a:cs typeface="Coco Gothic"/>
                <a:sym typeface="Coco Gothic"/>
              </a:rPr>
              <a:t> </a:t>
            </a:r>
            <a:r>
              <a:rPr lang="en-US" sz="3060" dirty="0" err="1">
                <a:solidFill>
                  <a:srgbClr val="3B365F"/>
                </a:solidFill>
                <a:latin typeface="Coco Gothic"/>
                <a:ea typeface="Coco Gothic"/>
                <a:cs typeface="Coco Gothic"/>
                <a:sym typeface="Coco Gothic"/>
              </a:rPr>
              <a:t>alguma</a:t>
            </a:r>
            <a:r>
              <a:rPr lang="en-US" sz="3060" dirty="0">
                <a:solidFill>
                  <a:srgbClr val="3B365F"/>
                </a:solidFill>
                <a:latin typeface="Coco Gothic"/>
                <a:ea typeface="Coco Gothic"/>
                <a:cs typeface="Coco Gothic"/>
                <a:sym typeface="Coco Gothic"/>
              </a:rPr>
              <a:t> </a:t>
            </a:r>
            <a:r>
              <a:rPr lang="en-US" sz="3060" dirty="0" err="1">
                <a:solidFill>
                  <a:srgbClr val="3B365F"/>
                </a:solidFill>
                <a:latin typeface="Coco Gothic"/>
                <a:ea typeface="Coco Gothic"/>
                <a:cs typeface="Coco Gothic"/>
                <a:sym typeface="Coco Gothic"/>
              </a:rPr>
              <a:t>coisa</a:t>
            </a:r>
            <a:r>
              <a:rPr lang="en-US" sz="3060" dirty="0">
                <a:solidFill>
                  <a:srgbClr val="3B365F"/>
                </a:solidFill>
                <a:latin typeface="Coco Gothic"/>
                <a:ea typeface="Coco Gothic"/>
                <a:cs typeface="Coco Gothic"/>
                <a:sym typeface="Coco Gothic"/>
              </a:rPr>
              <a:t> do que</a:t>
            </a:r>
          </a:p>
          <a:p>
            <a:pPr algn="l">
              <a:lnSpc>
                <a:spcPts val="4284"/>
              </a:lnSpc>
              <a:spcBef>
                <a:spcPct val="0"/>
              </a:spcBef>
            </a:pPr>
            <a:r>
              <a:rPr lang="en-US" sz="3060" dirty="0" err="1">
                <a:solidFill>
                  <a:srgbClr val="3B365F"/>
                </a:solidFill>
                <a:latin typeface="Coco Gothic"/>
                <a:ea typeface="Coco Gothic"/>
                <a:cs typeface="Coco Gothic"/>
                <a:sym typeface="Coco Gothic"/>
              </a:rPr>
              <a:t>possui</a:t>
            </a:r>
            <a:r>
              <a:rPr lang="en-US" sz="3060" dirty="0">
                <a:solidFill>
                  <a:srgbClr val="3B365F"/>
                </a:solidFill>
                <a:latin typeface="Coco Gothic"/>
                <a:ea typeface="Coco Gothic"/>
                <a:cs typeface="Coco Gothic"/>
                <a:sym typeface="Coco Gothic"/>
              </a:rPr>
              <a:t> e se </a:t>
            </a:r>
            <a:r>
              <a:rPr lang="en-US" sz="3060" dirty="0" err="1">
                <a:solidFill>
                  <a:srgbClr val="3B365F"/>
                </a:solidFill>
                <a:latin typeface="Coco Gothic"/>
                <a:ea typeface="Coco Gothic"/>
                <a:cs typeface="Coco Gothic"/>
                <a:sym typeface="Coco Gothic"/>
              </a:rPr>
              <a:t>preocupasse</a:t>
            </a:r>
            <a:r>
              <a:rPr lang="en-US" sz="3060" dirty="0">
                <a:solidFill>
                  <a:srgbClr val="3B365F"/>
                </a:solidFill>
                <a:latin typeface="Coco Gothic"/>
                <a:ea typeface="Coco Gothic"/>
                <a:cs typeface="Coco Gothic"/>
                <a:sym typeface="Coco Gothic"/>
              </a:rPr>
              <a:t> com as </a:t>
            </a:r>
            <a:r>
              <a:rPr lang="en-US" sz="3060" dirty="0" err="1">
                <a:solidFill>
                  <a:srgbClr val="3B365F"/>
                </a:solidFill>
                <a:latin typeface="Coco Gothic"/>
                <a:ea typeface="Coco Gothic"/>
                <a:cs typeface="Coco Gothic"/>
                <a:sym typeface="Coco Gothic"/>
              </a:rPr>
              <a:t>necessidades</a:t>
            </a:r>
            <a:r>
              <a:rPr lang="en-US" sz="3060" dirty="0">
                <a:solidFill>
                  <a:srgbClr val="3B365F"/>
                </a:solidFill>
                <a:latin typeface="Coco Gothic"/>
                <a:ea typeface="Coco Gothic"/>
                <a:cs typeface="Coco Gothic"/>
                <a:sym typeface="Coco Gothic"/>
              </a:rPr>
              <a:t> do </a:t>
            </a:r>
            <a:r>
              <a:rPr lang="en-US" sz="3060" dirty="0" err="1">
                <a:solidFill>
                  <a:srgbClr val="3B365F"/>
                </a:solidFill>
                <a:latin typeface="Coco Gothic"/>
                <a:ea typeface="Coco Gothic"/>
                <a:cs typeface="Coco Gothic"/>
                <a:sym typeface="Coco Gothic"/>
              </a:rPr>
              <a:t>próximo</a:t>
            </a:r>
            <a:r>
              <a:rPr lang="en-US" sz="3060" dirty="0">
                <a:solidFill>
                  <a:srgbClr val="3B365F"/>
                </a:solidFill>
                <a:latin typeface="Coco Gothic"/>
                <a:ea typeface="Coco Gothic"/>
                <a:cs typeface="Coco Gothic"/>
                <a:sym typeface="Coco Gothic"/>
              </a:rPr>
              <a:t>, </a:t>
            </a:r>
            <a:r>
              <a:rPr lang="en-US" sz="3060" dirty="0" err="1">
                <a:solidFill>
                  <a:srgbClr val="3B365F"/>
                </a:solidFill>
                <a:latin typeface="Coco Gothic"/>
                <a:ea typeface="Coco Gothic"/>
                <a:cs typeface="Coco Gothic"/>
                <a:sym typeface="Coco Gothic"/>
              </a:rPr>
              <a:t>então</a:t>
            </a:r>
            <a:r>
              <a:rPr lang="en-US" sz="3060" dirty="0">
                <a:solidFill>
                  <a:srgbClr val="3B365F"/>
                </a:solidFill>
                <a:latin typeface="Coco Gothic"/>
                <a:ea typeface="Coco Gothic"/>
                <a:cs typeface="Coco Gothic"/>
                <a:sym typeface="Coco Gothic"/>
              </a:rPr>
              <a:t> </a:t>
            </a:r>
            <a:r>
              <a:rPr lang="en-US" sz="3060" dirty="0" err="1">
                <a:solidFill>
                  <a:srgbClr val="3B365F"/>
                </a:solidFill>
                <a:latin typeface="Coco Gothic"/>
                <a:ea typeface="Coco Gothic"/>
                <a:cs typeface="Coco Gothic"/>
                <a:sym typeface="Coco Gothic"/>
              </a:rPr>
              <a:t>todos</a:t>
            </a:r>
            <a:endParaRPr lang="en-US" sz="3060" dirty="0">
              <a:solidFill>
                <a:srgbClr val="3B365F"/>
              </a:solidFill>
              <a:latin typeface="Coco Gothic"/>
              <a:ea typeface="Coco Gothic"/>
              <a:cs typeface="Coco Gothic"/>
              <a:sym typeface="Coco Gothic"/>
            </a:endParaRPr>
          </a:p>
          <a:p>
            <a:pPr algn="l">
              <a:lnSpc>
                <a:spcPts val="4284"/>
              </a:lnSpc>
              <a:spcBef>
                <a:spcPct val="0"/>
              </a:spcBef>
            </a:pPr>
            <a:r>
              <a:rPr lang="en-US" sz="3060" dirty="0" err="1">
                <a:solidFill>
                  <a:srgbClr val="3B365F"/>
                </a:solidFill>
                <a:latin typeface="Coco Gothic"/>
                <a:ea typeface="Coco Gothic"/>
                <a:cs typeface="Coco Gothic"/>
                <a:sym typeface="Coco Gothic"/>
              </a:rPr>
              <a:t>colaboraríamos</a:t>
            </a:r>
            <a:r>
              <a:rPr lang="en-US" sz="3060" dirty="0">
                <a:solidFill>
                  <a:srgbClr val="3B365F"/>
                </a:solidFill>
                <a:latin typeface="Coco Gothic"/>
                <a:ea typeface="Coco Gothic"/>
                <a:cs typeface="Coco Gothic"/>
                <a:sym typeface="Coco Gothic"/>
              </a:rPr>
              <a:t> para a </a:t>
            </a:r>
            <a:r>
              <a:rPr lang="en-US" sz="3060" dirty="0" err="1">
                <a:solidFill>
                  <a:srgbClr val="3B365F"/>
                </a:solidFill>
                <a:latin typeface="Coco Gothic"/>
                <a:ea typeface="Coco Gothic"/>
                <a:cs typeface="Coco Gothic"/>
                <a:sym typeface="Coco Gothic"/>
              </a:rPr>
              <a:t>paz</a:t>
            </a:r>
            <a:r>
              <a:rPr lang="en-US" sz="3060" dirty="0">
                <a:solidFill>
                  <a:srgbClr val="3B365F"/>
                </a:solidFill>
                <a:latin typeface="Coco Gothic"/>
                <a:ea typeface="Coco Gothic"/>
                <a:cs typeface="Coco Gothic"/>
                <a:sym typeface="Coco Gothic"/>
              </a:rPr>
              <a:t> no </a:t>
            </a:r>
            <a:r>
              <a:rPr lang="en-US" sz="3060" dirty="0" err="1">
                <a:solidFill>
                  <a:srgbClr val="3B365F"/>
                </a:solidFill>
                <a:latin typeface="Coco Gothic"/>
                <a:ea typeface="Coco Gothic"/>
                <a:cs typeface="Coco Gothic"/>
                <a:sym typeface="Coco Gothic"/>
              </a:rPr>
              <a:t>mundo</a:t>
            </a:r>
            <a:r>
              <a:rPr lang="en-US" sz="3060" dirty="0">
                <a:solidFill>
                  <a:srgbClr val="3B365F"/>
                </a:solidFill>
                <a:latin typeface="Coco Gothic"/>
                <a:ea typeface="Coco Gothic"/>
                <a:cs typeface="Coco Gothic"/>
                <a:sym typeface="Coco Gothic"/>
              </a:rPr>
              <a:t>.”</a:t>
            </a:r>
          </a:p>
        </p:txBody>
      </p:sp>
      <p:sp>
        <p:nvSpPr>
          <p:cNvPr id="18" name="TextBox 18"/>
          <p:cNvSpPr txBox="1"/>
          <p:nvPr/>
        </p:nvSpPr>
        <p:spPr>
          <a:xfrm>
            <a:off x="2577465" y="5957745"/>
            <a:ext cx="13133070" cy="464818"/>
          </a:xfrm>
          <a:prstGeom prst="rect">
            <a:avLst/>
          </a:prstGeom>
        </p:spPr>
        <p:txBody>
          <a:bodyPr lIns="0" tIns="0" rIns="0" bIns="0" rtlCol="0" anchor="t">
            <a:spAutoFit/>
          </a:bodyPr>
          <a:lstStyle/>
          <a:p>
            <a:pPr algn="l">
              <a:lnSpc>
                <a:spcPts val="3780"/>
              </a:lnSpc>
            </a:pPr>
            <a:r>
              <a:rPr lang="en-US" sz="2700" b="1" dirty="0">
                <a:solidFill>
                  <a:srgbClr val="3B365F"/>
                </a:solidFill>
                <a:latin typeface="Open Sans Bold"/>
                <a:ea typeface="Open Sans Bold"/>
                <a:cs typeface="Open Sans Bold"/>
                <a:sym typeface="Open Sans Bold"/>
              </a:rPr>
              <a:t>Madre Teresa de </a:t>
            </a:r>
            <a:r>
              <a:rPr lang="en-US" sz="2700" b="1" dirty="0" err="1">
                <a:solidFill>
                  <a:srgbClr val="3B365F"/>
                </a:solidFill>
                <a:latin typeface="Open Sans Bold"/>
                <a:ea typeface="Open Sans Bold"/>
                <a:cs typeface="Open Sans Bold"/>
                <a:sym typeface="Open Sans Bold"/>
              </a:rPr>
              <a:t>Calcutá</a:t>
            </a:r>
            <a:endParaRPr lang="en-US" sz="2700" b="1" dirty="0">
              <a:solidFill>
                <a:srgbClr val="3B365F"/>
              </a:solidFill>
              <a:latin typeface="Open Sans Bold"/>
              <a:ea typeface="Open Sans Bold"/>
              <a:cs typeface="Open Sans Bold"/>
              <a:sym typeface="Open Sans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701</Words>
  <Application>Microsoft Office PowerPoint</Application>
  <PresentationFormat>Personalizar</PresentationFormat>
  <Paragraphs>73</Paragraphs>
  <Slides>19</Slides>
  <Notes>0</Notes>
  <HiddenSlides>0</HiddenSlides>
  <MMClips>0</MMClips>
  <ScaleCrop>false</ScaleCrop>
  <HeadingPairs>
    <vt:vector size="8" baseType="variant">
      <vt:variant>
        <vt:lpstr>Fontes usadas</vt:lpstr>
      </vt:variant>
      <vt:variant>
        <vt:i4>8</vt:i4>
      </vt:variant>
      <vt:variant>
        <vt:lpstr>Tema</vt:lpstr>
      </vt:variant>
      <vt:variant>
        <vt:i4>1</vt:i4>
      </vt:variant>
      <vt:variant>
        <vt:lpstr>Servidores OLE inseridos</vt:lpstr>
      </vt:variant>
      <vt:variant>
        <vt:i4>1</vt:i4>
      </vt:variant>
      <vt:variant>
        <vt:lpstr>Títulos de slides</vt:lpstr>
      </vt:variant>
      <vt:variant>
        <vt:i4>19</vt:i4>
      </vt:variant>
    </vt:vector>
  </HeadingPairs>
  <TitlesOfParts>
    <vt:vector size="29" baseType="lpstr">
      <vt:lpstr>TAN Headline</vt:lpstr>
      <vt:lpstr>Arial</vt:lpstr>
      <vt:lpstr>Arimo</vt:lpstr>
      <vt:lpstr>Coco Gothic Bold</vt:lpstr>
      <vt:lpstr>Coco Gothic</vt:lpstr>
      <vt:lpstr>Bricolage Grotesque Medium</vt:lpstr>
      <vt:lpstr>Open Sans Bold</vt:lpstr>
      <vt:lpstr>Calibri</vt:lpstr>
      <vt:lpstr>Office Theme</vt:lpstr>
      <vt:lpstr>Worksheet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apresentação-bethina</dc:title>
  <dc:creator>Ana_Lucia</dc:creator>
  <cp:lastModifiedBy>Ana Lucia Ferreira dos Santos</cp:lastModifiedBy>
  <cp:revision>2</cp:revision>
  <dcterms:created xsi:type="dcterms:W3CDTF">2006-08-16T00:00:00Z</dcterms:created>
  <dcterms:modified xsi:type="dcterms:W3CDTF">2026-08-31T09:59:37Z</dcterms:modified>
  <dc:identifier>DAHJr6-nAKA</dc:identifier>
</cp:coreProperties>
</file>